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8cad8d347704f45" Type="http://schemas.openxmlformats.org/officeDocument/2006/relationships/officeDocument" Target="ppt/presentation.xml"/><Relationship Id="Rd103a66186214969" Type="http://schemas.openxmlformats.org/officeDocument/2006/relationships/extended-properties" Target="docProps/app.xml"/><Relationship Id="Re1a3752372c24c1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860b701c848a9"/>
  </p:sldMasterIdLst>
  <p:notesMasterIdLst>
    <p:notesMasterId xmlns:r="http://schemas.openxmlformats.org/officeDocument/2006/relationships" r:id="R9c81b3c6e39a4df5"/>
  </p:notesMasterIdLst>
  <p:sldIdLst>
    <p:sldId xmlns:r="http://schemas.openxmlformats.org/officeDocument/2006/relationships" id="256" r:id="R95953e34bc014e24"/>
    <p:sldId xmlns:r="http://schemas.openxmlformats.org/officeDocument/2006/relationships" id="257" r:id="R43bd5b205e7e48b8"/>
    <p:sldId xmlns:r="http://schemas.openxmlformats.org/officeDocument/2006/relationships" id="258" r:id="R59d98444369a4dc2"/>
    <p:sldId xmlns:r="http://schemas.openxmlformats.org/officeDocument/2006/relationships" id="259" r:id="Rb7218634a22a418d"/>
    <p:sldId xmlns:r="http://schemas.openxmlformats.org/officeDocument/2006/relationships" id="260" r:id="R6cd63b9fbe3a4ace"/>
    <p:sldId xmlns:r="http://schemas.openxmlformats.org/officeDocument/2006/relationships" id="261" r:id="Rdb06830d549343bf"/>
    <p:sldId xmlns:r="http://schemas.openxmlformats.org/officeDocument/2006/relationships" id="262" r:id="Rc11b6f2bc31c4f8d"/>
    <p:sldId xmlns:r="http://schemas.openxmlformats.org/officeDocument/2006/relationships" id="263" r:id="R60aa06bc3f404555"/>
    <p:sldId xmlns:r="http://schemas.openxmlformats.org/officeDocument/2006/relationships" id="264" r:id="Rf24f17e144d44e52"/>
    <p:sldId xmlns:r="http://schemas.openxmlformats.org/officeDocument/2006/relationships" id="265" r:id="Rcf8083c78dfb4a60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43bd5b205e7e48b8" Type="http://schemas.openxmlformats.org/officeDocument/2006/relationships/slide" Target="slides/slide2.xml"/><Relationship Id="R59d98444369a4dc2" Type="http://schemas.openxmlformats.org/officeDocument/2006/relationships/slide" Target="slides/slide3.xml"/><Relationship Id="R5c8860b701c848a9" Type="http://schemas.openxmlformats.org/officeDocument/2006/relationships/slideMaster" Target="slideMasters/slideMaster1.xml"/><Relationship Id="R5d442ec215984f61" Type="http://schemas.openxmlformats.org/officeDocument/2006/relationships/presProps" Target="presProps.xml"/><Relationship Id="R60aa06bc3f404555" Type="http://schemas.openxmlformats.org/officeDocument/2006/relationships/slide" Target="slides/slide8.xml"/><Relationship Id="R6cd63b9fbe3a4ace" Type="http://schemas.openxmlformats.org/officeDocument/2006/relationships/slide" Target="slides/slide5.xml"/><Relationship Id="R88fb7df134c04ee0" Type="http://schemas.openxmlformats.org/officeDocument/2006/relationships/tableStyles" Target="tableStyles.xml"/><Relationship Id="R95953e34bc014e24" Type="http://schemas.openxmlformats.org/officeDocument/2006/relationships/slide" Target="slides/slide1.xml"/><Relationship Id="R9c81b3c6e39a4df5" Type="http://schemas.openxmlformats.org/officeDocument/2006/relationships/notesMaster" Target="notesMasters/notesMaster1.xml"/><Relationship Id="Rb18a23b3b194450d" Type="http://schemas.openxmlformats.org/officeDocument/2006/relationships/theme" Target="theme/theme1.xml"/><Relationship Id="Rb7218634a22a418d" Type="http://schemas.openxmlformats.org/officeDocument/2006/relationships/slide" Target="slides/slide4.xml"/><Relationship Id="Rc11b6f2bc31c4f8d" Type="http://schemas.openxmlformats.org/officeDocument/2006/relationships/slide" Target="slides/slide7.xml"/><Relationship Id="Rcf8083c78dfb4a60" Type="http://schemas.openxmlformats.org/officeDocument/2006/relationships/slide" Target="slides/slide10.xml"/><Relationship Id="Rdb06830d549343bf" Type="http://schemas.openxmlformats.org/officeDocument/2006/relationships/slide" Target="slides/slide6.xml"/><Relationship Id="Rf24f17e144d44e5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86ff5261f114452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3a0516d7b4244c8" Type="http://schemas.openxmlformats.org/officeDocument/2006/relationships/slide" Target="../slides/slide1.xml"/><Relationship Id="R7dca2aebb5c841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8284637cf4c43d4" Type="http://schemas.openxmlformats.org/officeDocument/2006/relationships/notesMaster" Target="../notesMasters/notesMaster1.xml"/><Relationship Id="Rf0ac68f8f90a464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c86cd78031c346e4" Type="http://schemas.openxmlformats.org/officeDocument/2006/relationships/slide" Target="../slides/slide3.xml"/><Relationship Id="Rce3dc27d4b9d41b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3040a482b2744da" Type="http://schemas.openxmlformats.org/officeDocument/2006/relationships/slide" Target="../slides/slide4.xml"/><Relationship Id="Ra82e82d51a554a9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1ecf5061cfe461a" Type="http://schemas.openxmlformats.org/officeDocument/2006/relationships/notesMaster" Target="../notesMasters/notesMaster1.xml"/><Relationship Id="Reb6962e1e72f4754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866ef395df74198" Type="http://schemas.openxmlformats.org/officeDocument/2006/relationships/slide" Target="../slides/slide6.xml"/><Relationship Id="R35fec02f87bb4fa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110ecc0c45b49f8" Type="http://schemas.openxmlformats.org/officeDocument/2006/relationships/notesMaster" Target="../notesMasters/notesMaster1.xml"/><Relationship Id="Rab6909285336401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53704f0aa164b06" Type="http://schemas.openxmlformats.org/officeDocument/2006/relationships/slide" Target="../slides/slide8.xml"/><Relationship Id="Rc825ef24ba0a4ea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c8bace367ed41d7" Type="http://schemas.openxmlformats.org/officeDocument/2006/relationships/slide" Target="../slides/slide9.xml"/><Relationship Id="R5ffb20df7b1f4cc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2fec5d0774f4598" Type="http://schemas.openxmlformats.org/officeDocument/2006/relationships/slide" Target="../slides/slide10.xml"/><Relationship Id="Rc8ad87dfcbab428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93d81a126af490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a650433992b40a7" Type="http://schemas.openxmlformats.org/officeDocument/2006/relationships/slideLayout" Target="../slideLayouts/slideLayout1.xml"/><Relationship Id="R80dfe22d849844c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650433992b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3699908ab1741c0" Type="http://schemas.openxmlformats.org/officeDocument/2006/relationships/image" Target="../media/image.png"/><Relationship Id="Ra3909caf0f90423a" Type="http://schemas.openxmlformats.org/officeDocument/2006/relationships/notesSlide" Target="../notesSlides/notesSlide1.xml"/><Relationship Id="Rb511f44224ca4ce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55cd728d3254446" Type="http://schemas.openxmlformats.org/officeDocument/2006/relationships/notesSlide" Target="../notesSlides/notesSlide2.xml"/><Relationship Id="Rb0c20ed319a6457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1c0c2897f3e4d07" Type="http://schemas.openxmlformats.org/officeDocument/2006/relationships/notesSlide" Target="../notesSlides/notesSlide3.xml"/><Relationship Id="R8dbf161c77ef4d6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f5305ff26ab4609" Type="http://schemas.openxmlformats.org/officeDocument/2006/relationships/slideLayout" Target="../slideLayouts/slideLayout1.xml"/><Relationship Id="Rf31b16f42b9a4e7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d0b78c28db264904" Type="http://schemas.openxmlformats.org/officeDocument/2006/relationships/notesSlide" Target="../notesSlides/notesSlide5.xml"/><Relationship Id="Re4d214271e104d7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38ef962ef4e4ab0" Type="http://schemas.openxmlformats.org/officeDocument/2006/relationships/slideLayout" Target="../slideLayouts/slideLayout1.xml"/><Relationship Id="R755eb22e48aa42e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962e75149e14539" Type="http://schemas.openxmlformats.org/officeDocument/2006/relationships/slideLayout" Target="../slideLayouts/slideLayout1.xml"/><Relationship Id="R8b3dbbcc314c4a9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37751cc83124994" Type="http://schemas.openxmlformats.org/officeDocument/2006/relationships/slideLayout" Target="../slideLayouts/slideLayout1.xml"/><Relationship Id="Rc1bfb684749948d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3b29744c6df4a45" Type="http://schemas.openxmlformats.org/officeDocument/2006/relationships/notesSlide" Target="../notesSlides/notesSlide9.xml"/><Relationship Id="R26ce66b0c9ad4b9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53bf960dfd5406a" Type="http://schemas.openxmlformats.org/officeDocument/2006/relationships/slideLayout" Target="../slideLayouts/slideLayout1.xml"/><Relationship Id="R98033c8d29b34606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0288112-94E0-491D-9EAC-38AF1A3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ar">
            <a:extLst xmlns:a="http://schemas.openxmlformats.org/drawingml/2006/main">
              <a:ext uri="{FF2B5EF4-FFF2-40B4-BE49-F238E27FC236}">
                <a16:creationId xmlns:a16="http://schemas.microsoft.com/office/drawing/2014/main" id="{13E37D53-2BB7-4A9E-84AD-8511955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23EDE4D-8C48-4872-B732-AB602033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毕业实习项目答辩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2C078CC-00C7-4B66-AB4B-0E13C76F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60E74FF-3722-41C0-BC04-D39490D4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573"/>
                </a:solidFill>
              </a:defRPr>
            </a:pPr>
            <a:r>
              <a:rPr sz="1950" b="0">
                <a:solidFill>
                  <a:srgbClr val="5B6573"/>
                </a:solidFill>
              </a:rPr>
              <a:t>本地优先的 AI 单人跑团桌面引擎</a:t>
            </a:r>
          </a:p>
        </p:txBody>
      </p:sp>
      <p:sp>
        <p:nvSpPr>
          <p:cNvPr id="6" name="cover-value">
            <a:extLst xmlns:a="http://schemas.openxmlformats.org/drawingml/2006/main">
              <a:ext uri="{FF2B5EF4-FFF2-40B4-BE49-F238E27FC236}">
                <a16:creationId xmlns:a16="http://schemas.microsoft.com/office/drawing/2014/main" id="{D46893AA-5003-4D0C-A19B-97C536D8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AI 负责理解与叙事，程序负责规则与事实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A9ED8799-08D8-43FF-989D-5B30683C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197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组号：【待替换：组号】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组长：【待替换：组长姓名】</a:t>
            </a:r>
          </a:p>
          <a:p xmlns:a="http://schemas.openxmlformats.org/drawingml/2006/main">
            <a:pPr algn="l">
              <a:defRPr sz="1350" b="0">
                <a:solidFill>
                  <a:srgbClr val="C00000"/>
                </a:solidFill>
              </a:defRPr>
            </a:pPr>
            <a:r>
              <a:rPr sz="1350" b="0">
                <a:solidFill>
                  <a:srgbClr val="C00000"/>
                </a:solidFill>
              </a:rPr>
              <a:t>成员：【待替换：全部成员姓名】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99908ab1741c0"/>
          <a:stretch xmlns:a="http://schemas.openxmlformats.org/drawingml/2006/main"/>
        </p:blipFill>
        <p:spPr>
          <a:xfrm xmlns:a="http://schemas.openxmlformats.org/drawingml/2006/main">
            <a:off x="8572500" y="2840458"/>
            <a:ext cx="3810000" cy="2301035"/>
          </a:xfrm>
          <a:prstGeom xmlns:a="http://schemas.openxmlformats.org/drawingml/2006/main" prst="rect">
            <a:avLst/>
          </a:prstGeom>
        </p:spPr>
      </p:pic>
      <p:sp>
        <p:nvSpPr>
          <p:cNvPr id="9" name="cover-product-border">
            <a:extLst xmlns:a="http://schemas.openxmlformats.org/drawingml/2006/main">
              <a:ext uri="{FF2B5EF4-FFF2-40B4-BE49-F238E27FC236}">
                <a16:creationId xmlns:a16="http://schemas.microsoft.com/office/drawing/2014/main" id="{D990F00B-964B-4063-8A67-B0697CB7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810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ver-product-caption">
            <a:extLst xmlns:a="http://schemas.openxmlformats.org/drawingml/2006/main">
              <a:ext uri="{FF2B5EF4-FFF2-40B4-BE49-F238E27FC236}">
                <a16:creationId xmlns:a16="http://schemas.microsoft.com/office/drawing/2014/main" id="{8575EC24-282D-4F55-9BD7-E55AC720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91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V0.1 真实运行界面</a:t>
            </a:r>
          </a:p>
        </p:txBody>
      </p:sp>
      <p:sp>
        <p:nvSpPr>
          <p:cNvPr id="11" name="cover-product-note">
            <a:extLst xmlns:a="http://schemas.openxmlformats.org/drawingml/2006/main">
              <a:ext uri="{FF2B5EF4-FFF2-40B4-BE49-F238E27FC236}">
                <a16:creationId xmlns:a16="http://schemas.microsoft.com/office/drawing/2014/main" id="{8388B04D-734B-48D2-8438-9EAE6D5C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91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自然语言行动 · 权威状态 · 时间线恢复</a:t>
            </a:r>
          </a:p>
        </p:txBody>
      </p:sp>
    </p:spTree>
    <p:extLst>
      <p:ext uri="{BB962C8B-B14F-4D97-AF65-F5344CB8AC3E}">
        <p14:creationId xmlns:p14="http://schemas.microsoft.com/office/powerpoint/2010/main" val="137995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BE15183C-8488-402C-933F-478678E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  产品场景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ACA18CB-7666-402F-A1B3-9A637DF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我们要解决的不是“聊天”，而是一场能持续的游戏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A4E829F7-AAD8-497D-B54A-DDE4731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F1CF569-03FA-4118-860F-2E870879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5" name="box-现实跑团">
            <a:extLst xmlns:a="http://schemas.openxmlformats.org/drawingml/2006/main">
              <a:ext uri="{FF2B5EF4-FFF2-40B4-BE49-F238E27FC236}">
                <a16:creationId xmlns:a16="http://schemas.microsoft.com/office/drawing/2014/main" id="{01B65AC1-61A4-4333-B585-D50A38A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现实跑团">
            <a:extLst xmlns:a="http://schemas.openxmlformats.org/drawingml/2006/main">
              <a:ext uri="{FF2B5EF4-FFF2-40B4-BE49-F238E27FC236}">
                <a16:creationId xmlns:a16="http://schemas.microsoft.com/office/drawing/2014/main" id="{CD71AE07-C985-409F-90DC-0A9B0C0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现实跑团">
            <a:extLst xmlns:a="http://schemas.openxmlformats.org/drawingml/2006/main">
              <a:ext uri="{FF2B5EF4-FFF2-40B4-BE49-F238E27FC236}">
                <a16:creationId xmlns:a16="http://schemas.microsoft.com/office/drawing/2014/main" id="{E85C286A-9B15-4589-9947-A7D00A8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现实跑团</a:t>
            </a:r>
          </a:p>
        </p:txBody>
      </p:sp>
      <p:sp>
        <p:nvSpPr>
          <p:cNvPr id="8" name="box-body-现实跑团">
            <a:extLst xmlns:a="http://schemas.openxmlformats.org/drawingml/2006/main">
              <a:ext uri="{FF2B5EF4-FFF2-40B4-BE49-F238E27FC236}">
                <a16:creationId xmlns:a16="http://schemas.microsoft.com/office/drawing/2014/main" id="{3A390FB2-16E4-4E47-867D-617BEC6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需要主持人、玩家和连续时间安排，组织成本高。</a:t>
            </a:r>
          </a:p>
        </p:txBody>
      </p:sp>
      <p:sp>
        <p:nvSpPr>
          <p:cNvPr id="9" name="box-普通 AI 对话">
            <a:extLst xmlns:a="http://schemas.openxmlformats.org/drawingml/2006/main">
              <a:ext uri="{FF2B5EF4-FFF2-40B4-BE49-F238E27FC236}">
                <a16:creationId xmlns:a16="http://schemas.microsoft.com/office/drawing/2014/main" id="{85747A9A-F622-4F7B-8555-C3BF8FC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普通 AI 对话">
            <a:extLst xmlns:a="http://schemas.openxmlformats.org/drawingml/2006/main">
              <a:ext uri="{FF2B5EF4-FFF2-40B4-BE49-F238E27FC236}">
                <a16:creationId xmlns:a16="http://schemas.microsoft.com/office/drawing/2014/main" id="{2A24C8E9-A135-40F3-BBF4-C6E183F4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普通 AI 对话">
            <a:extLst xmlns:a="http://schemas.openxmlformats.org/drawingml/2006/main">
              <a:ext uri="{FF2B5EF4-FFF2-40B4-BE49-F238E27FC236}">
                <a16:creationId xmlns:a16="http://schemas.microsoft.com/office/drawing/2014/main" id="{593CA9A4-615B-44F4-A951-809AF988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普通 AI 对话</a:t>
            </a:r>
          </a:p>
        </p:txBody>
      </p:sp>
      <p:sp>
        <p:nvSpPr>
          <p:cNvPr id="12" name="box-body-普通 AI 对话">
            <a:extLst xmlns:a="http://schemas.openxmlformats.org/drawingml/2006/main">
              <a:ext uri="{FF2B5EF4-FFF2-40B4-BE49-F238E27FC236}">
                <a16:creationId xmlns:a16="http://schemas.microsoft.com/office/drawing/2014/main" id="{172520CE-CFD5-4489-A030-8808075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叙事自由，但关键人物、道具和既有结果容易被遗忘或改写。</a:t>
            </a:r>
          </a:p>
        </p:txBody>
      </p:sp>
      <p:sp>
        <p:nvSpPr>
          <p:cNvPr id="13" name="box-AI TRPG Engine">
            <a:extLst xmlns:a="http://schemas.openxmlformats.org/drawingml/2006/main">
              <a:ext uri="{FF2B5EF4-FFF2-40B4-BE49-F238E27FC236}">
                <a16:creationId xmlns:a16="http://schemas.microsoft.com/office/drawing/2014/main" id="{4CC1E479-1BF9-4AB8-AC5A-0E03A7E1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AI TRPG Engine">
            <a:extLst xmlns:a="http://schemas.openxmlformats.org/drawingml/2006/main">
              <a:ext uri="{FF2B5EF4-FFF2-40B4-BE49-F238E27FC236}">
                <a16:creationId xmlns:a16="http://schemas.microsoft.com/office/drawing/2014/main" id="{6CF16B4E-D65A-4C5D-9479-D4B6A3C6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AI TRPG Engine">
            <a:extLst xmlns:a="http://schemas.openxmlformats.org/drawingml/2006/main">
              <a:ext uri="{FF2B5EF4-FFF2-40B4-BE49-F238E27FC236}">
                <a16:creationId xmlns:a16="http://schemas.microsoft.com/office/drawing/2014/main" id="{E717A697-7FE4-4DD7-9689-A38C900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AI TRPG Engine</a:t>
            </a:r>
          </a:p>
        </p:txBody>
      </p:sp>
      <p:sp>
        <p:nvSpPr>
          <p:cNvPr id="16" name="box-body-AI TRPG Engine">
            <a:extLst xmlns:a="http://schemas.openxmlformats.org/drawingml/2006/main">
              <a:ext uri="{FF2B5EF4-FFF2-40B4-BE49-F238E27FC236}">
                <a16:creationId xmlns:a16="http://schemas.microsoft.com/office/drawing/2014/main" id="{56FB0700-CFD8-47AC-B794-374491CC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自然语言自由行动，同时用规则、状态和事件维护长期一致性。</a:t>
            </a:r>
          </a:p>
        </p:txBody>
      </p:sp>
      <p:sp>
        <p:nvSpPr>
          <p:cNvPr id="17" name="value">
            <a:extLst xmlns:a="http://schemas.openxmlformats.org/drawingml/2006/main">
              <a:ext uri="{FF2B5EF4-FFF2-40B4-BE49-F238E27FC236}">
                <a16:creationId xmlns:a16="http://schemas.microsoft.com/office/drawing/2014/main" id="{BDAC77C4-2B56-4044-9A38-1A017EDC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一句话价值</a:t>
            </a:r>
          </a:p>
        </p:txBody>
      </p:sp>
      <p:sp>
        <p:nvSpPr>
          <p:cNvPr id="18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D4B34CD3-06D6-4718-B7E6-E5A14335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让玩家随时进入一场可保存、可追溯、可恢复的单人跑团。</a:t>
            </a:r>
          </a:p>
        </p:txBody>
      </p:sp>
    </p:spTree>
    <p:extLst>
      <p:ext uri="{BB962C8B-B14F-4D97-AF65-F5344CB8AC3E}">
        <p14:creationId xmlns:p14="http://schemas.microsoft.com/office/powerpoint/2010/main" val="172256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88167113-D3E8-4C60-9B31-45F0C883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  产品架构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01B3BF4-4B4F-430C-9E04-2A88038A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AI 负责叙事，确定性内核决定什么真正发生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0AF12F4B-2710-4E79-96BC-1E3CBA0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C1C0C3A-0D13-4BB9-A4C2-B70099C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D9014F3E-87EA-41D9-A439-B0B2781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28BBE411-C6AB-4DFC-9AAC-77C34D49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14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玩家交互层</a:t>
            </a:r>
          </a:p>
        </p:txBody>
      </p:sp>
      <p:sp>
        <p:nvSpPr>
          <p:cNvPr id="7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725C40A3-73E3-4066-B306-51779206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React 界面 · 人物卡 · 叙事 · 时间线</a:t>
            </a:r>
          </a:p>
        </p:txBody>
      </p:sp>
      <p:sp>
        <p:nvSpPr>
          <p:cNvPr id="8" name="layer-1">
            <a:extLst xmlns:a="http://schemas.openxmlformats.org/drawingml/2006/main">
              <a:ext uri="{FF2B5EF4-FFF2-40B4-BE49-F238E27FC236}">
                <a16:creationId xmlns:a16="http://schemas.microsoft.com/office/drawing/2014/main" id="{AECC26CC-B45B-498E-8AA9-475127A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5F70426A-94DD-4C73-BEC7-5B29FD8E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桌面与 AI 协调层</a:t>
            </a:r>
          </a:p>
        </p:txBody>
      </p:sp>
      <p:sp>
        <p:nvSpPr>
          <p:cNvPr id="1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DCCF5E36-CA93-4FBE-997C-ED875D6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86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Electron Main / Preload · Keeper · Model Gateway</a:t>
            </a:r>
          </a:p>
        </p:txBody>
      </p:sp>
      <p:sp>
        <p:nvSpPr>
          <p:cNvPr id="11" name="layer-2">
            <a:extLst xmlns:a="http://schemas.openxmlformats.org/drawingml/2006/main">
              <a:ext uri="{FF2B5EF4-FFF2-40B4-BE49-F238E27FC236}">
                <a16:creationId xmlns:a16="http://schemas.microsoft.com/office/drawing/2014/main" id="{8556AEC4-B454-41C1-A566-A7C633E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3CD9EB81-25CD-44B5-98F7-A5CDA91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9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确定性运行时</a:t>
            </a:r>
          </a:p>
        </p:txBody>
      </p:sp>
      <p:sp>
        <p:nvSpPr>
          <p:cNvPr id="13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80427473-89A0-44CA-85A9-8371AF9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Turn Router · Rules · RNG · Validator · Events</a:t>
            </a:r>
          </a:p>
        </p:txBody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F2F39D5A-AED4-4CFC-A5D9-A503B68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676D4E0D-71AC-4A30-8E4F-358817F4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72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本地数据层</a:t>
            </a:r>
          </a:p>
        </p:txBody>
      </p:sp>
      <p:sp>
        <p:nvSpPr>
          <p:cNvPr id="16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4BF73C16-E669-457F-916B-8EBD82F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SQLite · Current State · Immutable Event Log · Checkpoint</a:t>
            </a:r>
          </a:p>
        </p:txBody>
      </p:sp>
      <p:sp>
        <p:nvSpPr>
          <p:cNvPr id="17" name="arch-rule">
            <a:extLst xmlns:a="http://schemas.openxmlformats.org/drawingml/2006/main">
              <a:ext uri="{FF2B5EF4-FFF2-40B4-BE49-F238E27FC236}">
                <a16:creationId xmlns:a16="http://schemas.microsoft.com/office/drawing/2014/main" id="{2E5D1C1A-3970-44A8-8DF6-66E5E8D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核心边界</a:t>
            </a:r>
          </a:p>
        </p:txBody>
      </p:sp>
      <p:sp>
        <p:nvSpPr>
          <p:cNvPr id="18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A073ADD4-4DCE-4088-B4E0-6DCF89D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9672BB31-EF6D-4E85-804E-67F5B3B2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AI 只生成候选和叙事</a:t>
            </a:r>
          </a:p>
        </p:txBody>
      </p:sp>
      <p:sp>
        <p:nvSpPr>
          <p:cNvPr id="20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B5ECECFA-DB4F-4038-9234-858CE7D0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83BB9525-2333-4672-8B88-119DCED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程序校验并原子提交</a:t>
            </a:r>
          </a:p>
        </p:txBody>
      </p:sp>
      <p:sp>
        <p:nvSpPr>
          <p:cNvPr id="22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BF2F2A4A-C435-4D2F-8B76-6B661309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45C9F6D7-4C09-40FB-B228-9878E59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Renderer 不直连 SQLite</a:t>
            </a:r>
          </a:p>
        </p:txBody>
      </p:sp>
      <p:sp>
        <p:nvSpPr>
          <p:cNvPr id="24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A10F774B-5270-4065-9BE9-8A7B826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A96C84AE-EB5C-4617-9951-12B7639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模型可以替换或降级</a:t>
            </a:r>
          </a:p>
        </p:txBody>
      </p:sp>
    </p:spTree>
    <p:extLst>
      <p:ext uri="{BB962C8B-B14F-4D97-AF65-F5344CB8AC3E}">
        <p14:creationId xmlns:p14="http://schemas.microsoft.com/office/powerpoint/2010/main" val="173930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35652E56-E079-4015-A7E8-73A1102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  核心功能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00044CD-6599-45E5-8026-5FC4BB0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四项核心能力组成完整的单人跑团闭环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8C5798E2-BF9E-4F50-8ADB-0AB7108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3EDDFB8-D941-4D32-BCBB-C4CD759B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5" name="box-01  创建角色">
            <a:extLst xmlns:a="http://schemas.openxmlformats.org/drawingml/2006/main">
              <a:ext uri="{FF2B5EF4-FFF2-40B4-BE49-F238E27FC236}">
                <a16:creationId xmlns:a16="http://schemas.microsoft.com/office/drawing/2014/main" id="{1E7EFBDD-00C9-4B7A-8B96-797A2A9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accent-01  创建角色">
            <a:extLst xmlns:a="http://schemas.openxmlformats.org/drawingml/2006/main">
              <a:ext uri="{FF2B5EF4-FFF2-40B4-BE49-F238E27FC236}">
                <a16:creationId xmlns:a16="http://schemas.microsoft.com/office/drawing/2014/main" id="{58340C70-C7C5-4597-B5C9-20A54A61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title-01  创建角色">
            <a:extLst xmlns:a="http://schemas.openxmlformats.org/drawingml/2006/main">
              <a:ext uri="{FF2B5EF4-FFF2-40B4-BE49-F238E27FC236}">
                <a16:creationId xmlns:a16="http://schemas.microsoft.com/office/drawing/2014/main" id="{826DCB94-19FC-4D5A-8AB3-05824AD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01  创建角色</a:t>
            </a:r>
          </a:p>
        </p:txBody>
      </p:sp>
      <p:sp>
        <p:nvSpPr>
          <p:cNvPr id="8" name="box-body-01  创建角色">
            <a:extLst xmlns:a="http://schemas.openxmlformats.org/drawingml/2006/main">
              <a:ext uri="{FF2B5EF4-FFF2-40B4-BE49-F238E27FC236}">
                <a16:creationId xmlns:a16="http://schemas.microsoft.com/office/drawing/2014/main" id="{08CA11AE-96D1-4A4B-A8BA-48E2457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属性分配、正式人物卡、稳定实体身份</a:t>
            </a:r>
          </a:p>
        </p:txBody>
      </p:sp>
      <p:sp>
        <p:nvSpPr>
          <p:cNvPr id="9" name="box-02  自由行动">
            <a:extLst xmlns:a="http://schemas.openxmlformats.org/drawingml/2006/main">
              <a:ext uri="{FF2B5EF4-FFF2-40B4-BE49-F238E27FC236}">
                <a16:creationId xmlns:a16="http://schemas.microsoft.com/office/drawing/2014/main" id="{7B586ECD-EC22-4798-9AD5-F9E11F2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accent-02  自由行动">
            <a:extLst xmlns:a="http://schemas.openxmlformats.org/drawingml/2006/main">
              <a:ext uri="{FF2B5EF4-FFF2-40B4-BE49-F238E27FC236}">
                <a16:creationId xmlns:a16="http://schemas.microsoft.com/office/drawing/2014/main" id="{9E928C23-F418-43B0-B932-CD40ED9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-title-02  自由行动">
            <a:extLst xmlns:a="http://schemas.openxmlformats.org/drawingml/2006/main">
              <a:ext uri="{FF2B5EF4-FFF2-40B4-BE49-F238E27FC236}">
                <a16:creationId xmlns:a16="http://schemas.microsoft.com/office/drawing/2014/main" id="{B7BE41C7-AADE-41F1-B5C4-AD208FD7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02  自由行动</a:t>
            </a:r>
          </a:p>
        </p:txBody>
      </p:sp>
      <p:sp>
        <p:nvSpPr>
          <p:cNvPr id="12" name="box-body-02  自由行动">
            <a:extLst xmlns:a="http://schemas.openxmlformats.org/drawingml/2006/main">
              <a:ext uri="{FF2B5EF4-FFF2-40B4-BE49-F238E27FC236}">
                <a16:creationId xmlns:a16="http://schemas.microsoft.com/office/drawing/2014/main" id="{0FE2A8A9-90F1-474D-9709-708BF79F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玩家用自然语言调查、交谈、移动或尝试</a:t>
            </a:r>
          </a:p>
        </p:txBody>
      </p:sp>
      <p:sp>
        <p:nvSpPr>
          <p:cNvPr id="13" name="box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6B45F9C0-4777-41DD-802E-6CB15581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-accent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CACF300D-FA55-4716-B25A-E637F82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-title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BB75BCBB-08E5-4F59-AF34-5311B6D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67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03  检定与叙事</a:t>
            </a:r>
          </a:p>
        </p:txBody>
      </p:sp>
      <p:sp>
        <p:nvSpPr>
          <p:cNvPr id="16" name="box-body-03  检定与叙事">
            <a:extLst xmlns:a="http://schemas.openxmlformats.org/drawingml/2006/main">
              <a:ext uri="{FF2B5EF4-FFF2-40B4-BE49-F238E27FC236}">
                <a16:creationId xmlns:a16="http://schemas.microsoft.com/office/drawing/2014/main" id="{873DD0BE-4374-4F23-B35F-A415A21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系统先裁定并提交，再由 AI 生成主持人反馈</a:t>
            </a:r>
          </a:p>
        </p:txBody>
      </p:sp>
      <p:sp>
        <p:nvSpPr>
          <p:cNvPr id="17" name="box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770A86A9-2341-4F1F-B236-5C5770A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550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-accent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E04E9715-CE3B-4C69-BE9B-2E78F3A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-title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8B30ACE5-E155-449A-A52D-3EC9829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04  保存与恢复</a:t>
            </a:r>
          </a:p>
        </p:txBody>
      </p:sp>
      <p:sp>
        <p:nvSpPr>
          <p:cNvPr id="20" name="box-body-04  保存与恢复">
            <a:extLst xmlns:a="http://schemas.openxmlformats.org/drawingml/2006/main">
              <a:ext uri="{FF2B5EF4-FFF2-40B4-BE49-F238E27FC236}">
                <a16:creationId xmlns:a16="http://schemas.microsoft.com/office/drawing/2014/main" id="{EC6605C8-D315-441B-B261-744F47CF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5124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时间线、检查点、分支副本和战役备份</a:t>
            </a:r>
          </a:p>
        </p:txBody>
      </p:sp>
      <p:sp>
        <p:nvSpPr>
          <p:cNvPr id="21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321BD667-143B-4D00-B3FB-F638C62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151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可接入本地模型或用户自己的云端模型密钥</a:t>
            </a:r>
          </a:p>
        </p:txBody>
      </p:sp>
    </p:spTree>
    <p:extLst>
      <p:ext uri="{BB962C8B-B14F-4D97-AF65-F5344CB8AC3E}">
        <p14:creationId xmlns:p14="http://schemas.microsoft.com/office/powerpoint/2010/main" val="301003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yebrow-5">
            <a:extLst xmlns:a="http://schemas.openxmlformats.org/drawingml/2006/main">
              <a:ext uri="{FF2B5EF4-FFF2-40B4-BE49-F238E27FC236}">
                <a16:creationId xmlns:a16="http://schemas.microsoft.com/office/drawing/2014/main" id="{2588B304-27D1-4D94-A26E-7FA8908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  数据库与 API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EA0764C-F1EB-49F4-975C-D18D811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状态 + 事件 + 类型化 API，让系统结果可验证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2B55BE3A-EEAA-4CA8-9BB1-8547F105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B36614F-14B6-4459-A8E7-8487110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5" name="data-title">
            <a:extLst xmlns:a="http://schemas.openxmlformats.org/drawingml/2006/main">
              <a:ext uri="{FF2B5EF4-FFF2-40B4-BE49-F238E27FC236}">
                <a16:creationId xmlns:a16="http://schemas.microsoft.com/office/drawing/2014/main" id="{C5CFCBF2-EA33-47CE-AB85-3A6F50D8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SQLite 数据设计</a:t>
            </a:r>
          </a:p>
        </p:txBody>
      </p:sp>
      <p:sp>
        <p:nvSpPr>
          <p:cNvPr id="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F33E2F03-80D6-410A-B27F-E1AB908F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4C357547-3AEA-4066-A855-7FE15240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Current State：快速读取当前世界</a:t>
            </a:r>
          </a:p>
        </p:txBody>
      </p:sp>
      <p:sp>
        <p:nvSpPr>
          <p:cNvPr id="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4E72692A-2179-44A5-9ECB-2D07C09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0FCB5EF2-54BD-4207-BFA9-291C501B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Immutable Event Log：追溯变化原因</a:t>
            </a:r>
          </a:p>
        </p:txBody>
      </p:sp>
      <p:sp>
        <p:nvSpPr>
          <p:cNvPr id="1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BE41B751-C7B1-40DA-961D-161837A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67ED91D5-4A4A-4C0E-A475-7E0AEA7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Checkpoint：恢复副本而不覆盖历史</a:t>
            </a:r>
          </a:p>
        </p:txBody>
      </p:sp>
      <p:sp>
        <p:nvSpPr>
          <p:cNvPr id="1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D086ECA0-BF7F-4027-94AE-D15FC5F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F3F45888-6CCA-4013-9114-DF03C03F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Credential ID：数据库不保存明文密钥</a:t>
            </a:r>
          </a:p>
        </p:txBody>
      </p:sp>
      <p:sp>
        <p:nvSpPr>
          <p:cNvPr id="14" name="mid-rule">
            <a:extLst xmlns:a="http://schemas.openxmlformats.org/drawingml/2006/main">
              <a:ext uri="{FF2B5EF4-FFF2-40B4-BE49-F238E27FC236}">
                <a16:creationId xmlns:a16="http://schemas.microsoft.com/office/drawing/2014/main" id="{32A7AF7B-C274-494F-BE18-8BF16A22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FD41BC4F-31AF-4C75-BE2F-18F9856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类型化桌面 API</a:t>
            </a:r>
          </a:p>
        </p:txBody>
      </p:sp>
      <p:sp>
        <p:nvSpPr>
          <p:cNvPr id="16" name="bullet-dot-250-0">
            <a:extLst xmlns:a="http://schemas.openxmlformats.org/drawingml/2006/main">
              <a:ext uri="{FF2B5EF4-FFF2-40B4-BE49-F238E27FC236}">
                <a16:creationId xmlns:a16="http://schemas.microsoft.com/office/drawing/2014/main" id="{5B5505CF-CFC7-46B3-A2E8-871416A4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0-0">
            <a:extLst xmlns:a="http://schemas.openxmlformats.org/drawingml/2006/main">
              <a:ext uri="{FF2B5EF4-FFF2-40B4-BE49-F238E27FC236}">
                <a16:creationId xmlns:a16="http://schemas.microsoft.com/office/drawing/2014/main" id="{A873EDD7-8495-4A46-A2D1-24A7785A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campaign:*  战役与人物</a:t>
            </a:r>
          </a:p>
        </p:txBody>
      </p:sp>
      <p:sp>
        <p:nvSpPr>
          <p:cNvPr id="18" name="bullet-dot-250-1">
            <a:extLst xmlns:a="http://schemas.openxmlformats.org/drawingml/2006/main">
              <a:ext uri="{FF2B5EF4-FFF2-40B4-BE49-F238E27FC236}">
                <a16:creationId xmlns:a16="http://schemas.microsoft.com/office/drawing/2014/main" id="{8B8A9C43-CDE2-4DCE-9E5D-2515980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250-1">
            <a:extLst xmlns:a="http://schemas.openxmlformats.org/drawingml/2006/main">
              <a:ext uri="{FF2B5EF4-FFF2-40B4-BE49-F238E27FC236}">
                <a16:creationId xmlns:a16="http://schemas.microsoft.com/office/drawing/2014/main" id="{67F7DA38-2B97-4CD5-A7B8-70BF69C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719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turn:* / operation:*  回合与进度</a:t>
            </a:r>
          </a:p>
        </p:txBody>
      </p:sp>
      <p:sp>
        <p:nvSpPr>
          <p:cNvPr id="20" name="bullet-dot-250-2">
            <a:extLst xmlns:a="http://schemas.openxmlformats.org/drawingml/2006/main">
              <a:ext uri="{FF2B5EF4-FFF2-40B4-BE49-F238E27FC236}">
                <a16:creationId xmlns:a16="http://schemas.microsoft.com/office/drawing/2014/main" id="{21A81EAB-4414-4FF0-A607-A99B277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250-2">
            <a:extLst xmlns:a="http://schemas.openxmlformats.org/drawingml/2006/main">
              <a:ext uri="{FF2B5EF4-FFF2-40B4-BE49-F238E27FC236}">
                <a16:creationId xmlns:a16="http://schemas.microsoft.com/office/drawing/2014/main" id="{740D00D9-527F-4095-8F48-FBF687C0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timeline:* / checkpoint:*  历史与恢复</a:t>
            </a:r>
          </a:p>
        </p:txBody>
      </p:sp>
      <p:sp>
        <p:nvSpPr>
          <p:cNvPr id="22" name="bullet-dot-250-3">
            <a:extLst xmlns:a="http://schemas.openxmlformats.org/drawingml/2006/main">
              <a:ext uri="{FF2B5EF4-FFF2-40B4-BE49-F238E27FC236}">
                <a16:creationId xmlns:a16="http://schemas.microsoft.com/office/drawing/2014/main" id="{330B1E84-3260-47CB-8687-DB1E3CF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250-3">
            <a:extLst xmlns:a="http://schemas.openxmlformats.org/drawingml/2006/main">
              <a:ext uri="{FF2B5EF4-FFF2-40B4-BE49-F238E27FC236}">
                <a16:creationId xmlns:a16="http://schemas.microsoft.com/office/drawing/2014/main" id="{8D290274-CBD5-4D98-9E8D-9B47996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settings:* / backup:*  模型与备份</a:t>
            </a:r>
          </a:p>
        </p:txBody>
      </p:sp>
      <p:sp>
        <p:nvSpPr>
          <p:cNvPr id="24" name="api-bottom">
            <a:extLst xmlns:a="http://schemas.openxmlformats.org/drawingml/2006/main">
              <a:ext uri="{FF2B5EF4-FFF2-40B4-BE49-F238E27FC236}">
                <a16:creationId xmlns:a16="http://schemas.microsoft.com/office/drawing/2014/main" id="{E90B7DCA-3ADF-4997-8CAC-9FC0B41C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版本冲突时拒绝提交；叙事失败也不会重复掷骰。</a:t>
            </a:r>
          </a:p>
        </p:txBody>
      </p:sp>
    </p:spTree>
    <p:extLst>
      <p:ext uri="{BB962C8B-B14F-4D97-AF65-F5344CB8AC3E}">
        <p14:creationId xmlns:p14="http://schemas.microsoft.com/office/powerpoint/2010/main" val="1357944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yebrow-6">
            <a:extLst xmlns:a="http://schemas.openxmlformats.org/drawingml/2006/main">
              <a:ext uri="{FF2B5EF4-FFF2-40B4-BE49-F238E27FC236}">
                <a16:creationId xmlns:a16="http://schemas.microsoft.com/office/drawing/2014/main" id="{6807E302-2058-4279-B0D1-EEBBC00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  系统演示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D705A4A-D2A9-42BF-978A-CE5851C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两分钟演示：从自然语言行动到可追溯结果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0041EA28-CBE9-4803-AA23-1785A255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1B7BE7F-F1DC-4F4F-92A5-4833BB0E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5" name="step-num-0">
            <a:extLst xmlns:a="http://schemas.openxmlformats.org/drawingml/2006/main">
              <a:ext uri="{FF2B5EF4-FFF2-40B4-BE49-F238E27FC236}">
                <a16:creationId xmlns:a16="http://schemas.microsoft.com/office/drawing/2014/main" id="{EA5C88BD-AFFF-46D0-8174-8F455F6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BBFE56FD-67BB-4BF2-98AA-8C4C91D0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2394C6AF-DD56-4850-966A-59AA55C9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打开预置战役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99CB9E2A-E43D-43C5-A797-20D9CB96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F9FE8B2D-C300-4B02-AF67-481B165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36B726C2-1FA2-4A2A-8CC0-9F4FD55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ext-1">
            <a:extLst xmlns:a="http://schemas.openxmlformats.org/drawingml/2006/main">
              <a:ext uri="{FF2B5EF4-FFF2-40B4-BE49-F238E27FC236}">
                <a16:creationId xmlns:a16="http://schemas.microsoft.com/office/drawing/2014/main" id="{570DE69B-7255-43E5-BDDF-B15EBA26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查看人物与场景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4179FCE4-B227-407B-9A7B-E9790E54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24400BFD-7D43-41D7-83E7-4D00AC5C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4A0156FD-23D6-4563-B318-1FA3613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ext-2">
            <a:extLst xmlns:a="http://schemas.openxmlformats.org/drawingml/2006/main">
              <a:ext uri="{FF2B5EF4-FFF2-40B4-BE49-F238E27FC236}">
                <a16:creationId xmlns:a16="http://schemas.microsoft.com/office/drawing/2014/main" id="{E593AA90-38B9-491F-A0E1-56469F3A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输入调查行动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78E11128-8D91-45EF-8E9C-2CC7704C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043CC6A2-E2ED-4612-8D93-55DA3DD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7BDF7A36-CB80-4716-95FF-66AC40B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B1ABEA0-3D31-431E-9E2E-C1B5050F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触发检定与叙事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7029745A-44C4-40DF-84BD-3BCDCB5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BD63270E-5B08-4E7E-BAE9-FA08613A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-text-4">
            <a:extLst xmlns:a="http://schemas.openxmlformats.org/drawingml/2006/main">
              <a:ext uri="{FF2B5EF4-FFF2-40B4-BE49-F238E27FC236}">
                <a16:creationId xmlns:a16="http://schemas.microsoft.com/office/drawing/2014/main" id="{83A8D97F-8DA5-4906-B1DA-A980680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DE9A1E43-C41D-431B-8913-D848602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查看时间线/检查点</a:t>
            </a:r>
          </a:p>
        </p:txBody>
      </p:sp>
      <p:sp>
        <p:nvSpPr>
          <p:cNvPr id="24" name="demo-arch-label">
            <a:extLst xmlns:a="http://schemas.openxmlformats.org/drawingml/2006/main">
              <a:ext uri="{FF2B5EF4-FFF2-40B4-BE49-F238E27FC236}">
                <a16:creationId xmlns:a16="http://schemas.microsoft.com/office/drawing/2014/main" id="{39010575-3D18-4DE8-9790-B984786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一次行动在程序中的真实调用路径</a:t>
            </a:r>
          </a:p>
        </p:txBody>
      </p:sp>
      <p:sp>
        <p:nvSpPr>
          <p:cNvPr id="25" name="demo-arch-node-0">
            <a:extLst xmlns:a="http://schemas.openxmlformats.org/drawingml/2006/main">
              <a:ext uri="{FF2B5EF4-FFF2-40B4-BE49-F238E27FC236}">
                <a16:creationId xmlns:a16="http://schemas.microsoft.com/office/drawing/2014/main" id="{957A698A-45FC-4444-A228-CA826E5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mo-arch-accent-0">
            <a:extLst xmlns:a="http://schemas.openxmlformats.org/drawingml/2006/main">
              <a:ext uri="{FF2B5EF4-FFF2-40B4-BE49-F238E27FC236}">
                <a16:creationId xmlns:a16="http://schemas.microsoft.com/office/drawing/2014/main" id="{2C9422A7-E7BD-417D-98C5-416B356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arch-title-0">
            <a:extLst xmlns:a="http://schemas.openxmlformats.org/drawingml/2006/main">
              <a:ext uri="{FF2B5EF4-FFF2-40B4-BE49-F238E27FC236}">
                <a16:creationId xmlns:a16="http://schemas.microsoft.com/office/drawing/2014/main" id="{397F9697-46E8-4BA1-A1DA-51E2C54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玩家界面</a:t>
            </a:r>
          </a:p>
        </p:txBody>
      </p:sp>
      <p:sp>
        <p:nvSpPr>
          <p:cNvPr id="28" name="demo-arch-body-0">
            <a:extLst xmlns:a="http://schemas.openxmlformats.org/drawingml/2006/main">
              <a:ext uri="{FF2B5EF4-FFF2-40B4-BE49-F238E27FC236}">
                <a16:creationId xmlns:a16="http://schemas.microsoft.com/office/drawing/2014/main" id="{A499B0A8-3E8A-4984-ACCD-F8FF601D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React Renderer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自然语言输入与结果展示</a:t>
            </a:r>
          </a:p>
        </p:txBody>
      </p:sp>
      <p:sp>
        <p:nvSpPr>
          <p:cNvPr id="29" name="demo-arch-arrow-0">
            <a:extLst xmlns:a="http://schemas.openxmlformats.org/drawingml/2006/main">
              <a:ext uri="{FF2B5EF4-FFF2-40B4-BE49-F238E27FC236}">
                <a16:creationId xmlns:a16="http://schemas.microsoft.com/office/drawing/2014/main" id="{AFF913AE-FD67-42C9-8F06-CAF7A78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demo-arch-node-1">
            <a:extLst xmlns:a="http://schemas.openxmlformats.org/drawingml/2006/main">
              <a:ext uri="{FF2B5EF4-FFF2-40B4-BE49-F238E27FC236}">
                <a16:creationId xmlns:a16="http://schemas.microsoft.com/office/drawing/2014/main" id="{6D826695-0567-4BAC-A9DA-F3CE5614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mo-arch-accent-1">
            <a:extLst xmlns:a="http://schemas.openxmlformats.org/drawingml/2006/main">
              <a:ext uri="{FF2B5EF4-FFF2-40B4-BE49-F238E27FC236}">
                <a16:creationId xmlns:a16="http://schemas.microsoft.com/office/drawing/2014/main" id="{0150AE32-34FE-42FF-8736-38853F25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mo-arch-title-1">
            <a:extLst xmlns:a="http://schemas.openxmlformats.org/drawingml/2006/main">
              <a:ext uri="{FF2B5EF4-FFF2-40B4-BE49-F238E27FC236}">
                <a16:creationId xmlns:a16="http://schemas.microsoft.com/office/drawing/2014/main" id="{21FB8268-2E57-428F-8F88-6B7D3D5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桌面桥接</a:t>
            </a:r>
          </a:p>
        </p:txBody>
      </p:sp>
      <p:sp>
        <p:nvSpPr>
          <p:cNvPr id="33" name="demo-arch-body-1">
            <a:extLst xmlns:a="http://schemas.openxmlformats.org/drawingml/2006/main">
              <a:ext uri="{FF2B5EF4-FFF2-40B4-BE49-F238E27FC236}">
                <a16:creationId xmlns:a16="http://schemas.microsoft.com/office/drawing/2014/main" id="{12C04393-A903-44D6-B740-9FDDF2C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Preload / IPC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输入校验与安全边界</a:t>
            </a:r>
          </a:p>
        </p:txBody>
      </p:sp>
      <p:sp>
        <p:nvSpPr>
          <p:cNvPr id="34" name="demo-arch-arrow-1">
            <a:extLst xmlns:a="http://schemas.openxmlformats.org/drawingml/2006/main">
              <a:ext uri="{FF2B5EF4-FFF2-40B4-BE49-F238E27FC236}">
                <a16:creationId xmlns:a16="http://schemas.microsoft.com/office/drawing/2014/main" id="{EFE01441-8CDE-46DB-9175-208161A1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5" name="demo-arch-node-2">
            <a:extLst xmlns:a="http://schemas.openxmlformats.org/drawingml/2006/main">
              <a:ext uri="{FF2B5EF4-FFF2-40B4-BE49-F238E27FC236}">
                <a16:creationId xmlns:a16="http://schemas.microsoft.com/office/drawing/2014/main" id="{512A0E04-F3B6-41FF-922D-444EFC68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mo-arch-accent-2">
            <a:extLst xmlns:a="http://schemas.openxmlformats.org/drawingml/2006/main">
              <a:ext uri="{FF2B5EF4-FFF2-40B4-BE49-F238E27FC236}">
                <a16:creationId xmlns:a16="http://schemas.microsoft.com/office/drawing/2014/main" id="{4A1A54D7-ACF7-4461-B027-B0556E1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mo-arch-title-2">
            <a:extLst xmlns:a="http://schemas.openxmlformats.org/drawingml/2006/main">
              <a:ext uri="{FF2B5EF4-FFF2-40B4-BE49-F238E27FC236}">
                <a16:creationId xmlns:a16="http://schemas.microsoft.com/office/drawing/2014/main" id="{1348BCEF-0A2B-4F84-BDB3-43AAE64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05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游戏内核</a:t>
            </a:r>
          </a:p>
        </p:txBody>
      </p:sp>
      <p:sp>
        <p:nvSpPr>
          <p:cNvPr id="38" name="demo-arch-body-2">
            <a:extLst xmlns:a="http://schemas.openxmlformats.org/drawingml/2006/main">
              <a:ext uri="{FF2B5EF4-FFF2-40B4-BE49-F238E27FC236}">
                <a16:creationId xmlns:a16="http://schemas.microsoft.com/office/drawing/2014/main" id="{E9A8DC48-8972-4ED0-B17A-F2DC663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054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Router / Rules / RNG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裁定、校验并提交事件</a:t>
            </a:r>
          </a:p>
        </p:txBody>
      </p:sp>
      <p:sp>
        <p:nvSpPr>
          <p:cNvPr id="39" name="demo-arch-arrow-2">
            <a:extLst xmlns:a="http://schemas.openxmlformats.org/drawingml/2006/main">
              <a:ext uri="{FF2B5EF4-FFF2-40B4-BE49-F238E27FC236}">
                <a16:creationId xmlns:a16="http://schemas.microsoft.com/office/drawing/2014/main" id="{35763CA6-44B3-486E-859E-DB228149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006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40" name="demo-arch-node-3">
            <a:extLst xmlns:a="http://schemas.openxmlformats.org/drawingml/2006/main">
              <a:ext uri="{FF2B5EF4-FFF2-40B4-BE49-F238E27FC236}">
                <a16:creationId xmlns:a16="http://schemas.microsoft.com/office/drawing/2014/main" id="{71E4742B-5253-48DA-BEB1-B909841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mo-arch-accent-3">
            <a:extLst xmlns:a="http://schemas.openxmlformats.org/drawingml/2006/main">
              <a:ext uri="{FF2B5EF4-FFF2-40B4-BE49-F238E27FC236}">
                <a16:creationId xmlns:a16="http://schemas.microsoft.com/office/drawing/2014/main" id="{73F5BD9D-4A5D-416E-B24E-458CF9E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mo-arch-title-3">
            <a:extLst xmlns:a="http://schemas.openxmlformats.org/drawingml/2006/main">
              <a:ext uri="{FF2B5EF4-FFF2-40B4-BE49-F238E27FC236}">
                <a16:creationId xmlns:a16="http://schemas.microsoft.com/office/drawing/2014/main" id="{5D819B7D-46D3-4338-A422-C014C562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054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数据与模型</a:t>
            </a:r>
          </a:p>
        </p:txBody>
      </p:sp>
      <p:sp>
        <p:nvSpPr>
          <p:cNvPr id="43" name="demo-arch-body-3">
            <a:extLst xmlns:a="http://schemas.openxmlformats.org/drawingml/2006/main">
              <a:ext uri="{FF2B5EF4-FFF2-40B4-BE49-F238E27FC236}">
                <a16:creationId xmlns:a16="http://schemas.microsoft.com/office/drawing/2014/main" id="{454D079B-A449-4326-AEB3-E917503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054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SQLite 保存权威事实</a:t>
            </a:r>
          </a:p>
          <a:p xmlns:a="http://schemas.openxmlformats.org/drawingml/2006/main">
            <a:pPr algn="ctr">
              <a:defRPr sz="1125" b="0">
                <a:solidFill>
                  <a:srgbClr val="5B6573"/>
                </a:solidFill>
              </a:defRPr>
            </a:pPr>
            <a:r>
              <a:rPr sz="1125" b="0">
                <a:solidFill>
                  <a:srgbClr val="5B6573"/>
                </a:solidFill>
              </a:rPr>
              <a:t>Keeper / Provider 生成叙事</a:t>
            </a:r>
          </a:p>
        </p:txBody>
      </p:sp>
      <p:sp>
        <p:nvSpPr>
          <p:cNvPr id="44" name="demo-arch-note">
            <a:extLst xmlns:a="http://schemas.openxmlformats.org/drawingml/2006/main">
              <a:ext uri="{FF2B5EF4-FFF2-40B4-BE49-F238E27FC236}">
                <a16:creationId xmlns:a16="http://schemas.microsoft.com/office/drawing/2014/main" id="{A7D8DC9D-ECFF-4DF8-9153-B068453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34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硬边界：先裁定并提交事实，再生成正式叙事</a:t>
            </a:r>
          </a:p>
        </p:txBody>
      </p:sp>
    </p:spTree>
    <p:extLst>
      <p:ext uri="{BB962C8B-B14F-4D97-AF65-F5344CB8AC3E}">
        <p14:creationId xmlns:p14="http://schemas.microsoft.com/office/powerpoint/2010/main" val="2513002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3E3500F5-A5B7-4C6C-8345-18D5A609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  技术难点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D3F18B3-6FF6-402B-97A8-90EC8BA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最关键的难点：避免 AI 把“说过的话”当成事实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101AFDA0-A8ED-4920-B912-4D2AE6B4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A4872EB-2042-4A6E-9F6B-B1B3AD0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5" name="wrong-title">
            <a:extLst xmlns:a="http://schemas.openxmlformats.org/drawingml/2006/main">
              <a:ext uri="{FF2B5EF4-FFF2-40B4-BE49-F238E27FC236}">
                <a16:creationId xmlns:a16="http://schemas.microsoft.com/office/drawing/2014/main" id="{A45B1478-29E8-4FF6-A839-3E9108F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573"/>
                </a:solidFill>
              </a:defRPr>
            </a:pPr>
            <a:r>
              <a:rPr sz="1575" b="1">
                <a:solidFill>
                  <a:srgbClr val="5B6573"/>
                </a:solidFill>
              </a:rPr>
              <a:t>常见做法</a:t>
            </a:r>
          </a:p>
        </p:txBody>
      </p:sp>
      <p:sp>
        <p:nvSpPr>
          <p:cNvPr id="6" name="wrong-flow">
            <a:extLst xmlns:a="http://schemas.openxmlformats.org/drawingml/2006/main">
              <a:ext uri="{FF2B5EF4-FFF2-40B4-BE49-F238E27FC236}">
                <a16:creationId xmlns:a16="http://schemas.microsoft.com/office/drawing/2014/main" id="{CF2C518E-26BF-48F3-91D2-0E47BDE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玩家输入  →  AI 直接续写世界</a:t>
            </a:r>
          </a:p>
        </p:txBody>
      </p:sp>
      <p:sp>
        <p:nvSpPr>
          <p:cNvPr id="7" name="wrong-risk">
            <a:extLst xmlns:a="http://schemas.openxmlformats.org/drawingml/2006/main">
              <a:ext uri="{FF2B5EF4-FFF2-40B4-BE49-F238E27FC236}">
                <a16:creationId xmlns:a16="http://schemas.microsoft.com/office/drawing/2014/main" id="{E6DCFE91-D201-46BA-B271-4ED479C9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0000"/>
                </a:solidFill>
              </a:defRPr>
            </a:pPr>
            <a:r>
              <a:rPr sz="1425" b="0">
                <a:solidFill>
                  <a:srgbClr val="C00000"/>
                </a:solidFill>
              </a:rPr>
              <a:t>风险：结果不可验证，重试可能改变既有事实</a:t>
            </a:r>
          </a:p>
        </p:txBody>
      </p:sp>
      <p:sp>
        <p:nvSpPr>
          <p:cNvPr id="8" name="challenge-rule">
            <a:extLst xmlns:a="http://schemas.openxmlformats.org/drawingml/2006/main">
              <a:ext uri="{FF2B5EF4-FFF2-40B4-BE49-F238E27FC236}">
                <a16:creationId xmlns:a16="http://schemas.microsoft.com/office/drawing/2014/main" id="{6E2744EA-F107-48C9-A0F0-9DDD2A89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r-title">
            <a:extLst xmlns:a="http://schemas.openxmlformats.org/drawingml/2006/main">
              <a:ext uri="{FF2B5EF4-FFF2-40B4-BE49-F238E27FC236}">
                <a16:creationId xmlns:a16="http://schemas.microsoft.com/office/drawing/2014/main" id="{B0DB3610-EEE5-448D-B944-1F6CCD7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我们的方案</a:t>
            </a:r>
          </a:p>
        </p:txBody>
      </p:sp>
      <p:sp>
        <p:nvSpPr>
          <p:cNvPr id="10" name="bullet-dot-252-0">
            <a:extLst xmlns:a="http://schemas.openxmlformats.org/drawingml/2006/main">
              <a:ext uri="{FF2B5EF4-FFF2-40B4-BE49-F238E27FC236}">
                <a16:creationId xmlns:a16="http://schemas.microsoft.com/office/drawing/2014/main" id="{546E5E99-E226-41B7-BA20-6959C77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52-0">
            <a:extLst xmlns:a="http://schemas.openxmlformats.org/drawingml/2006/main">
              <a:ext uri="{FF2B5EF4-FFF2-40B4-BE49-F238E27FC236}">
                <a16:creationId xmlns:a16="http://schemas.microsoft.com/office/drawing/2014/main" id="{3D3B4A9C-0CCE-4707-9759-166A758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理解玩家意图</a:t>
            </a:r>
          </a:p>
        </p:txBody>
      </p:sp>
      <p:sp>
        <p:nvSpPr>
          <p:cNvPr id="12" name="bullet-dot-252-1">
            <a:extLst xmlns:a="http://schemas.openxmlformats.org/drawingml/2006/main">
              <a:ext uri="{FF2B5EF4-FFF2-40B4-BE49-F238E27FC236}">
                <a16:creationId xmlns:a16="http://schemas.microsoft.com/office/drawing/2014/main" id="{039F584D-C901-4A21-93AA-D29E4C2E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52-1">
            <a:extLst xmlns:a="http://schemas.openxmlformats.org/drawingml/2006/main">
              <a:ext uri="{FF2B5EF4-FFF2-40B4-BE49-F238E27FC236}">
                <a16:creationId xmlns:a16="http://schemas.microsoft.com/office/drawing/2014/main" id="{B8230120-7F67-4A8D-8022-64F22FB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规则与随机数裁定</a:t>
            </a:r>
          </a:p>
        </p:txBody>
      </p:sp>
      <p:sp>
        <p:nvSpPr>
          <p:cNvPr id="14" name="bullet-dot-252-2">
            <a:extLst xmlns:a="http://schemas.openxmlformats.org/drawingml/2006/main">
              <a:ext uri="{FF2B5EF4-FFF2-40B4-BE49-F238E27FC236}">
                <a16:creationId xmlns:a16="http://schemas.microsoft.com/office/drawing/2014/main" id="{58020FEA-7536-4606-B311-5A3EAC0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252-2">
            <a:extLst xmlns:a="http://schemas.openxmlformats.org/drawingml/2006/main">
              <a:ext uri="{FF2B5EF4-FFF2-40B4-BE49-F238E27FC236}">
                <a16:creationId xmlns:a16="http://schemas.microsoft.com/office/drawing/2014/main" id="{817DA133-8A00-4297-8868-228F4C4D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77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校验并提交状态/事件</a:t>
            </a:r>
          </a:p>
        </p:txBody>
      </p:sp>
      <p:sp>
        <p:nvSpPr>
          <p:cNvPr id="16" name="bullet-dot-252-3">
            <a:extLst xmlns:a="http://schemas.openxmlformats.org/drawingml/2006/main">
              <a:ext uri="{FF2B5EF4-FFF2-40B4-BE49-F238E27FC236}">
                <a16:creationId xmlns:a16="http://schemas.microsoft.com/office/drawing/2014/main" id="{6F242355-C80F-416D-9D22-9560ECA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52-3">
            <a:extLst xmlns:a="http://schemas.openxmlformats.org/drawingml/2006/main">
              <a:ext uri="{FF2B5EF4-FFF2-40B4-BE49-F238E27FC236}">
                <a16:creationId xmlns:a16="http://schemas.microsoft.com/office/drawing/2014/main" id="{105D1227-1A8F-42D3-A291-5A61D68B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054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根据已提交结果生成叙事</a:t>
            </a:r>
          </a:p>
        </p:txBody>
      </p:sp>
      <p:sp>
        <p:nvSpPr>
          <p:cNvPr id="18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7F2AF71D-E74B-4240-B21E-265C3A7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结果：叙事可以重试，已经发生的事实不会重算。</a:t>
            </a:r>
          </a:p>
        </p:txBody>
      </p:sp>
    </p:spTree>
    <p:extLst>
      <p:ext uri="{BB962C8B-B14F-4D97-AF65-F5344CB8AC3E}">
        <p14:creationId xmlns:p14="http://schemas.microsoft.com/office/powerpoint/2010/main" val="899743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E06A7225-0931-438C-9DDF-27E14080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07  个人实践与实习收获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BA54D3E-96BC-47A7-9D5D-0C12DC76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独立完成产品，也重新认识了 AI 的工程边界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8645D31A-0E19-4D8C-98F8-80F90DA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F4B6674-E1A6-48E7-8351-D91B9E0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08</a:t>
            </a:r>
          </a:p>
        </p:txBody>
      </p:sp>
      <p:sp>
        <p:nvSpPr>
          <p:cNvPr id="5" name="work-title">
            <a:extLst xmlns:a="http://schemas.openxmlformats.org/drawingml/2006/main">
              <a:ext uri="{FF2B5EF4-FFF2-40B4-BE49-F238E27FC236}">
                <a16:creationId xmlns:a16="http://schemas.microsoft.com/office/drawing/2014/main" id="{799DA25B-5EC2-47F2-A086-624204D4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个人完成的工作</a:t>
            </a:r>
          </a:p>
        </p:txBody>
      </p:sp>
      <p:sp>
        <p:nvSpPr>
          <p:cNvPr id="6" name="work-panel">
            <a:extLst xmlns:a="http://schemas.openxmlformats.org/drawingml/2006/main">
              <a:ext uri="{FF2B5EF4-FFF2-40B4-BE49-F238E27FC236}">
                <a16:creationId xmlns:a16="http://schemas.microsoft.com/office/drawing/2014/main" id="{075A0EBB-BF7D-41C6-8C06-EA2845B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80-0">
            <a:extLst xmlns:a="http://schemas.openxmlformats.org/drawingml/2006/main">
              <a:ext uri="{FF2B5EF4-FFF2-40B4-BE49-F238E27FC236}">
                <a16:creationId xmlns:a16="http://schemas.microsoft.com/office/drawing/2014/main" id="{7E6873DD-634F-4C00-8832-42B33BF9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1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80-0">
            <a:extLst xmlns:a="http://schemas.openxmlformats.org/drawingml/2006/main">
              <a:ext uri="{FF2B5EF4-FFF2-40B4-BE49-F238E27FC236}">
                <a16:creationId xmlns:a16="http://schemas.microsoft.com/office/drawing/2014/main" id="{9EE3B3A4-06C8-42F4-8134-DF36550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完成产品定位、架构设计与功能拆解</a:t>
            </a:r>
          </a:p>
        </p:txBody>
      </p:sp>
      <p:sp>
        <p:nvSpPr>
          <p:cNvPr id="9" name="bullet-dot-280-1">
            <a:extLst xmlns:a="http://schemas.openxmlformats.org/drawingml/2006/main">
              <a:ext uri="{FF2B5EF4-FFF2-40B4-BE49-F238E27FC236}">
                <a16:creationId xmlns:a16="http://schemas.microsoft.com/office/drawing/2014/main" id="{E9C77EC4-0278-4C2A-BBEA-696EF814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80-1">
            <a:extLst xmlns:a="http://schemas.openxmlformats.org/drawingml/2006/main">
              <a:ext uri="{FF2B5EF4-FFF2-40B4-BE49-F238E27FC236}">
                <a16:creationId xmlns:a16="http://schemas.microsoft.com/office/drawing/2014/main" id="{FC286876-DA77-4EAF-BC02-7F0055F2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576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实现桌面界面、游戏内核与本地数据层</a:t>
            </a:r>
          </a:p>
        </p:txBody>
      </p:sp>
      <p:sp>
        <p:nvSpPr>
          <p:cNvPr id="11" name="bullet-dot-280-2">
            <a:extLst xmlns:a="http://schemas.openxmlformats.org/drawingml/2006/main">
              <a:ext uri="{FF2B5EF4-FFF2-40B4-BE49-F238E27FC236}">
                <a16:creationId xmlns:a16="http://schemas.microsoft.com/office/drawing/2014/main" id="{7C878EA4-92A7-47B1-8133-D01AD66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72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80-2">
            <a:extLst xmlns:a="http://schemas.openxmlformats.org/drawingml/2006/main">
              <a:ext uri="{FF2B5EF4-FFF2-40B4-BE49-F238E27FC236}">
                <a16:creationId xmlns:a16="http://schemas.microsoft.com/office/drawing/2014/main" id="{38EF0BA9-5127-46EB-B245-6EE2F75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8630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接入模型、内容包、检查点与演示流程</a:t>
            </a:r>
          </a:p>
        </p:txBody>
      </p:sp>
      <p:sp>
        <p:nvSpPr>
          <p:cNvPr id="13" name="bullet-dot-280-3">
            <a:extLst xmlns:a="http://schemas.openxmlformats.org/drawingml/2006/main">
              <a:ext uri="{FF2B5EF4-FFF2-40B4-BE49-F238E27FC236}">
                <a16:creationId xmlns:a16="http://schemas.microsoft.com/office/drawing/2014/main" id="{6E5EA6C5-F819-407D-8314-81F0A0D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0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80-3">
            <a:extLst xmlns:a="http://schemas.openxmlformats.org/drawingml/2006/main">
              <a:ext uri="{FF2B5EF4-FFF2-40B4-BE49-F238E27FC236}">
                <a16:creationId xmlns:a16="http://schemas.microsoft.com/office/drawing/2014/main" id="{7187EE93-EFCA-45FB-A0D9-36B966A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通过测试与复盘持续修正产品体验</a:t>
            </a:r>
          </a:p>
        </p:txBody>
      </p:sp>
      <p:sp>
        <p:nvSpPr>
          <p:cNvPr id="15" name="learn-title">
            <a:extLst xmlns:a="http://schemas.openxmlformats.org/drawingml/2006/main">
              <a:ext uri="{FF2B5EF4-FFF2-40B4-BE49-F238E27FC236}">
                <a16:creationId xmlns:a16="http://schemas.microsoft.com/office/drawing/2014/main" id="{198BDD23-DE9E-4C31-96F1-4CE0C3C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对 AI 的核心认知</a:t>
            </a:r>
          </a:p>
        </p:txBody>
      </p:sp>
      <p:sp>
        <p:nvSpPr>
          <p:cNvPr id="16" name="learn-panel">
            <a:extLst xmlns:a="http://schemas.openxmlformats.org/drawingml/2006/main">
              <a:ext uri="{FF2B5EF4-FFF2-40B4-BE49-F238E27FC236}">
                <a16:creationId xmlns:a16="http://schemas.microsoft.com/office/drawing/2014/main" id="{D2A07FFB-2CCA-49FF-9686-4325561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dot-272-0">
            <a:extLst xmlns:a="http://schemas.openxmlformats.org/drawingml/2006/main">
              <a:ext uri="{FF2B5EF4-FFF2-40B4-BE49-F238E27FC236}">
                <a16:creationId xmlns:a16="http://schemas.microsoft.com/office/drawing/2014/main" id="{B119AD75-CC59-408D-94A2-CF2900D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72-0">
            <a:extLst xmlns:a="http://schemas.openxmlformats.org/drawingml/2006/main">
              <a:ext uri="{FF2B5EF4-FFF2-40B4-BE49-F238E27FC236}">
                <a16:creationId xmlns:a16="http://schemas.microsoft.com/office/drawing/2014/main" id="{0C9007D5-3CD4-45B9-B9C5-F7E839BE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5280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模型能力不等于产品可靠性，关键事实要由程序约束</a:t>
            </a:r>
          </a:p>
        </p:txBody>
      </p:sp>
      <p:sp>
        <p:nvSpPr>
          <p:cNvPr id="19" name="bullet-dot-272-1">
            <a:extLst xmlns:a="http://schemas.openxmlformats.org/drawingml/2006/main">
              <a:ext uri="{FF2B5EF4-FFF2-40B4-BE49-F238E27FC236}">
                <a16:creationId xmlns:a16="http://schemas.microsoft.com/office/drawing/2014/main" id="{601EFBCA-A609-45A2-9C9C-D5CA433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2-1">
            <a:extLst xmlns:a="http://schemas.openxmlformats.org/drawingml/2006/main">
              <a:ext uri="{FF2B5EF4-FFF2-40B4-BE49-F238E27FC236}">
                <a16:creationId xmlns:a16="http://schemas.microsoft.com/office/drawing/2014/main" id="{7DDA1A38-7763-4F4F-80B2-30382A97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002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本地模型需要按任务做参数、提示词与上下文调优</a:t>
            </a:r>
          </a:p>
        </p:txBody>
      </p:sp>
      <p:sp>
        <p:nvSpPr>
          <p:cNvPr id="21" name="bullet-dot-272-2">
            <a:extLst xmlns:a="http://schemas.openxmlformats.org/drawingml/2006/main">
              <a:ext uri="{FF2B5EF4-FFF2-40B4-BE49-F238E27FC236}">
                <a16:creationId xmlns:a16="http://schemas.microsoft.com/office/drawing/2014/main" id="{0303569C-2712-4B5A-AED8-8959720D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2-2">
            <a:extLst xmlns:a="http://schemas.openxmlformats.org/drawingml/2006/main">
              <a:ext uri="{FF2B5EF4-FFF2-40B4-BE49-F238E27FC236}">
                <a16:creationId xmlns:a16="http://schemas.microsoft.com/office/drawing/2014/main" id="{9CBAE0DF-D7B4-4CCC-A65C-FF306363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67250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针对性适配比盲目追求大模型规模更重要</a:t>
            </a:r>
          </a:p>
        </p:txBody>
      </p:sp>
      <p:sp>
        <p:nvSpPr>
          <p:cNvPr id="23" name="bullet-dot-272-3">
            <a:extLst xmlns:a="http://schemas.openxmlformats.org/drawingml/2006/main">
              <a:ext uri="{FF2B5EF4-FFF2-40B4-BE49-F238E27FC236}">
                <a16:creationId xmlns:a16="http://schemas.microsoft.com/office/drawing/2014/main" id="{99D59BB8-731C-495E-90EA-5F6536EC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1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2-3">
            <a:extLst xmlns:a="http://schemas.openxmlformats.org/drawingml/2006/main">
              <a:ext uri="{FF2B5EF4-FFF2-40B4-BE49-F238E27FC236}">
                <a16:creationId xmlns:a16="http://schemas.microsoft.com/office/drawing/2014/main" id="{CD652702-AF9B-4BB4-AE34-054B376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24475"/>
            <a:ext cx="417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结构化输出、评测和失败降级决定实际可用性</a:t>
            </a:r>
          </a:p>
        </p:txBody>
      </p:sp>
      <p:sp>
        <p:nvSpPr>
          <p:cNvPr id="25" name="learn-note">
            <a:extLst xmlns:a="http://schemas.openxmlformats.org/drawingml/2006/main">
              <a:ext uri="{FF2B5EF4-FFF2-40B4-BE49-F238E27FC236}">
                <a16:creationId xmlns:a16="http://schemas.microsoft.com/office/drawing/2014/main" id="{C42CB5E6-2250-4D61-8FBE-34B6B94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91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最大的收获：从“会调用 AI”，走向“能让 AI 在明确边界内稳定完成任务”。</a:t>
            </a:r>
          </a:p>
        </p:txBody>
      </p:sp>
    </p:spTree>
    <p:extLst>
      <p:ext uri="{BB962C8B-B14F-4D97-AF65-F5344CB8AC3E}">
        <p14:creationId xmlns:p14="http://schemas.microsoft.com/office/powerpoint/2010/main" val="1645202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yebrow-9">
            <a:extLst xmlns:a="http://schemas.openxmlformats.org/drawingml/2006/main">
              <a:ext uri="{FF2B5EF4-FFF2-40B4-BE49-F238E27FC236}">
                <a16:creationId xmlns:a16="http://schemas.microsoft.com/office/drawing/2014/main" id="{7A34CE4F-8C3E-447D-8DB1-46B6E279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6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08  版本演进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6FABBCC-8285-4E98-A55D-3BD4F3F7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从可分发的 V0.1，走向完整的 V1.0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94C25E58-954F-42BA-BAA6-FE7CE75C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8D7778B-54E2-4523-AFDB-830096E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16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09</a:t>
            </a:r>
          </a:p>
        </p:txBody>
      </p:sp>
      <p:sp>
        <p:nvSpPr>
          <p:cNvPr id="5" name="v01-label">
            <a:extLst xmlns:a="http://schemas.openxmlformats.org/drawingml/2006/main">
              <a:ext uri="{FF2B5EF4-FFF2-40B4-BE49-F238E27FC236}">
                <a16:creationId xmlns:a16="http://schemas.microsoft.com/office/drawing/2014/main" id="{FD50465A-7101-4ADE-A651-7814EDA9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V0.1  ·  已经完成</a:t>
            </a:r>
          </a:p>
        </p:txBody>
      </p:sp>
      <p:sp>
        <p:nvSpPr>
          <p:cNvPr id="6" name="v01-panel">
            <a:extLst xmlns:a="http://schemas.openxmlformats.org/drawingml/2006/main">
              <a:ext uri="{FF2B5EF4-FFF2-40B4-BE49-F238E27FC236}">
                <a16:creationId xmlns:a16="http://schemas.microsoft.com/office/drawing/2014/main" id="{B676414E-A3D3-4399-8684-D499777A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15CE4F93-A064-408B-AA43-7E7474C8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BCE40B82-EF27-4224-A4E8-3EDEFE2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909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可安装、可独立启动的桌面产品</a:t>
            </a:r>
          </a:p>
        </p:txBody>
      </p:sp>
      <p:sp>
        <p:nvSpPr>
          <p:cNvPr id="9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C3EA7167-66B5-4C0E-98E8-27EDEF38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C2EFC2D9-0202-43AF-B23C-5E21349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9572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角色创建、战役与自然语言行动</a:t>
            </a:r>
          </a:p>
        </p:txBody>
      </p:sp>
      <p:sp>
        <p:nvSpPr>
          <p:cNvPr id="11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D9636FC8-9715-4E3D-80A0-5B49D0E7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0C1F4381-90D2-4561-9E4A-947BE3F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0055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规则检定、AI 叙事与权威状态</a:t>
            </a:r>
          </a:p>
        </p:txBody>
      </p:sp>
      <p:sp>
        <p:nvSpPr>
          <p:cNvPr id="13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6843F2B9-62EC-4AFA-91EB-5ACC720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C6D3E9F8-6BAF-49E4-875A-E08D07D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5375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时间线、检查点和基础恢复</a:t>
            </a:r>
          </a:p>
        </p:txBody>
      </p:sp>
      <p:sp>
        <p:nvSpPr>
          <p:cNvPr id="15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E3B4FF25-DE61-45CF-AEF7-21ED239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D09FF8E0-5B7D-4A2C-BAC8-73E9687D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10200"/>
            <a:ext cx="4038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模型配置与内容基础接入</a:t>
            </a:r>
          </a:p>
        </p:txBody>
      </p:sp>
      <p:sp>
        <p:nvSpPr>
          <p:cNvPr id="17" name="v10-label">
            <a:extLst xmlns:a="http://schemas.openxmlformats.org/drawingml/2006/main">
              <a:ext uri="{FF2B5EF4-FFF2-40B4-BE49-F238E27FC236}">
                <a16:creationId xmlns:a16="http://schemas.microsoft.com/office/drawing/2014/main" id="{EF5A2AE7-2549-414A-A948-09CD833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V1.0  ·  完整产品形态</a:t>
            </a:r>
          </a:p>
        </p:txBody>
      </p:sp>
      <p:sp>
        <p:nvSpPr>
          <p:cNvPr id="18" name="v10-panel">
            <a:extLst xmlns:a="http://schemas.openxmlformats.org/drawingml/2006/main">
              <a:ext uri="{FF2B5EF4-FFF2-40B4-BE49-F238E27FC236}">
                <a16:creationId xmlns:a16="http://schemas.microsoft.com/office/drawing/2014/main" id="{CE1BBF09-961D-4206-A1CE-9D53610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5086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dot-276-0">
            <a:extLst xmlns:a="http://schemas.openxmlformats.org/drawingml/2006/main">
              <a:ext uri="{FF2B5EF4-FFF2-40B4-BE49-F238E27FC236}">
                <a16:creationId xmlns:a16="http://schemas.microsoft.com/office/drawing/2014/main" id="{4BCCC16F-F072-420C-8F10-8C8BA42F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276-0">
            <a:extLst xmlns:a="http://schemas.openxmlformats.org/drawingml/2006/main">
              <a:ext uri="{FF2B5EF4-FFF2-40B4-BE49-F238E27FC236}">
                <a16:creationId xmlns:a16="http://schemas.microsoft.com/office/drawing/2014/main" id="{6DC5D9A5-7562-470D-BB46-9C6E5AFC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目标战役长度内的长期一致性</a:t>
            </a:r>
          </a:p>
        </p:txBody>
      </p:sp>
      <p:sp>
        <p:nvSpPr>
          <p:cNvPr id="21" name="bullet-dot-276-1">
            <a:extLst xmlns:a="http://schemas.openxmlformats.org/drawingml/2006/main">
              <a:ext uri="{FF2B5EF4-FFF2-40B4-BE49-F238E27FC236}">
                <a16:creationId xmlns:a16="http://schemas.microsoft.com/office/drawing/2014/main" id="{C17ABC66-910C-488B-9F05-44EE682B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276-1">
            <a:extLst xmlns:a="http://schemas.openxmlformats.org/drawingml/2006/main">
              <a:ext uri="{FF2B5EF4-FFF2-40B4-BE49-F238E27FC236}">
                <a16:creationId xmlns:a16="http://schemas.microsoft.com/office/drawing/2014/main" id="{0F1BBDDF-FEFD-4E5D-B221-2B634E24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9572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文字卡、轻量内容与剧本包兼容</a:t>
            </a:r>
          </a:p>
        </p:txBody>
      </p:sp>
      <p:sp>
        <p:nvSpPr>
          <p:cNvPr id="23" name="bullet-dot-276-2">
            <a:extLst xmlns:a="http://schemas.openxmlformats.org/drawingml/2006/main">
              <a:ext uri="{FF2B5EF4-FFF2-40B4-BE49-F238E27FC236}">
                <a16:creationId xmlns:a16="http://schemas.microsoft.com/office/drawing/2014/main" id="{76A6DFE0-9DE1-42A8-9BD9-76854E81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llet-276-2">
            <a:extLst xmlns:a="http://schemas.openxmlformats.org/drawingml/2006/main">
              <a:ext uri="{FF2B5EF4-FFF2-40B4-BE49-F238E27FC236}">
                <a16:creationId xmlns:a16="http://schemas.microsoft.com/office/drawing/2014/main" id="{DD8CFFA0-83A3-4E87-83E5-DAE51D7F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Scenario Pack 制作与发布路径</a:t>
            </a:r>
          </a:p>
        </p:txBody>
      </p:sp>
      <p:sp>
        <p:nvSpPr>
          <p:cNvPr id="25" name="bullet-dot-276-3">
            <a:extLst xmlns:a="http://schemas.openxmlformats.org/drawingml/2006/main">
              <a:ext uri="{FF2B5EF4-FFF2-40B4-BE49-F238E27FC236}">
                <a16:creationId xmlns:a16="http://schemas.microsoft.com/office/drawing/2014/main" id="{885B477A-C492-4F73-8663-E7A9F4E3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llet-276-3">
            <a:extLst xmlns:a="http://schemas.openxmlformats.org/drawingml/2006/main">
              <a:ext uri="{FF2B5EF4-FFF2-40B4-BE49-F238E27FC236}">
                <a16:creationId xmlns:a16="http://schemas.microsoft.com/office/drawing/2014/main" id="{C9FCFEF9-6D93-4A89-B332-0E1A1621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05375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模型替换、失败降级和成本控制</a:t>
            </a:r>
          </a:p>
        </p:txBody>
      </p:sp>
      <p:sp>
        <p:nvSpPr>
          <p:cNvPr id="27" name="bullet-dot-276-4">
            <a:extLst xmlns:a="http://schemas.openxmlformats.org/drawingml/2006/main">
              <a:ext uri="{FF2B5EF4-FFF2-40B4-BE49-F238E27FC236}">
                <a16:creationId xmlns:a16="http://schemas.microsoft.com/office/drawing/2014/main" id="{D8439868-CCDA-4587-8192-95333E9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ullet-276-4">
            <a:extLst xmlns:a="http://schemas.openxmlformats.org/drawingml/2006/main">
              <a:ext uri="{FF2B5EF4-FFF2-40B4-BE49-F238E27FC236}">
                <a16:creationId xmlns:a16="http://schemas.microsoft.com/office/drawing/2014/main" id="{C14FED83-4F04-446B-84BF-35C59440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0200"/>
            <a:ext cx="4171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</a:defRPr>
            </a:pPr>
            <a:r>
              <a:rPr sz="1425" b="0">
                <a:solidFill>
                  <a:srgbClr val="101820"/>
                </a:solidFill>
              </a:rPr>
              <a:t>存档回滚、分支、迁移与完整文档</a:t>
            </a:r>
          </a:p>
        </p:txBody>
      </p:sp>
      <p:sp>
        <p:nvSpPr>
          <p:cNvPr id="29" name="version-boundary">
            <a:extLst xmlns:a="http://schemas.openxmlformats.org/drawingml/2006/main">
              <a:ext uri="{FF2B5EF4-FFF2-40B4-BE49-F238E27FC236}">
                <a16:creationId xmlns:a16="http://schemas.microsoft.com/office/drawing/2014/main" id="{166DBD06-1660-4042-93F5-B0F9B52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629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V1.0 仍聚焦 AI 主持的单人跑团；多人实时联机与真人 GM 工作台属于远期方向。</a:t>
            </a:r>
          </a:p>
        </p:txBody>
      </p:sp>
    </p:spTree>
    <p:extLst>
      <p:ext uri="{BB962C8B-B14F-4D97-AF65-F5344CB8AC3E}">
        <p14:creationId xmlns:p14="http://schemas.microsoft.com/office/powerpoint/2010/main" val="14547957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5B82F5C-53F9-4DDB-83CF-8505F154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AI TRPG ENGINE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1A50599-C9EC-4652-AD1A-9ADEBBE5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 AI 成为主持人，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让程序守住世界的事实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BE9137CC-48CB-4306-95D9-299CFB2E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当前成果：完整试玩闭环 · 本地权威状态 · 可替换模型 · 可恢复历史</a:t>
            </a:r>
          </a:p>
        </p:txBody>
      </p:sp>
      <p:sp>
        <p:nvSpPr>
          <p:cNvPr id="4" name="close-future">
            <a:extLst xmlns:a="http://schemas.openxmlformats.org/drawingml/2006/main">
              <a:ext uri="{FF2B5EF4-FFF2-40B4-BE49-F238E27FC236}">
                <a16:creationId xmlns:a16="http://schemas.microsoft.com/office/drawing/2014/main" id="{AB64A0F4-746B-4845-B1B5-1480D35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</a:defRPr>
            </a:pPr>
            <a:r>
              <a:rPr sz="1575" b="0">
                <a:solidFill>
                  <a:srgbClr val="6DCBF4"/>
                </a:solidFill>
              </a:rPr>
              <a:t>下一步：增强长期记忆与内容工具，并逐步探索多人协作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3D012814-4BD4-4986-AEEB-AA977F04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a">
            <a:extLst xmlns:a="http://schemas.openxmlformats.org/drawingml/2006/main">
              <a:ext uri="{FF2B5EF4-FFF2-40B4-BE49-F238E27FC236}">
                <a16:creationId xmlns:a16="http://schemas.microsoft.com/office/drawing/2014/main" id="{E15353C9-C193-4D69-986A-B19999EF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92A6034F-3FBD-44E7-987F-0DB5B7A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86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感谢各位老师指导</a:t>
            </a:r>
          </a:p>
        </p:txBody>
      </p:sp>
    </p:spTree>
    <p:extLst>
      <p:ext uri="{BB962C8B-B14F-4D97-AF65-F5344CB8AC3E}">
        <p14:creationId xmlns:p14="http://schemas.microsoft.com/office/powerpoint/2010/main" val="1275902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2026-08-25T06:10:22.6090000Z</dcterms:created>
  <dcterms:modified xsi:type="dcterms:W3CDTF">2026-08-25T06:10:22.6090000Z</dcterms:modified>
</coreProperties>
</file>