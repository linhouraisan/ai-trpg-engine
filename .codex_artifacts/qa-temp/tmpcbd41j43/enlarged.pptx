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974115c760a9420e" Type="http://schemas.openxmlformats.org/officeDocument/2006/relationships/extended-properties" Target="docProps/app.xml"/><Relationship Id="Rc8c126dd5dad49ae" Type="http://schemas.openxmlformats.org/officeDocument/2006/relationships/officeDocument" Target="ppt/presentation.xml"/><Relationship Id="Rd661c24efc4c4d4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1eab244f354b74"/>
  </p:sldMasterIdLst>
  <p:notesMasterIdLst>
    <p:notesMasterId xmlns:r="http://schemas.openxmlformats.org/officeDocument/2006/relationships" r:id="Rcdf6252799e54087"/>
  </p:notesMasterIdLst>
  <p:sldIdLst>
    <p:sldId xmlns:r="http://schemas.openxmlformats.org/officeDocument/2006/relationships" id="256" r:id="R8e0820d1a8ef4651"/>
    <p:sldId xmlns:r="http://schemas.openxmlformats.org/officeDocument/2006/relationships" id="257" r:id="R922b954018d54ccc"/>
    <p:sldId xmlns:r="http://schemas.openxmlformats.org/officeDocument/2006/relationships" id="258" r:id="R368330a282bc419e"/>
    <p:sldId xmlns:r="http://schemas.openxmlformats.org/officeDocument/2006/relationships" id="259" r:id="R39163cf7babd4c6d"/>
    <p:sldId xmlns:r="http://schemas.openxmlformats.org/officeDocument/2006/relationships" id="260" r:id="Ra0d8749821284666"/>
    <p:sldId xmlns:r="http://schemas.openxmlformats.org/officeDocument/2006/relationships" id="261" r:id="Rb87f82e47b384282"/>
    <p:sldId xmlns:r="http://schemas.openxmlformats.org/officeDocument/2006/relationships" id="262" r:id="R8f7c96f8e0764281"/>
    <p:sldId xmlns:r="http://schemas.openxmlformats.org/officeDocument/2006/relationships" id="263" r:id="R2fdd5c25d8a04d76"/>
    <p:sldId xmlns:r="http://schemas.openxmlformats.org/officeDocument/2006/relationships" id="264" r:id="Rb90b4a47e35647d5"/>
    <p:sldId xmlns:r="http://schemas.openxmlformats.org/officeDocument/2006/relationships" id="265" r:id="Rbca01674f5004fab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71b37ab2034418" Type="http://schemas.openxmlformats.org/officeDocument/2006/relationships/presProps" Target="presProps.xml"/><Relationship Id="R0d1eab244f354b74" Type="http://schemas.openxmlformats.org/officeDocument/2006/relationships/slideMaster" Target="slideMasters/slideMaster1.xml"/><Relationship Id="R170b8faf9c804a95" Type="http://schemas.openxmlformats.org/officeDocument/2006/relationships/tableStyles" Target="tableStyles.xml"/><Relationship Id="R2e46c7d7e3f840df" Type="http://schemas.openxmlformats.org/officeDocument/2006/relationships/theme" Target="theme/theme1.xml"/><Relationship Id="R2fdd5c25d8a04d76" Type="http://schemas.openxmlformats.org/officeDocument/2006/relationships/slide" Target="slides/slide8.xml"/><Relationship Id="R368330a282bc419e" Type="http://schemas.openxmlformats.org/officeDocument/2006/relationships/slide" Target="slides/slide3.xml"/><Relationship Id="R39163cf7babd4c6d" Type="http://schemas.openxmlformats.org/officeDocument/2006/relationships/slide" Target="slides/slide4.xml"/><Relationship Id="R8e0820d1a8ef4651" Type="http://schemas.openxmlformats.org/officeDocument/2006/relationships/slide" Target="slides/slide1.xml"/><Relationship Id="R8f7c96f8e0764281" Type="http://schemas.openxmlformats.org/officeDocument/2006/relationships/slide" Target="slides/slide7.xml"/><Relationship Id="R922b954018d54ccc" Type="http://schemas.openxmlformats.org/officeDocument/2006/relationships/slide" Target="slides/slide2.xml"/><Relationship Id="Ra0d8749821284666" Type="http://schemas.openxmlformats.org/officeDocument/2006/relationships/slide" Target="slides/slide5.xml"/><Relationship Id="Rb87f82e47b384282" Type="http://schemas.openxmlformats.org/officeDocument/2006/relationships/slide" Target="slides/slide6.xml"/><Relationship Id="Rb90b4a47e35647d5" Type="http://schemas.openxmlformats.org/officeDocument/2006/relationships/slide" Target="slides/slide9.xml"/><Relationship Id="Rbca01674f5004fab" Type="http://schemas.openxmlformats.org/officeDocument/2006/relationships/slide" Target="slides/slide10.xml"/><Relationship Id="Rcdf6252799e5408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90e02437f3bd417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035bd4f7e2a4147" Type="http://schemas.openxmlformats.org/officeDocument/2006/relationships/notesMaster" Target="../notesMasters/notesMaster1.xml"/><Relationship Id="Ra20d9a05025f4e7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08cb20b4fa54581" Type="http://schemas.openxmlformats.org/officeDocument/2006/relationships/slide" Target="../slides/slide2.xml"/><Relationship Id="R4c4c8229adf3468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a64d67ef5e149cd" Type="http://schemas.openxmlformats.org/officeDocument/2006/relationships/notesMaster" Target="../notesMasters/notesMaster1.xml"/><Relationship Id="R5d8ea16e00024fe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e7a790944dd493e" Type="http://schemas.openxmlformats.org/officeDocument/2006/relationships/slide" Target="../slides/slide4.xml"/><Relationship Id="Rf1ef46bb412c495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cf73b42ecba40ac" Type="http://schemas.openxmlformats.org/officeDocument/2006/relationships/slide" Target="../slides/slide5.xml"/><Relationship Id="Rab160c2c7e9e45a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73452b932d64a2b" Type="http://schemas.openxmlformats.org/officeDocument/2006/relationships/slide" Target="../slides/slide6.xml"/><Relationship Id="R9fb603c478b5480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f47a3ddb7bb4dc4" Type="http://schemas.openxmlformats.org/officeDocument/2006/relationships/slide" Target="../slides/slide7.xml"/><Relationship Id="Rb97a857c4b924f4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8589c9a6d53404b" Type="http://schemas.openxmlformats.org/officeDocument/2006/relationships/notesMaster" Target="../notesMasters/notesMaster1.xml"/><Relationship Id="Rbcaf59ab2650479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1ae500aea2344f9" Type="http://schemas.openxmlformats.org/officeDocument/2006/relationships/notesMaster" Target="../notesMasters/notesMaster1.xml"/><Relationship Id="R8d6006c65c4d4dd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6cdd33a26144323" Type="http://schemas.openxmlformats.org/officeDocument/2006/relationships/notesMaster" Target="../notesMasters/notesMaster1.xml"/><Relationship Id="Rd744215e87e84a3d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fe584af246b44d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fa3d3f4451a4bc9" Type="http://schemas.openxmlformats.org/officeDocument/2006/relationships/slideLayout" Target="../slideLayouts/slideLayout1.xml"/><Relationship Id="Rac8cdd5d773d45e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3d3f4451a4b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ee049f8d37d410f" Type="http://schemas.openxmlformats.org/officeDocument/2006/relationships/slideLayout" Target="../slideLayouts/slideLayout1.xml"/><Relationship Id="R4026ca880f924a86" Type="http://schemas.openxmlformats.org/officeDocument/2006/relationships/notesSlide" Target="../notesSlides/notesSlide1.xml"/><Relationship Id="R5f6fd138546f493e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880f84cd31844a37" Type="http://schemas.openxmlformats.org/officeDocument/2006/relationships/slideLayout" Target="../slideLayouts/slideLayout1.xml"/><Relationship Id="Rda37c76632b4432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f897adb97004e70" Type="http://schemas.openxmlformats.org/officeDocument/2006/relationships/slideLayout" Target="../slideLayouts/slideLayout1.xml"/><Relationship Id="Re3730f0178bb4db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a3a63bd9e1c4dd9" Type="http://schemas.openxmlformats.org/officeDocument/2006/relationships/slideLayout" Target="../slideLayouts/slideLayout1.xml"/><Relationship Id="Re9a41cc0195346a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0c36f17845743a6" Type="http://schemas.openxmlformats.org/officeDocument/2006/relationships/notesSlide" Target="../notesSlides/notesSlide5.xml"/><Relationship Id="R27ad04148ea6443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e89a2dc9a184331" Type="http://schemas.openxmlformats.org/officeDocument/2006/relationships/notesSlide" Target="../notesSlides/notesSlide6.xml"/><Relationship Id="Rde3509503fdf450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9a625710ce624ee2" Type="http://schemas.openxmlformats.org/officeDocument/2006/relationships/notesSlide" Target="../notesSlides/notesSlide7.xml"/><Relationship Id="Rcbf69c29f099490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513a79cbb6b4104" Type="http://schemas.openxmlformats.org/officeDocument/2006/relationships/notesSlide" Target="../notesSlides/notesSlide8.xml"/><Relationship Id="Rb4e39a6a550b492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6defbd5b6a294bca" Type="http://schemas.openxmlformats.org/officeDocument/2006/relationships/slideLayout" Target="../slideLayouts/slideLayout1.xml"/><Relationship Id="R87815db5b25042a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af7a4a663d4546bd" Type="http://schemas.openxmlformats.org/officeDocument/2006/relationships/slideLayout" Target="../slideLayouts/slideLayout1.xml"/><Relationship Id="Rca26eeb9bf1e47ce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10D129F2-8E9F-4B63-9F41-BFA4C57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ar">
            <a:extLst xmlns:a="http://schemas.openxmlformats.org/drawingml/2006/main">
              <a:ext uri="{FF2B5EF4-FFF2-40B4-BE49-F238E27FC236}">
                <a16:creationId xmlns:a16="http://schemas.microsoft.com/office/drawing/2014/main" id="{75C1DEAC-8014-4F5A-8CBE-1D75D638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7E6ACB2-77F7-4643-B66A-3A15471E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毕业实习项目答辩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727170-9E8B-4FA4-B64A-BC15D93E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B69E85B-AB17-4C7B-870C-9B99B812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本地优先的 AI 单人跑团桌面引擎</a:t>
            </a:r>
          </a:p>
        </p:txBody>
      </p:sp>
      <p:sp>
        <p:nvSpPr>
          <p:cNvPr id="6" name="cover-value">
            <a:extLst xmlns:a="http://schemas.openxmlformats.org/drawingml/2006/main">
              <a:ext uri="{FF2B5EF4-FFF2-40B4-BE49-F238E27FC236}">
                <a16:creationId xmlns:a16="http://schemas.microsoft.com/office/drawing/2014/main" id="{584099C1-6C7B-40BD-AD27-F6FA87A1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AI 负责理解与叙事，程序负责规则与事实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18F01205-A6F1-4297-ACAE-C04EEACD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组号：【待替换：组号】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组长：【待替换：组长姓名】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成员：【待替换：全部成员姓名】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fd138546f493e"/>
          <a:stretch xmlns:a="http://schemas.openxmlformats.org/drawingml/2006/main"/>
        </p:blipFill>
        <p:spPr>
          <a:xfrm xmlns:a="http://schemas.openxmlformats.org/drawingml/2006/main">
            <a:off x="8572500" y="2840458"/>
            <a:ext cx="3810000" cy="2301035"/>
          </a:xfrm>
          <a:prstGeom xmlns:a="http://schemas.openxmlformats.org/drawingml/2006/main" prst="rect">
            <a:avLst/>
          </a:prstGeom>
        </p:spPr>
      </p:pic>
      <p:sp>
        <p:nvSpPr>
          <p:cNvPr id="9" name="cover-product-border">
            <a:extLst xmlns:a="http://schemas.openxmlformats.org/drawingml/2006/main">
              <a:ext uri="{FF2B5EF4-FFF2-40B4-BE49-F238E27FC236}">
                <a16:creationId xmlns:a16="http://schemas.microsoft.com/office/drawing/2014/main" id="{2BC8F7B1-4A00-47C2-842B-29BDC65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3810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over-product-caption">
            <a:extLst xmlns:a="http://schemas.openxmlformats.org/drawingml/2006/main">
              <a:ext uri="{FF2B5EF4-FFF2-40B4-BE49-F238E27FC236}">
                <a16:creationId xmlns:a16="http://schemas.microsoft.com/office/drawing/2014/main" id="{EEAED6CD-EA15-4CBB-8A0A-D4B900B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911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V0.1 真实运行界面</a:t>
            </a:r>
          </a:p>
        </p:txBody>
      </p:sp>
      <p:sp>
        <p:nvSpPr>
          <p:cNvPr id="11" name="cover-product-note">
            <a:extLst xmlns:a="http://schemas.openxmlformats.org/drawingml/2006/main">
              <a:ext uri="{FF2B5EF4-FFF2-40B4-BE49-F238E27FC236}">
                <a16:creationId xmlns:a16="http://schemas.microsoft.com/office/drawing/2014/main" id="{422DF226-8909-4EE0-89EA-A8BF2254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91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自然语言行动 · 权威状态 · 时间线恢复</a:t>
            </a:r>
          </a:p>
        </p:txBody>
      </p:sp>
    </p:spTree>
    <p:extLst>
      <p:ext uri="{BB962C8B-B14F-4D97-AF65-F5344CB8AC3E}">
        <p14:creationId xmlns:p14="http://schemas.microsoft.com/office/powerpoint/2010/main" val="1434885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9FFABF64-C666-43D3-A436-ABEBA528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  产品场景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15658B1-DEBC-4321-8519-EB1EAED7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我们要解决的不是“聊天”，而是一场能持续的游戏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403F8D68-9070-43A9-AB0C-1D4A662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6D9CF70-CD5B-422D-8FBC-96450FD2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box-现实跑团">
            <a:extLst xmlns:a="http://schemas.openxmlformats.org/drawingml/2006/main">
              <a:ext uri="{FF2B5EF4-FFF2-40B4-BE49-F238E27FC236}">
                <a16:creationId xmlns:a16="http://schemas.microsoft.com/office/drawing/2014/main" id="{CBF5DAE6-7F9B-4C3A-9219-51E85AD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现实跑团">
            <a:extLst xmlns:a="http://schemas.openxmlformats.org/drawingml/2006/main">
              <a:ext uri="{FF2B5EF4-FFF2-40B4-BE49-F238E27FC236}">
                <a16:creationId xmlns:a16="http://schemas.microsoft.com/office/drawing/2014/main" id="{2083BEDD-C14E-4D3A-A6E0-9E2B320D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现实跑团">
            <a:extLst xmlns:a="http://schemas.openxmlformats.org/drawingml/2006/main">
              <a:ext uri="{FF2B5EF4-FFF2-40B4-BE49-F238E27FC236}">
                <a16:creationId xmlns:a16="http://schemas.microsoft.com/office/drawing/2014/main" id="{A72A7692-22C2-43F4-A9D8-6220F840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现实跑团</a:t>
            </a:r>
          </a:p>
        </p:txBody>
      </p:sp>
      <p:sp>
        <p:nvSpPr>
          <p:cNvPr id="8" name="box-body-现实跑团">
            <a:extLst xmlns:a="http://schemas.openxmlformats.org/drawingml/2006/main">
              <a:ext uri="{FF2B5EF4-FFF2-40B4-BE49-F238E27FC236}">
                <a16:creationId xmlns:a16="http://schemas.microsoft.com/office/drawing/2014/main" id="{A320D27E-D490-45CF-9506-6986B5C9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需要主持人、玩家和连续时间安排，组织成本高。</a:t>
            </a:r>
          </a:p>
        </p:txBody>
      </p:sp>
      <p:sp>
        <p:nvSpPr>
          <p:cNvPr id="9" name="box-普通 AI 对话">
            <a:extLst xmlns:a="http://schemas.openxmlformats.org/drawingml/2006/main">
              <a:ext uri="{FF2B5EF4-FFF2-40B4-BE49-F238E27FC236}">
                <a16:creationId xmlns:a16="http://schemas.microsoft.com/office/drawing/2014/main" id="{2150FFD8-4D70-47D2-AF9B-FC0E965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普通 AI 对话">
            <a:extLst xmlns:a="http://schemas.openxmlformats.org/drawingml/2006/main">
              <a:ext uri="{FF2B5EF4-FFF2-40B4-BE49-F238E27FC236}">
                <a16:creationId xmlns:a16="http://schemas.microsoft.com/office/drawing/2014/main" id="{CB38D902-EA71-41B4-AAD7-64D2B470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普通 AI 对话">
            <a:extLst xmlns:a="http://schemas.openxmlformats.org/drawingml/2006/main">
              <a:ext uri="{FF2B5EF4-FFF2-40B4-BE49-F238E27FC236}">
                <a16:creationId xmlns:a16="http://schemas.microsoft.com/office/drawing/2014/main" id="{F3E47B9F-19A3-4A24-9675-50CA18AA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普通 AI 对话</a:t>
            </a:r>
          </a:p>
        </p:txBody>
      </p:sp>
      <p:sp>
        <p:nvSpPr>
          <p:cNvPr id="12" name="box-body-普通 AI 对话">
            <a:extLst xmlns:a="http://schemas.openxmlformats.org/drawingml/2006/main">
              <a:ext uri="{FF2B5EF4-FFF2-40B4-BE49-F238E27FC236}">
                <a16:creationId xmlns:a16="http://schemas.microsoft.com/office/drawing/2014/main" id="{0DFE09B3-EB15-4025-8FC3-E12B50F0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叙事自由，但关键人物、道具和既有结果容易被遗忘或改写。</a:t>
            </a:r>
          </a:p>
        </p:txBody>
      </p:sp>
      <p:sp>
        <p:nvSpPr>
          <p:cNvPr id="13" name="box-AI TRPG Engine">
            <a:extLst xmlns:a="http://schemas.openxmlformats.org/drawingml/2006/main">
              <a:ext uri="{FF2B5EF4-FFF2-40B4-BE49-F238E27FC236}">
                <a16:creationId xmlns:a16="http://schemas.microsoft.com/office/drawing/2014/main" id="{689DA048-3950-4501-A211-56FF5E76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3695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AI TRPG Engine">
            <a:extLst xmlns:a="http://schemas.openxmlformats.org/drawingml/2006/main">
              <a:ext uri="{FF2B5EF4-FFF2-40B4-BE49-F238E27FC236}">
                <a16:creationId xmlns:a16="http://schemas.microsoft.com/office/drawing/2014/main" id="{D1C0F2D7-7B76-4E02-9E1B-6BDEFEB4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AI TRPG Engine">
            <a:extLst xmlns:a="http://schemas.openxmlformats.org/drawingml/2006/main">
              <a:ext uri="{FF2B5EF4-FFF2-40B4-BE49-F238E27FC236}">
                <a16:creationId xmlns:a16="http://schemas.microsoft.com/office/drawing/2014/main" id="{BBE4131A-7AF7-43BE-800D-012F331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16" name="box-body-AI TRPG Engine">
            <a:extLst xmlns:a="http://schemas.openxmlformats.org/drawingml/2006/main">
              <a:ext uri="{FF2B5EF4-FFF2-40B4-BE49-F238E27FC236}">
                <a16:creationId xmlns:a16="http://schemas.microsoft.com/office/drawing/2014/main" id="{6248C1C5-9263-4575-8BD9-0EC5C994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自然语言自由行动，同时用规则、状态和事件维护长期一致性。</a:t>
            </a:r>
          </a:p>
        </p:txBody>
      </p:sp>
      <p:sp>
        <p:nvSpPr>
          <p:cNvPr id="17" name="value">
            <a:extLst xmlns:a="http://schemas.openxmlformats.org/drawingml/2006/main">
              <a:ext uri="{FF2B5EF4-FFF2-40B4-BE49-F238E27FC236}">
                <a16:creationId xmlns:a16="http://schemas.microsoft.com/office/drawing/2014/main" id="{53F9F0C5-1A80-4BE0-9B23-A9D02AFB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一句话价值</a:t>
            </a:r>
          </a:p>
        </p:txBody>
      </p:sp>
      <p:sp>
        <p:nvSpPr>
          <p:cNvPr id="18" name="value-statement">
            <a:extLst xmlns:a="http://schemas.openxmlformats.org/drawingml/2006/main">
              <a:ext uri="{FF2B5EF4-FFF2-40B4-BE49-F238E27FC236}">
                <a16:creationId xmlns:a16="http://schemas.microsoft.com/office/drawing/2014/main" id="{98F09926-37FB-4CD8-A01C-7D4C6992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让玩家随时进入一场可保存、可追溯、可恢复的单人跑团。</a:t>
            </a:r>
          </a:p>
        </p:txBody>
      </p:sp>
    </p:spTree>
    <p:extLst>
      <p:ext uri="{BB962C8B-B14F-4D97-AF65-F5344CB8AC3E}">
        <p14:creationId xmlns:p14="http://schemas.microsoft.com/office/powerpoint/2010/main" val="2110898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34DC3B7D-9C5E-4CDA-9C26-AB8D53D2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  产品架构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ECC9DFD-CE7A-461C-BA29-4A14F16D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AI 负责叙事，确定性内核决定什么真正发生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208666C4-BA3E-4B5C-949D-6D42BDD9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DE3DFDDC-865F-45BC-AE40-85ECE2C1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C4F457ED-51EF-400A-BD81-16E1E37E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914328AC-35B9-4494-A1AF-456A49B8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14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玩家交互层</a:t>
            </a:r>
          </a:p>
        </p:txBody>
      </p:sp>
      <p:sp>
        <p:nvSpPr>
          <p:cNvPr id="7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5BB17DCF-D38F-4F77-9782-E9D188F7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React 界面 · 人物卡 · 叙事 · 时间线</a:t>
            </a:r>
          </a:p>
        </p:txBody>
      </p:sp>
      <p:sp>
        <p:nvSpPr>
          <p:cNvPr id="8" name="layer-1">
            <a:extLst xmlns:a="http://schemas.openxmlformats.org/drawingml/2006/main">
              <a:ext uri="{FF2B5EF4-FFF2-40B4-BE49-F238E27FC236}">
                <a16:creationId xmlns:a16="http://schemas.microsoft.com/office/drawing/2014/main" id="{AB0EBF86-ECCF-4CAE-A922-952432A8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36A8CE72-C6B4-49AB-9ED3-93C6D04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7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桌面与 AI 协调层</a:t>
            </a:r>
          </a:p>
        </p:txBody>
      </p:sp>
      <p:sp>
        <p:nvSpPr>
          <p:cNvPr id="1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758852FC-E993-421D-9F9B-5BD95C6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86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Electron Main / Preload · Keeper · Model Gateway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0EDA0B20-8AF7-42AD-9B82-B3CBBD1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868F7A8-51A4-45B1-9D1B-748DE501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9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确定性运行时</a:t>
            </a:r>
          </a:p>
        </p:txBody>
      </p:sp>
      <p:sp>
        <p:nvSpPr>
          <p:cNvPr id="13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8E696B65-10E0-425C-AA4F-26F3A576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Turn Router · Rules · RNG · Validator · Events</a:t>
            </a:r>
          </a:p>
        </p:txBody>
      </p:sp>
      <p:sp>
        <p:nvSpPr>
          <p:cNvPr id="14" name="layer-3">
            <a:extLst xmlns:a="http://schemas.openxmlformats.org/drawingml/2006/main">
              <a:ext uri="{FF2B5EF4-FFF2-40B4-BE49-F238E27FC236}">
                <a16:creationId xmlns:a16="http://schemas.microsoft.com/office/drawing/2014/main" id="{007D17DE-9D8E-4773-8980-F9F45EBD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29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1A44DFEE-5BE3-4D40-A5A2-8FAA64B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72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本地数据层</a:t>
            </a:r>
          </a:p>
        </p:txBody>
      </p:sp>
      <p:sp>
        <p:nvSpPr>
          <p:cNvPr id="16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D98C12C0-656B-4A97-9EFC-243DE525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91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SQLite · Current State · Immutable Event Log · Checkpoint</a:t>
            </a:r>
          </a:p>
        </p:txBody>
      </p:sp>
      <p:sp>
        <p:nvSpPr>
          <p:cNvPr id="17" name="arch-rule">
            <a:extLst xmlns:a="http://schemas.openxmlformats.org/drawingml/2006/main">
              <a:ext uri="{FF2B5EF4-FFF2-40B4-BE49-F238E27FC236}">
                <a16:creationId xmlns:a16="http://schemas.microsoft.com/office/drawing/2014/main" id="{B29E1E92-760A-4BCB-AEC2-CC90EB7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核心边界</a:t>
            </a:r>
          </a:p>
        </p:txBody>
      </p:sp>
      <p:sp>
        <p:nvSpPr>
          <p:cNvPr id="18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4B1B7183-E7E1-453D-B6D8-F77D032D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20552768-D917-49A2-8EE3-4A423A5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AI 只生成候选和叙事</a:t>
            </a:r>
          </a:p>
        </p:txBody>
      </p:sp>
      <p:sp>
        <p:nvSpPr>
          <p:cNvPr id="20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C0F63ACC-3456-4AC0-AAC1-3FF5DD9E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BD615C1C-17D5-4B57-86B9-FEBB652E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程序校验并原子提交</a:t>
            </a:r>
          </a:p>
        </p:txBody>
      </p:sp>
      <p:sp>
        <p:nvSpPr>
          <p:cNvPr id="22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44FD790C-F538-40CC-877E-E554E290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5EEC9FD7-43BB-4A54-AC45-0231E93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Renderer 不直连 SQLite</a:t>
            </a:r>
          </a:p>
        </p:txBody>
      </p:sp>
      <p:sp>
        <p:nvSpPr>
          <p:cNvPr id="24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4586D0A6-4790-41EF-AD64-0B95CAC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0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6CDF460A-FCCC-4645-8A69-5F1447C1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模型可以替换或降级</a:t>
            </a:r>
          </a:p>
        </p:txBody>
      </p:sp>
    </p:spTree>
    <p:extLst>
      <p:ext uri="{BB962C8B-B14F-4D97-AF65-F5344CB8AC3E}">
        <p14:creationId xmlns:p14="http://schemas.microsoft.com/office/powerpoint/2010/main" val="1247496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yebrow-4">
            <a:extLst xmlns:a="http://schemas.openxmlformats.org/drawingml/2006/main">
              <a:ext uri="{FF2B5EF4-FFF2-40B4-BE49-F238E27FC236}">
                <a16:creationId xmlns:a16="http://schemas.microsoft.com/office/drawing/2014/main" id="{4D3B81F9-2A1F-41FD-B5E0-A4350126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  核心功能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331C234-B60B-4E9B-8DC4-7E4284F2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四项核心能力组成完整的单人跑团闭环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A28EFE49-5CC8-4B69-AF62-80B912A5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EB31278-EB94-4D05-B8F5-30E07233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box-01  创建角色">
            <a:extLst xmlns:a="http://schemas.openxmlformats.org/drawingml/2006/main">
              <a:ext uri="{FF2B5EF4-FFF2-40B4-BE49-F238E27FC236}">
                <a16:creationId xmlns:a16="http://schemas.microsoft.com/office/drawing/2014/main" id="{5F8932C4-42DD-4B00-AD9D-207E49D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01  创建角色">
            <a:extLst xmlns:a="http://schemas.openxmlformats.org/drawingml/2006/main">
              <a:ext uri="{FF2B5EF4-FFF2-40B4-BE49-F238E27FC236}">
                <a16:creationId xmlns:a16="http://schemas.microsoft.com/office/drawing/2014/main" id="{77394244-4883-4457-8617-D99FC7CA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01  创建角色">
            <a:extLst xmlns:a="http://schemas.openxmlformats.org/drawingml/2006/main">
              <a:ext uri="{FF2B5EF4-FFF2-40B4-BE49-F238E27FC236}">
                <a16:creationId xmlns:a16="http://schemas.microsoft.com/office/drawing/2014/main" id="{DDECCF27-016E-46B9-941B-8549E4A2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01  创建角色</a:t>
            </a:r>
          </a:p>
        </p:txBody>
      </p:sp>
      <p:sp>
        <p:nvSpPr>
          <p:cNvPr id="8" name="box-body-01  创建角色">
            <a:extLst xmlns:a="http://schemas.openxmlformats.org/drawingml/2006/main">
              <a:ext uri="{FF2B5EF4-FFF2-40B4-BE49-F238E27FC236}">
                <a16:creationId xmlns:a16="http://schemas.microsoft.com/office/drawing/2014/main" id="{D4FE0BAB-B09F-45F9-BDC9-4B6ED49E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属性分配、正式人物卡、稳定实体身份</a:t>
            </a:r>
          </a:p>
        </p:txBody>
      </p:sp>
      <p:sp>
        <p:nvSpPr>
          <p:cNvPr id="9" name="box-02  自由行动">
            <a:extLst xmlns:a="http://schemas.openxmlformats.org/drawingml/2006/main">
              <a:ext uri="{FF2B5EF4-FFF2-40B4-BE49-F238E27FC236}">
                <a16:creationId xmlns:a16="http://schemas.microsoft.com/office/drawing/2014/main" id="{6A8E5B5C-4CEF-45ED-A591-D9516B3E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02  自由行动">
            <a:extLst xmlns:a="http://schemas.openxmlformats.org/drawingml/2006/main">
              <a:ext uri="{FF2B5EF4-FFF2-40B4-BE49-F238E27FC236}">
                <a16:creationId xmlns:a16="http://schemas.microsoft.com/office/drawing/2014/main" id="{0D0927CE-161B-4627-8EE7-CEE4D8B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02  自由行动">
            <a:extLst xmlns:a="http://schemas.openxmlformats.org/drawingml/2006/main">
              <a:ext uri="{FF2B5EF4-FFF2-40B4-BE49-F238E27FC236}">
                <a16:creationId xmlns:a16="http://schemas.microsoft.com/office/drawing/2014/main" id="{0EE45588-CE82-42A8-B49E-2932D21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02  自由行动</a:t>
            </a:r>
          </a:p>
        </p:txBody>
      </p:sp>
      <p:sp>
        <p:nvSpPr>
          <p:cNvPr id="12" name="box-body-02  自由行动">
            <a:extLst xmlns:a="http://schemas.openxmlformats.org/drawingml/2006/main">
              <a:ext uri="{FF2B5EF4-FFF2-40B4-BE49-F238E27FC236}">
                <a16:creationId xmlns:a16="http://schemas.microsoft.com/office/drawing/2014/main" id="{922C6D67-672D-4249-9FBC-9A03DE31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玩家用自然语言调查、交谈、移动或尝试</a:t>
            </a:r>
          </a:p>
        </p:txBody>
      </p:sp>
      <p:sp>
        <p:nvSpPr>
          <p:cNvPr id="13" name="box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6359D35D-EC70-4E5E-9B76-D011BEC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03D202E3-A6D3-4CB7-B742-74F791B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16C9A65D-45B3-41E2-AFD1-61F2BE5D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67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03  检定与叙事</a:t>
            </a:r>
          </a:p>
        </p:txBody>
      </p:sp>
      <p:sp>
        <p:nvSpPr>
          <p:cNvPr id="16" name="box-body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1290A8A1-5471-4EDD-B96A-A0F13522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系统先裁定并提交，再由 AI 生成主持人反馈</a:t>
            </a:r>
          </a:p>
        </p:txBody>
      </p:sp>
      <p:sp>
        <p:nvSpPr>
          <p:cNvPr id="17" name="box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C35220A2-6E62-4C29-9D9C-C4EF4E9D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-accent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46447923-67CD-40E8-BF4A-60A8C960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-title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CBFDF1FD-6893-4975-9022-318CFE7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04  保存与恢复</a:t>
            </a:r>
          </a:p>
        </p:txBody>
      </p:sp>
      <p:sp>
        <p:nvSpPr>
          <p:cNvPr id="20" name="box-body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BD23357F-999D-4CC7-AA74-2B4F8A4A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时间线、检查点、分支副本和战役备份</a:t>
            </a:r>
          </a:p>
        </p:txBody>
      </p:sp>
      <p:sp>
        <p:nvSpPr>
          <p:cNvPr id="21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7D90D798-876D-4D3F-B734-D8DC61FE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151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可接入本地模型或用户自己的云端模型密钥</a:t>
            </a:r>
          </a:p>
        </p:txBody>
      </p:sp>
    </p:spTree>
    <p:extLst>
      <p:ext uri="{BB962C8B-B14F-4D97-AF65-F5344CB8AC3E}">
        <p14:creationId xmlns:p14="http://schemas.microsoft.com/office/powerpoint/2010/main" val="793171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yebrow-5">
            <a:extLst xmlns:a="http://schemas.openxmlformats.org/drawingml/2006/main">
              <a:ext uri="{FF2B5EF4-FFF2-40B4-BE49-F238E27FC236}">
                <a16:creationId xmlns:a16="http://schemas.microsoft.com/office/drawing/2014/main" id="{33458EFA-98E4-451F-8BCE-F35D135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  数据库与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4855A18-0A2F-49BF-80B3-88138F93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状态 + 事件 + 类型化 API，让系统结果可验证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D4B3AF70-347E-4D6E-9490-6C4EF9A3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729AD7F2-E2EC-4A0B-B40A-D238A531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5" name="data-title">
            <a:extLst xmlns:a="http://schemas.openxmlformats.org/drawingml/2006/main">
              <a:ext uri="{FF2B5EF4-FFF2-40B4-BE49-F238E27FC236}">
                <a16:creationId xmlns:a16="http://schemas.microsoft.com/office/drawing/2014/main" id="{5163198D-BC61-4061-93E4-5944DA02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SQLite 数据设计</a:t>
            </a:r>
          </a:p>
        </p:txBody>
      </p:sp>
      <p:sp>
        <p:nvSpPr>
          <p:cNvPr id="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F05E0BA7-050F-4C36-BEA2-E8C76F42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1DC144C1-1A95-4E49-A145-EDBD937B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Current State：快速读取当前世界</a:t>
            </a:r>
          </a:p>
        </p:txBody>
      </p:sp>
      <p:sp>
        <p:nvSpPr>
          <p:cNvPr id="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B871349C-D532-48E1-ABC5-F8E0B98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A396A88A-B04A-417B-9EED-1FF2A03F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Immutable Event Log：追溯变化原因</a:t>
            </a:r>
          </a:p>
        </p:txBody>
      </p:sp>
      <p:sp>
        <p:nvSpPr>
          <p:cNvPr id="1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AE2841DE-096C-4BC9-BC05-56BE40C4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605B909C-C5B0-47F9-9522-76642D7C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Checkpoint：恢复副本而不覆盖历史</a:t>
            </a:r>
          </a:p>
        </p:txBody>
      </p:sp>
      <p:sp>
        <p:nvSpPr>
          <p:cNvPr id="1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D2B542F8-C618-4B7B-B55B-CB181AA4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8B2FF54B-018B-464B-99C9-A7223F90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Credential ID：数据库不保存明文密钥</a:t>
            </a:r>
          </a:p>
        </p:txBody>
      </p:sp>
      <p:sp>
        <p:nvSpPr>
          <p:cNvPr id="14" name="mid-rule">
            <a:extLst xmlns:a="http://schemas.openxmlformats.org/drawingml/2006/main">
              <a:ext uri="{FF2B5EF4-FFF2-40B4-BE49-F238E27FC236}">
                <a16:creationId xmlns:a16="http://schemas.microsoft.com/office/drawing/2014/main" id="{79DC864E-711D-4134-A780-7035401B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pi-title">
            <a:extLst xmlns:a="http://schemas.openxmlformats.org/drawingml/2006/main">
              <a:ext uri="{FF2B5EF4-FFF2-40B4-BE49-F238E27FC236}">
                <a16:creationId xmlns:a16="http://schemas.microsoft.com/office/drawing/2014/main" id="{CCCE0EC5-2430-43B4-AE2E-9E7DAC0A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类型化桌面 API</a:t>
            </a:r>
          </a:p>
        </p:txBody>
      </p:sp>
      <p:sp>
        <p:nvSpPr>
          <p:cNvPr id="1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5F3C4966-D9D3-4388-A30D-572C3644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3E413ED8-62C3-43BC-9AA4-21E7C056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campaign:*  战役与人物</a:t>
            </a:r>
          </a:p>
        </p:txBody>
      </p:sp>
      <p:sp>
        <p:nvSpPr>
          <p:cNvPr id="1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B3EBB516-E7FD-4AB9-A0F9-44395BB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DA605A4C-D3A6-431E-B9AC-62F575D3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turn:* / operation:*  回合与进度</a:t>
            </a:r>
          </a:p>
        </p:txBody>
      </p:sp>
      <p:sp>
        <p:nvSpPr>
          <p:cNvPr id="2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1C15EEAF-6A40-446C-AD7A-12470B8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6A7E0B5C-431A-40F6-A0CF-C66A9D2C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timeline:* / checkpoint:*  历史与恢复</a:t>
            </a:r>
          </a:p>
        </p:txBody>
      </p:sp>
      <p:sp>
        <p:nvSpPr>
          <p:cNvPr id="2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E2B5D1CB-E6AC-4664-AB9B-A567F1C8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DA2CEC1C-F0DF-436B-A46C-5D79E48C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settings:* / backup:*  模型与备份</a:t>
            </a:r>
          </a:p>
        </p:txBody>
      </p:sp>
      <p:sp>
        <p:nvSpPr>
          <p:cNvPr id="24" name="api-bottom">
            <a:extLst xmlns:a="http://schemas.openxmlformats.org/drawingml/2006/main">
              <a:ext uri="{FF2B5EF4-FFF2-40B4-BE49-F238E27FC236}">
                <a16:creationId xmlns:a16="http://schemas.microsoft.com/office/drawing/2014/main" id="{2E9D9AF2-CF99-40C3-B4BC-E6993262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72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版本冲突时拒绝提交；叙事失败也不会重复掷骰。</a:t>
            </a:r>
          </a:p>
        </p:txBody>
      </p:sp>
    </p:spTree>
    <p:extLst>
      <p:ext uri="{BB962C8B-B14F-4D97-AF65-F5344CB8AC3E}">
        <p14:creationId xmlns:p14="http://schemas.microsoft.com/office/powerpoint/2010/main" val="978502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yebrow-6">
            <a:extLst xmlns:a="http://schemas.openxmlformats.org/drawingml/2006/main">
              <a:ext uri="{FF2B5EF4-FFF2-40B4-BE49-F238E27FC236}">
                <a16:creationId xmlns:a16="http://schemas.microsoft.com/office/drawing/2014/main" id="{13A3CAE6-4E10-47B1-B5F8-8DE3787D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  系统演示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928055F-EB25-46D2-A457-35DFCEB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两分钟演示：从自然语言行动到可追溯结果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10B0B4DB-0CE9-4A1D-991D-57B4E2FB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7B87243-3B19-4756-B2EA-B0EB7D6A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EDC6D163-DD39-43EA-BD3B-511DF11B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text-0">
            <a:extLst xmlns:a="http://schemas.openxmlformats.org/drawingml/2006/main">
              <a:ext uri="{FF2B5EF4-FFF2-40B4-BE49-F238E27FC236}">
                <a16:creationId xmlns:a16="http://schemas.microsoft.com/office/drawing/2014/main" id="{ABD39C4F-0D88-4162-AB0A-920CA39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EE31AF5F-1FCA-46BD-8B2B-24300ADB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打开预置战役</a:t>
            </a:r>
          </a:p>
        </p:txBody>
      </p:sp>
      <p:sp>
        <p:nvSpPr>
          <p:cNvPr id="8" name="step-line-0">
            <a:extLst xmlns:a="http://schemas.openxmlformats.org/drawingml/2006/main">
              <a:ext uri="{FF2B5EF4-FFF2-40B4-BE49-F238E27FC236}">
                <a16:creationId xmlns:a16="http://schemas.microsoft.com/office/drawing/2014/main" id="{18E72559-6968-45FB-ABD6-771A333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493720AA-1578-4C2A-9821-D0CDC9FB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8FED3BDC-0E76-4EB5-9515-2F25C2DB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ext-1">
            <a:extLst xmlns:a="http://schemas.openxmlformats.org/drawingml/2006/main">
              <a:ext uri="{FF2B5EF4-FFF2-40B4-BE49-F238E27FC236}">
                <a16:creationId xmlns:a16="http://schemas.microsoft.com/office/drawing/2014/main" id="{60272473-856B-44C4-9537-6E13D41A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查看人物与场景</a:t>
            </a:r>
          </a:p>
        </p:txBody>
      </p:sp>
      <p:sp>
        <p:nvSpPr>
          <p:cNvPr id="12" name="step-line-1">
            <a:extLst xmlns:a="http://schemas.openxmlformats.org/drawingml/2006/main">
              <a:ext uri="{FF2B5EF4-FFF2-40B4-BE49-F238E27FC236}">
                <a16:creationId xmlns:a16="http://schemas.microsoft.com/office/drawing/2014/main" id="{72ADD179-8D58-462E-BAA5-E639DA74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5D5B841D-7FC2-4422-BC97-5570FFE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A733CEA7-7AEA-4252-9CEA-B323FC88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ext-2">
            <a:extLst xmlns:a="http://schemas.openxmlformats.org/drawingml/2006/main">
              <a:ext uri="{FF2B5EF4-FFF2-40B4-BE49-F238E27FC236}">
                <a16:creationId xmlns:a16="http://schemas.microsoft.com/office/drawing/2014/main" id="{6E0A7946-3CCC-4D12-9B13-28049C1E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输入调查行动</a:t>
            </a:r>
          </a:p>
        </p:txBody>
      </p:sp>
      <p:sp>
        <p:nvSpPr>
          <p:cNvPr id="16" name="step-line-2">
            <a:extLst xmlns:a="http://schemas.openxmlformats.org/drawingml/2006/main">
              <a:ext uri="{FF2B5EF4-FFF2-40B4-BE49-F238E27FC236}">
                <a16:creationId xmlns:a16="http://schemas.microsoft.com/office/drawing/2014/main" id="{05B35411-617D-4B85-8CE0-D65A7E3C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39D272F6-6769-41FC-A3C4-42EB11C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-text-3">
            <a:extLst xmlns:a="http://schemas.openxmlformats.org/drawingml/2006/main">
              <a:ext uri="{FF2B5EF4-FFF2-40B4-BE49-F238E27FC236}">
                <a16:creationId xmlns:a16="http://schemas.microsoft.com/office/drawing/2014/main" id="{E8121486-18F5-482D-BBFF-0C4665F8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ext-3">
            <a:extLst xmlns:a="http://schemas.openxmlformats.org/drawingml/2006/main">
              <a:ext uri="{FF2B5EF4-FFF2-40B4-BE49-F238E27FC236}">
                <a16:creationId xmlns:a16="http://schemas.microsoft.com/office/drawing/2014/main" id="{E0C486D1-D7AE-4AE4-B3CC-C340C355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触发检定与叙事</a:t>
            </a:r>
          </a:p>
        </p:txBody>
      </p:sp>
      <p:sp>
        <p:nvSpPr>
          <p:cNvPr id="2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F06F1935-A6C3-4DFB-A724-31C39E21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08207C3F-F4A7-40AD-9BEB-B56B33AA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-text-4">
            <a:extLst xmlns:a="http://schemas.openxmlformats.org/drawingml/2006/main">
              <a:ext uri="{FF2B5EF4-FFF2-40B4-BE49-F238E27FC236}">
                <a16:creationId xmlns:a16="http://schemas.microsoft.com/office/drawing/2014/main" id="{D565BA0B-D523-4B31-82DE-C0E464B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E7AD8F0D-DB3C-4FE2-BD6C-EED6E675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查看时间线/检查点</a:t>
            </a:r>
          </a:p>
        </p:txBody>
      </p:sp>
      <p:sp>
        <p:nvSpPr>
          <p:cNvPr id="24" name="demo-arch-label">
            <a:extLst xmlns:a="http://schemas.openxmlformats.org/drawingml/2006/main">
              <a:ext uri="{FF2B5EF4-FFF2-40B4-BE49-F238E27FC236}">
                <a16:creationId xmlns:a16="http://schemas.microsoft.com/office/drawing/2014/main" id="{33CC5283-5A65-45B4-9B4E-13B6FD8C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一次行动在程序中的真实调用路径</a:t>
            </a:r>
          </a:p>
        </p:txBody>
      </p:sp>
      <p:sp>
        <p:nvSpPr>
          <p:cNvPr id="25" name="demo-arch-node-0">
            <a:extLst xmlns:a="http://schemas.openxmlformats.org/drawingml/2006/main">
              <a:ext uri="{FF2B5EF4-FFF2-40B4-BE49-F238E27FC236}">
                <a16:creationId xmlns:a16="http://schemas.microsoft.com/office/drawing/2014/main" id="{84129555-BBAD-4BC4-8ECE-664781E5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mo-arch-accent-0">
            <a:extLst xmlns:a="http://schemas.openxmlformats.org/drawingml/2006/main">
              <a:ext uri="{FF2B5EF4-FFF2-40B4-BE49-F238E27FC236}">
                <a16:creationId xmlns:a16="http://schemas.microsoft.com/office/drawing/2014/main" id="{4FF1AA53-A0B4-4AC9-ACA3-45BE8558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mo-arch-title-0">
            <a:extLst xmlns:a="http://schemas.openxmlformats.org/drawingml/2006/main">
              <a:ext uri="{FF2B5EF4-FFF2-40B4-BE49-F238E27FC236}">
                <a16:creationId xmlns:a16="http://schemas.microsoft.com/office/drawing/2014/main" id="{0E0F460B-304E-4771-86E3-81A4313F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05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玩家界面</a:t>
            </a:r>
          </a:p>
        </p:txBody>
      </p:sp>
      <p:sp>
        <p:nvSpPr>
          <p:cNvPr id="28" name="demo-arch-body-0">
            <a:extLst xmlns:a="http://schemas.openxmlformats.org/drawingml/2006/main">
              <a:ext uri="{FF2B5EF4-FFF2-40B4-BE49-F238E27FC236}">
                <a16:creationId xmlns:a16="http://schemas.microsoft.com/office/drawing/2014/main" id="{8109C825-6326-4D2C-BDF2-B9E90207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054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React Renderer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自然语言输入与结果展示</a:t>
            </a:r>
          </a:p>
        </p:txBody>
      </p:sp>
      <p:sp>
        <p:nvSpPr>
          <p:cNvPr id="29" name="demo-arch-arrow-0">
            <a:extLst xmlns:a="http://schemas.openxmlformats.org/drawingml/2006/main">
              <a:ext uri="{FF2B5EF4-FFF2-40B4-BE49-F238E27FC236}">
                <a16:creationId xmlns:a16="http://schemas.microsoft.com/office/drawing/2014/main" id="{C4CF4479-436C-4FD7-80D4-BA2450F3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demo-arch-node-1">
            <a:extLst xmlns:a="http://schemas.openxmlformats.org/drawingml/2006/main">
              <a:ext uri="{FF2B5EF4-FFF2-40B4-BE49-F238E27FC236}">
                <a16:creationId xmlns:a16="http://schemas.microsoft.com/office/drawing/2014/main" id="{2237DFB8-FA2A-4769-8EF4-000FB7F7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7680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mo-arch-accent-1">
            <a:extLst xmlns:a="http://schemas.openxmlformats.org/drawingml/2006/main">
              <a:ext uri="{FF2B5EF4-FFF2-40B4-BE49-F238E27FC236}">
                <a16:creationId xmlns:a16="http://schemas.microsoft.com/office/drawing/2014/main" id="{05930D85-F5F9-45C8-8190-A912C05E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768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mo-arch-title-1">
            <a:extLst xmlns:a="http://schemas.openxmlformats.org/drawingml/2006/main">
              <a:ext uri="{FF2B5EF4-FFF2-40B4-BE49-F238E27FC236}">
                <a16:creationId xmlns:a16="http://schemas.microsoft.com/office/drawing/2014/main" id="{28540538-351F-4CB3-BC36-AD73951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05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桌面桥接</a:t>
            </a:r>
          </a:p>
        </p:txBody>
      </p:sp>
      <p:sp>
        <p:nvSpPr>
          <p:cNvPr id="33" name="demo-arch-body-1">
            <a:extLst xmlns:a="http://schemas.openxmlformats.org/drawingml/2006/main">
              <a:ext uri="{FF2B5EF4-FFF2-40B4-BE49-F238E27FC236}">
                <a16:creationId xmlns:a16="http://schemas.microsoft.com/office/drawing/2014/main" id="{2A930923-FF2F-44AF-8EE4-44A8C13D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054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Preload / IPC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输入校验与安全边界</a:t>
            </a:r>
          </a:p>
        </p:txBody>
      </p:sp>
      <p:sp>
        <p:nvSpPr>
          <p:cNvPr id="34" name="demo-arch-arrow-1">
            <a:extLst xmlns:a="http://schemas.openxmlformats.org/drawingml/2006/main">
              <a:ext uri="{FF2B5EF4-FFF2-40B4-BE49-F238E27FC236}">
                <a16:creationId xmlns:a16="http://schemas.microsoft.com/office/drawing/2014/main" id="{C09E721E-5D5F-4901-B7D7-42A958AE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5" name="demo-arch-node-2">
            <a:extLst xmlns:a="http://schemas.openxmlformats.org/drawingml/2006/main">
              <a:ext uri="{FF2B5EF4-FFF2-40B4-BE49-F238E27FC236}">
                <a16:creationId xmlns:a16="http://schemas.microsoft.com/office/drawing/2014/main" id="{9FFF6FA2-A902-42E7-92B8-133AA10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emo-arch-accent-2">
            <a:extLst xmlns:a="http://schemas.openxmlformats.org/drawingml/2006/main">
              <a:ext uri="{FF2B5EF4-FFF2-40B4-BE49-F238E27FC236}">
                <a16:creationId xmlns:a16="http://schemas.microsoft.com/office/drawing/2014/main" id="{27EC9B6E-D814-4DB2-AF45-049B6882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emo-arch-title-2">
            <a:extLst xmlns:a="http://schemas.openxmlformats.org/drawingml/2006/main">
              <a:ext uri="{FF2B5EF4-FFF2-40B4-BE49-F238E27FC236}">
                <a16:creationId xmlns:a16="http://schemas.microsoft.com/office/drawing/2014/main" id="{02CC3CAD-1376-4D2D-98C5-F608E8E4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05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游戏内核</a:t>
            </a:r>
          </a:p>
        </p:txBody>
      </p:sp>
      <p:sp>
        <p:nvSpPr>
          <p:cNvPr id="38" name="demo-arch-body-2">
            <a:extLst xmlns:a="http://schemas.openxmlformats.org/drawingml/2006/main">
              <a:ext uri="{FF2B5EF4-FFF2-40B4-BE49-F238E27FC236}">
                <a16:creationId xmlns:a16="http://schemas.microsoft.com/office/drawing/2014/main" id="{2B024EA2-CD51-46E9-B274-D2F91B8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054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Router / Rules / RNG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裁定、校验并提交事件</a:t>
            </a:r>
          </a:p>
        </p:txBody>
      </p:sp>
      <p:sp>
        <p:nvSpPr>
          <p:cNvPr id="39" name="demo-arch-arrow-2">
            <a:extLst xmlns:a="http://schemas.openxmlformats.org/drawingml/2006/main">
              <a:ext uri="{FF2B5EF4-FFF2-40B4-BE49-F238E27FC236}">
                <a16:creationId xmlns:a16="http://schemas.microsoft.com/office/drawing/2014/main" id="{863EA76C-9D1F-4913-8C1A-0680E476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40" name="demo-arch-node-3">
            <a:extLst xmlns:a="http://schemas.openxmlformats.org/drawingml/2006/main">
              <a:ext uri="{FF2B5EF4-FFF2-40B4-BE49-F238E27FC236}">
                <a16:creationId xmlns:a16="http://schemas.microsoft.com/office/drawing/2014/main" id="{CBAF55FF-13F3-4F8C-B5AA-0F090CE8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768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emo-arch-accent-3">
            <a:extLst xmlns:a="http://schemas.openxmlformats.org/drawingml/2006/main">
              <a:ext uri="{FF2B5EF4-FFF2-40B4-BE49-F238E27FC236}">
                <a16:creationId xmlns:a16="http://schemas.microsoft.com/office/drawing/2014/main" id="{C51A0C20-67BD-4868-A364-91FB3EEF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768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emo-arch-title-3">
            <a:extLst xmlns:a="http://schemas.openxmlformats.org/drawingml/2006/main">
              <a:ext uri="{FF2B5EF4-FFF2-40B4-BE49-F238E27FC236}">
                <a16:creationId xmlns:a16="http://schemas.microsoft.com/office/drawing/2014/main" id="{E053FBBE-2108-4E0F-91D9-29A7F640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054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数据与模型</a:t>
            </a:r>
          </a:p>
        </p:txBody>
      </p:sp>
      <p:sp>
        <p:nvSpPr>
          <p:cNvPr id="43" name="demo-arch-body-3">
            <a:extLst xmlns:a="http://schemas.openxmlformats.org/drawingml/2006/main">
              <a:ext uri="{FF2B5EF4-FFF2-40B4-BE49-F238E27FC236}">
                <a16:creationId xmlns:a16="http://schemas.microsoft.com/office/drawing/2014/main" id="{CFF088F7-A21F-45BB-8E46-18B7C06F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054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SQLite 保存权威事实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Keeper / Provider 生成叙事</a:t>
            </a:r>
          </a:p>
        </p:txBody>
      </p:sp>
      <p:sp>
        <p:nvSpPr>
          <p:cNvPr id="44" name="demo-arch-note">
            <a:extLst xmlns:a="http://schemas.openxmlformats.org/drawingml/2006/main">
              <a:ext uri="{FF2B5EF4-FFF2-40B4-BE49-F238E27FC236}">
                <a16:creationId xmlns:a16="http://schemas.microsoft.com/office/drawing/2014/main" id="{645046A0-493F-4467-9621-79608C88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34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硬边界：先裁定并提交事实，再生成正式叙事</a:t>
            </a:r>
          </a:p>
        </p:txBody>
      </p:sp>
    </p:spTree>
    <p:extLst>
      <p:ext uri="{BB962C8B-B14F-4D97-AF65-F5344CB8AC3E}">
        <p14:creationId xmlns:p14="http://schemas.microsoft.com/office/powerpoint/2010/main" val="1065479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1" name="Rectangle 5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Rectangle 4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yebrow-7">
            <a:extLst xmlns:a="http://schemas.openxmlformats.org/drawingml/2006/main">
              <a:ext uri="{FF2B5EF4-FFF2-40B4-BE49-F238E27FC236}">
                <a16:creationId xmlns:a16="http://schemas.microsoft.com/office/drawing/2014/main" id="{42CB4704-8542-4F30-B17D-91B0F99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  技术难点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84A4668-352F-4A58-8272-C744DFD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技术难点：多线程、多 AI 如何协同而不争夺事实权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888236F4-2A48-47D4-892B-8380037F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87CD546F-C6DC-42EA-B155-0FB22C3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5" name="parallel-title">
            <a:extLst xmlns:a="http://schemas.openxmlformats.org/drawingml/2006/main">
              <a:ext uri="{FF2B5EF4-FFF2-40B4-BE49-F238E27FC236}">
                <a16:creationId xmlns:a16="http://schemas.microsoft.com/office/drawing/2014/main" id="{72E8C43A-E015-4FCA-B2B2-BC4A163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并发带来的问题</a:t>
            </a:r>
          </a:p>
        </p:txBody>
      </p:sp>
      <p:sp>
        <p:nvSpPr>
          <p:cNvPr id="6" name="parallel-risk-0">
            <a:extLst xmlns:a="http://schemas.openxmlformats.org/drawingml/2006/main">
              <a:ext uri="{FF2B5EF4-FFF2-40B4-BE49-F238E27FC236}">
                <a16:creationId xmlns:a16="http://schemas.microsoft.com/office/drawing/2014/main" id="{DB1DE2C2-0C89-40D1-A825-D8B02A58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rallel-risk-accent-0">
            <a:extLst xmlns:a="http://schemas.openxmlformats.org/drawingml/2006/main">
              <a:ext uri="{FF2B5EF4-FFF2-40B4-BE49-F238E27FC236}">
                <a16:creationId xmlns:a16="http://schemas.microsoft.com/office/drawing/2014/main" id="{F37F92E7-822D-4E2F-BB1B-9553495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rallel-risk-title-0">
            <a:extLst xmlns:a="http://schemas.openxmlformats.org/drawingml/2006/main">
              <a:ext uri="{FF2B5EF4-FFF2-40B4-BE49-F238E27FC236}">
                <a16:creationId xmlns:a16="http://schemas.microsoft.com/office/drawing/2014/main" id="{67543EC6-C1CA-43D0-8906-C07C1B5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004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上下文不同步</a:t>
            </a:r>
          </a:p>
        </p:txBody>
      </p:sp>
      <p:sp>
        <p:nvSpPr>
          <p:cNvPr id="9" name="parallel-risk-body-0">
            <a:extLst xmlns:a="http://schemas.openxmlformats.org/drawingml/2006/main">
              <a:ext uri="{FF2B5EF4-FFF2-40B4-BE49-F238E27FC236}">
                <a16:creationId xmlns:a16="http://schemas.microsoft.com/office/drawing/2014/main" id="{DC2843CD-681F-49F1-8EAA-ABFC64DB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7187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后台任务读到旧状态，产生失效建议</a:t>
            </a:r>
          </a:p>
        </p:txBody>
      </p:sp>
      <p:sp>
        <p:nvSpPr>
          <p:cNvPr id="10" name="parallel-risk-1">
            <a:extLst xmlns:a="http://schemas.openxmlformats.org/drawingml/2006/main">
              <a:ext uri="{FF2B5EF4-FFF2-40B4-BE49-F238E27FC236}">
                <a16:creationId xmlns:a16="http://schemas.microsoft.com/office/drawing/2014/main" id="{1227BB14-1A77-40DA-AC8A-D1212F62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rallel-risk-accent-1">
            <a:extLst xmlns:a="http://schemas.openxmlformats.org/drawingml/2006/main">
              <a:ext uri="{FF2B5EF4-FFF2-40B4-BE49-F238E27FC236}">
                <a16:creationId xmlns:a16="http://schemas.microsoft.com/office/drawing/2014/main" id="{62A353E2-1935-4BD7-B119-62B55A4A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allel-risk-title-1">
            <a:extLst xmlns:a="http://schemas.openxmlformats.org/drawingml/2006/main">
              <a:ext uri="{FF2B5EF4-FFF2-40B4-BE49-F238E27FC236}">
                <a16:creationId xmlns:a16="http://schemas.microsoft.com/office/drawing/2014/main" id="{0EA471EF-C48F-4B74-84A1-AFE5DB1B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职责容易重叠</a:t>
            </a:r>
          </a:p>
        </p:txBody>
      </p:sp>
      <p:sp>
        <p:nvSpPr>
          <p:cNvPr id="13" name="parallel-risk-body-1">
            <a:extLst xmlns:a="http://schemas.openxmlformats.org/drawingml/2006/main">
              <a:ext uri="{FF2B5EF4-FFF2-40B4-BE49-F238E27FC236}">
                <a16:creationId xmlns:a16="http://schemas.microsoft.com/office/drawing/2014/main" id="{157D8250-7B77-4E7F-9EB3-B55C53EE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0057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多个 AI 同时推进剧情，结果可能冲突</a:t>
            </a:r>
          </a:p>
        </p:txBody>
      </p:sp>
      <p:sp>
        <p:nvSpPr>
          <p:cNvPr id="14" name="parallel-risk-2">
            <a:extLst xmlns:a="http://schemas.openxmlformats.org/drawingml/2006/main">
              <a:ext uri="{FF2B5EF4-FFF2-40B4-BE49-F238E27FC236}">
                <a16:creationId xmlns:a16="http://schemas.microsoft.com/office/drawing/2014/main" id="{A94208E7-DF6D-4661-B4B1-D69486CD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rallel-risk-accent-2">
            <a:extLst xmlns:a="http://schemas.openxmlformats.org/drawingml/2006/main">
              <a:ext uri="{FF2B5EF4-FFF2-40B4-BE49-F238E27FC236}">
                <a16:creationId xmlns:a16="http://schemas.microsoft.com/office/drawing/2014/main" id="{0133E283-00DD-4C4C-840C-BBF14B7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rallel-risk-title-2">
            <a:extLst xmlns:a="http://schemas.openxmlformats.org/drawingml/2006/main">
              <a:ext uri="{FF2B5EF4-FFF2-40B4-BE49-F238E27FC236}">
                <a16:creationId xmlns:a16="http://schemas.microsoft.com/office/drawing/2014/main" id="{6EBC555E-2A08-4F88-8CD2-A1807391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失败可能扩散</a:t>
            </a:r>
          </a:p>
        </p:txBody>
      </p:sp>
      <p:sp>
        <p:nvSpPr>
          <p:cNvPr id="17" name="parallel-risk-body-2">
            <a:extLst xmlns:a="http://schemas.openxmlformats.org/drawingml/2006/main">
              <a:ext uri="{FF2B5EF4-FFF2-40B4-BE49-F238E27FC236}">
                <a16:creationId xmlns:a16="http://schemas.microsoft.com/office/drawing/2014/main" id="{86EAF6EE-0EDC-45BF-98E5-AB5D8ED6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29275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模型超时或重试，不能阻塞或重复提交</a:t>
            </a:r>
          </a:p>
        </p:txBody>
      </p:sp>
      <p:sp>
        <p:nvSpPr>
          <p:cNvPr id="18" name="coord-title">
            <a:extLst xmlns:a="http://schemas.openxmlformats.org/drawingml/2006/main">
              <a:ext uri="{FF2B5EF4-FFF2-40B4-BE49-F238E27FC236}">
                <a16:creationId xmlns:a16="http://schemas.microsoft.com/office/drawing/2014/main" id="{6DEDE58D-7DF4-4853-A5DB-A208BAEF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按职责拆分的协同架构</a:t>
            </a:r>
          </a:p>
        </p:txBody>
      </p:sp>
      <p:sp>
        <p:nvSpPr>
          <p:cNvPr id="19" name="ai-role-0">
            <a:extLst xmlns:a="http://schemas.openxmlformats.org/drawingml/2006/main">
              <a:ext uri="{FF2B5EF4-FFF2-40B4-BE49-F238E27FC236}">
                <a16:creationId xmlns:a16="http://schemas.microsoft.com/office/drawing/2014/main" id="{49DC8D84-56F5-4E0D-9B33-7C0DCA12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670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i-role-accent-0">
            <a:extLst xmlns:a="http://schemas.openxmlformats.org/drawingml/2006/main">
              <a:ext uri="{FF2B5EF4-FFF2-40B4-BE49-F238E27FC236}">
                <a16:creationId xmlns:a16="http://schemas.microsoft.com/office/drawing/2014/main" id="{B7D3ABC0-40B2-44AE-AE13-05BD7B8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670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i-role-name-0">
            <a:extLst xmlns:a="http://schemas.openxmlformats.org/drawingml/2006/main">
              <a:ext uri="{FF2B5EF4-FFF2-40B4-BE49-F238E27FC236}">
                <a16:creationId xmlns:a16="http://schemas.microsoft.com/office/drawing/2014/main" id="{6259A504-0DF7-41DC-B88E-9DA152BF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19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GM AI</a:t>
            </a:r>
          </a:p>
        </p:txBody>
      </p:sp>
      <p:sp>
        <p:nvSpPr>
          <p:cNvPr id="22" name="ai-role-duty-0">
            <a:extLst xmlns:a="http://schemas.openxmlformats.org/drawingml/2006/main">
              <a:ext uri="{FF2B5EF4-FFF2-40B4-BE49-F238E27FC236}">
                <a16:creationId xmlns:a16="http://schemas.microsoft.com/office/drawing/2014/main" id="{397F6ED1-AF9F-4EA5-90C0-54A3A49D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05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前台主持</a:t>
            </a:r>
          </a:p>
        </p:txBody>
      </p:sp>
      <p:sp>
        <p:nvSpPr>
          <p:cNvPr id="23" name="ai-role-arrow-0">
            <a:extLst xmlns:a="http://schemas.openxmlformats.org/drawingml/2006/main">
              <a:ext uri="{FF2B5EF4-FFF2-40B4-BE49-F238E27FC236}">
                <a16:creationId xmlns:a16="http://schemas.microsoft.com/office/drawing/2014/main" id="{5C3825F1-654B-4F3A-9680-4CF22473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24" name="ai-role-1">
            <a:extLst xmlns:a="http://schemas.openxmlformats.org/drawingml/2006/main">
              <a:ext uri="{FF2B5EF4-FFF2-40B4-BE49-F238E27FC236}">
                <a16:creationId xmlns:a16="http://schemas.microsoft.com/office/drawing/2014/main" id="{7B2413B3-CC38-44D8-9216-257040D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i-role-accent-1">
            <a:extLst xmlns:a="http://schemas.openxmlformats.org/drawingml/2006/main">
              <a:ext uri="{FF2B5EF4-FFF2-40B4-BE49-F238E27FC236}">
                <a16:creationId xmlns:a16="http://schemas.microsoft.com/office/drawing/2014/main" id="{4E990458-7129-43DF-BA0C-7891A91A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i-role-name-1">
            <a:extLst xmlns:a="http://schemas.openxmlformats.org/drawingml/2006/main">
              <a:ext uri="{FF2B5EF4-FFF2-40B4-BE49-F238E27FC236}">
                <a16:creationId xmlns:a16="http://schemas.microsoft.com/office/drawing/2014/main" id="{486E817C-04D6-43D7-A4BB-B28192FF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19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Director AI</a:t>
            </a:r>
          </a:p>
        </p:txBody>
      </p:sp>
      <p:sp>
        <p:nvSpPr>
          <p:cNvPr id="27" name="ai-role-duty-1">
            <a:extLst xmlns:a="http://schemas.openxmlformats.org/drawingml/2006/main">
              <a:ext uri="{FF2B5EF4-FFF2-40B4-BE49-F238E27FC236}">
                <a16:creationId xmlns:a16="http://schemas.microsoft.com/office/drawing/2014/main" id="{438C7535-4C85-4047-9054-7CC48A9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剧情调度</a:t>
            </a:r>
          </a:p>
        </p:txBody>
      </p:sp>
      <p:sp>
        <p:nvSpPr>
          <p:cNvPr id="28" name="ai-role-arrow-1">
            <a:extLst xmlns:a="http://schemas.openxmlformats.org/drawingml/2006/main">
              <a:ext uri="{FF2B5EF4-FFF2-40B4-BE49-F238E27FC236}">
                <a16:creationId xmlns:a16="http://schemas.microsoft.com/office/drawing/2014/main" id="{DC727589-F8C9-4AA3-A8C6-E85F1AE3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↓</a:t>
            </a:r>
          </a:p>
        </p:txBody>
      </p:sp>
      <p:sp>
        <p:nvSpPr>
          <p:cNvPr id="29" name="ai-role-2">
            <a:extLst xmlns:a="http://schemas.openxmlformats.org/drawingml/2006/main">
              <a:ext uri="{FF2B5EF4-FFF2-40B4-BE49-F238E27FC236}">
                <a16:creationId xmlns:a16="http://schemas.microsoft.com/office/drawing/2014/main" id="{3019CE3F-91C9-4CC0-A144-9FA7611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i-role-accent-2">
            <a:extLst xmlns:a="http://schemas.openxmlformats.org/drawingml/2006/main">
              <a:ext uri="{FF2B5EF4-FFF2-40B4-BE49-F238E27FC236}">
                <a16:creationId xmlns:a16="http://schemas.microsoft.com/office/drawing/2014/main" id="{0694B9A8-A767-4BC2-9FCB-6878A85D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i-role-name-2">
            <a:extLst xmlns:a="http://schemas.openxmlformats.org/drawingml/2006/main">
              <a:ext uri="{FF2B5EF4-FFF2-40B4-BE49-F238E27FC236}">
                <a16:creationId xmlns:a16="http://schemas.microsoft.com/office/drawing/2014/main" id="{6597EF86-4CF2-4C31-9A5E-0E7D0DE2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Information AI</a:t>
            </a:r>
          </a:p>
        </p:txBody>
      </p:sp>
      <p:sp>
        <p:nvSpPr>
          <p:cNvPr id="32" name="ai-role-duty-2">
            <a:extLst xmlns:a="http://schemas.openxmlformats.org/drawingml/2006/main">
              <a:ext uri="{FF2B5EF4-FFF2-40B4-BE49-F238E27FC236}">
                <a16:creationId xmlns:a16="http://schemas.microsoft.com/office/drawing/2014/main" id="{5D470143-8509-4169-8A82-3A87E9F0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05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上下文选择</a:t>
            </a:r>
          </a:p>
        </p:txBody>
      </p:sp>
      <p:sp>
        <p:nvSpPr>
          <p:cNvPr id="33" name="ai-role-arrow-2">
            <a:extLst xmlns:a="http://schemas.openxmlformats.org/drawingml/2006/main">
              <a:ext uri="{FF2B5EF4-FFF2-40B4-BE49-F238E27FC236}">
                <a16:creationId xmlns:a16="http://schemas.microsoft.com/office/drawing/2014/main" id="{F8B7FA3B-BF03-4EB5-A1DF-D7D4A007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↓</a:t>
            </a:r>
          </a:p>
        </p:txBody>
      </p:sp>
      <p:sp>
        <p:nvSpPr>
          <p:cNvPr id="34" name="ai-role-3">
            <a:extLst xmlns:a="http://schemas.openxmlformats.org/drawingml/2006/main">
              <a:ext uri="{FF2B5EF4-FFF2-40B4-BE49-F238E27FC236}">
                <a16:creationId xmlns:a16="http://schemas.microsoft.com/office/drawing/2014/main" id="{3E209EB8-F406-4126-8734-95BB4E8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670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i-role-accent-3">
            <a:extLst xmlns:a="http://schemas.openxmlformats.org/drawingml/2006/main">
              <a:ext uri="{FF2B5EF4-FFF2-40B4-BE49-F238E27FC236}">
                <a16:creationId xmlns:a16="http://schemas.microsoft.com/office/drawing/2014/main" id="{F44F1041-1D42-4B93-8885-DF23672C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670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i-role-name-3">
            <a:extLst xmlns:a="http://schemas.openxmlformats.org/drawingml/2006/main">
              <a:ext uri="{FF2B5EF4-FFF2-40B4-BE49-F238E27FC236}">
                <a16:creationId xmlns:a16="http://schemas.microsoft.com/office/drawing/2014/main" id="{272DE402-B926-4048-A877-35B02FEA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19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Memory AI</a:t>
            </a:r>
          </a:p>
        </p:txBody>
      </p:sp>
      <p:sp>
        <p:nvSpPr>
          <p:cNvPr id="37" name="ai-role-duty-3">
            <a:extLst xmlns:a="http://schemas.openxmlformats.org/drawingml/2006/main">
              <a:ext uri="{FF2B5EF4-FFF2-40B4-BE49-F238E27FC236}">
                <a16:creationId xmlns:a16="http://schemas.microsoft.com/office/drawing/2014/main" id="{2A5DAACB-9137-4811-9ED2-8C1AD9E2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05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长期整理</a:t>
            </a:r>
          </a:p>
        </p:txBody>
      </p:sp>
      <p:sp>
        <p:nvSpPr>
          <p:cNvPr id="38" name="ai-role-arrow-3">
            <a:extLst xmlns:a="http://schemas.openxmlformats.org/drawingml/2006/main">
              <a:ext uri="{FF2B5EF4-FFF2-40B4-BE49-F238E27FC236}">
                <a16:creationId xmlns:a16="http://schemas.microsoft.com/office/drawing/2014/main" id="{45D337B6-AC74-4938-8644-5F24AFDB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886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39" name="context-runtime">
            <a:extLst xmlns:a="http://schemas.openxmlformats.org/drawingml/2006/main">
              <a:ext uri="{FF2B5EF4-FFF2-40B4-BE49-F238E27FC236}">
                <a16:creationId xmlns:a16="http://schemas.microsoft.com/office/drawing/2014/main" id="{0E260AC8-86C7-4E52-BC47-1C623DD1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567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ntext-runtime-title">
            <a:extLst xmlns:a="http://schemas.openxmlformats.org/drawingml/2006/main">
              <a:ext uri="{FF2B5EF4-FFF2-40B4-BE49-F238E27FC236}">
                <a16:creationId xmlns:a16="http://schemas.microsoft.com/office/drawing/2014/main" id="{FECEB55A-35E8-4F46-A24B-A7497A84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529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Context Broker + Application Runtime</a:t>
            </a:r>
          </a:p>
        </p:txBody>
      </p:sp>
      <p:sp>
        <p:nvSpPr>
          <p:cNvPr id="41" name="context-runtime-body">
            <a:extLst xmlns:a="http://schemas.openxmlformats.org/drawingml/2006/main">
              <a:ext uri="{FF2B5EF4-FFF2-40B4-BE49-F238E27FC236}">
                <a16:creationId xmlns:a16="http://schemas.microsoft.com/office/drawing/2014/main" id="{900F1C8F-D205-4BFA-B819-FBCE1170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29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事件驱动 · 版本化上下文 · 超时与降级</a:t>
            </a:r>
          </a:p>
        </p:txBody>
      </p:sp>
      <p:sp>
        <p:nvSpPr>
          <p:cNvPr id="42" name="runtime-arrow">
            <a:extLst xmlns:a="http://schemas.openxmlformats.org/drawingml/2006/main">
              <a:ext uri="{FF2B5EF4-FFF2-40B4-BE49-F238E27FC236}">
                <a16:creationId xmlns:a16="http://schemas.microsoft.com/office/drawing/2014/main" id="{805A2926-2134-447D-A383-6E091977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95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43" name="atomic-commit">
            <a:extLst xmlns:a="http://schemas.openxmlformats.org/drawingml/2006/main">
              <a:ext uri="{FF2B5EF4-FFF2-40B4-BE49-F238E27FC236}">
                <a16:creationId xmlns:a16="http://schemas.microsoft.com/office/drawing/2014/main" id="{DB571E5A-CF22-4347-B1A7-9643F47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00650"/>
            <a:ext cx="464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atomic-title">
            <a:extLst xmlns:a="http://schemas.openxmlformats.org/drawingml/2006/main">
              <a:ext uri="{FF2B5EF4-FFF2-40B4-BE49-F238E27FC236}">
                <a16:creationId xmlns:a16="http://schemas.microsoft.com/office/drawing/2014/main" id="{77088FD4-F232-4AEB-8059-357C1D9F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34000"/>
            <a:ext cx="426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Validator / Atomic Commit</a:t>
            </a:r>
          </a:p>
        </p:txBody>
      </p:sp>
      <p:sp>
        <p:nvSpPr>
          <p:cNvPr id="45" name="atomic-body">
            <a:extLst xmlns:a="http://schemas.openxmlformats.org/drawingml/2006/main">
              <a:ext uri="{FF2B5EF4-FFF2-40B4-BE49-F238E27FC236}">
                <a16:creationId xmlns:a16="http://schemas.microsoft.com/office/drawing/2014/main" id="{9A4B1A88-7C5B-4D0B-B2EB-88DEF6F2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573"/>
                </a:solidFill>
              </a:defRPr>
            </a:pPr>
            <a:r>
              <a:rPr sz="1050" b="0">
                <a:solidFill>
                  <a:srgbClr val="5B6573"/>
                </a:solidFill>
              </a:rPr>
              <a:t>只有程序能够提交 SQLite 权威状态与不可变事件</a:t>
            </a:r>
          </a:p>
        </p:txBody>
      </p:sp>
      <p:sp>
        <p:nvSpPr>
          <p:cNvPr id="46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BB0997C4-764B-4C85-BB8A-D688952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457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多 AI 可以并行思考，但事实只允许按版本串行提交。</a:t>
            </a:r>
          </a:p>
        </p:txBody>
      </p:sp>
    </p:spTree>
    <p:extLst>
      <p:ext uri="{BB962C8B-B14F-4D97-AF65-F5344CB8AC3E}">
        <p14:creationId xmlns:p14="http://schemas.microsoft.com/office/powerpoint/2010/main" val="377438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F371152E-6221-47A4-88E8-796F33D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07  个人实践与实习收获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5CA80A7-1FC9-4F1B-9408-64DE923B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独立完成产品，也重新认识了 AI 的工程边界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594BD06B-1936-47C1-B19C-28ECBF0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BE2C809F-95D6-40A5-890D-BAB0166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work-title">
            <a:extLst xmlns:a="http://schemas.openxmlformats.org/drawingml/2006/main">
              <a:ext uri="{FF2B5EF4-FFF2-40B4-BE49-F238E27FC236}">
                <a16:creationId xmlns:a16="http://schemas.microsoft.com/office/drawing/2014/main" id="{05FD6F5D-51B7-4DBC-B888-E4EAE2A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个人完成的工作</a:t>
            </a:r>
          </a:p>
        </p:txBody>
      </p:sp>
      <p:sp>
        <p:nvSpPr>
          <p:cNvPr id="6" name="work-panel">
            <a:extLst xmlns:a="http://schemas.openxmlformats.org/drawingml/2006/main">
              <a:ext uri="{FF2B5EF4-FFF2-40B4-BE49-F238E27FC236}">
                <a16:creationId xmlns:a16="http://schemas.microsoft.com/office/drawing/2014/main" id="{4EDAFC61-9A6D-4AFE-8A31-E4697FB9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dot-280-0">
            <a:extLst xmlns:a="http://schemas.openxmlformats.org/drawingml/2006/main">
              <a:ext uri="{FF2B5EF4-FFF2-40B4-BE49-F238E27FC236}">
                <a16:creationId xmlns:a16="http://schemas.microsoft.com/office/drawing/2014/main" id="{CB428530-D3D6-40A4-B89D-3E81CE68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80-0">
            <a:extLst xmlns:a="http://schemas.openxmlformats.org/drawingml/2006/main">
              <a:ext uri="{FF2B5EF4-FFF2-40B4-BE49-F238E27FC236}">
                <a16:creationId xmlns:a16="http://schemas.microsoft.com/office/drawing/2014/main" id="{9F7C10A7-F166-45C4-BF90-586DEA60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完成产品定位、架构设计与功能拆解</a:t>
            </a:r>
          </a:p>
        </p:txBody>
      </p:sp>
      <p:sp>
        <p:nvSpPr>
          <p:cNvPr id="9" name="bullet-dot-280-1">
            <a:extLst xmlns:a="http://schemas.openxmlformats.org/drawingml/2006/main">
              <a:ext uri="{FF2B5EF4-FFF2-40B4-BE49-F238E27FC236}">
                <a16:creationId xmlns:a16="http://schemas.microsoft.com/office/drawing/2014/main" id="{531F4266-64C4-4F5A-BF68-355C96D2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80-1">
            <a:extLst xmlns:a="http://schemas.openxmlformats.org/drawingml/2006/main">
              <a:ext uri="{FF2B5EF4-FFF2-40B4-BE49-F238E27FC236}">
                <a16:creationId xmlns:a16="http://schemas.microsoft.com/office/drawing/2014/main" id="{FE7CDB97-9308-44BD-A192-7E30A70B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5765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实现桌面界面、游戏内核与本地数据层</a:t>
            </a:r>
          </a:p>
        </p:txBody>
      </p:sp>
      <p:sp>
        <p:nvSpPr>
          <p:cNvPr id="11" name="bullet-dot-280-2">
            <a:extLst xmlns:a="http://schemas.openxmlformats.org/drawingml/2006/main">
              <a:ext uri="{FF2B5EF4-FFF2-40B4-BE49-F238E27FC236}">
                <a16:creationId xmlns:a16="http://schemas.microsoft.com/office/drawing/2014/main" id="{4A9828A7-29E1-4BA7-B1EA-BA7F01E1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72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80-2">
            <a:extLst xmlns:a="http://schemas.openxmlformats.org/drawingml/2006/main">
              <a:ext uri="{FF2B5EF4-FFF2-40B4-BE49-F238E27FC236}">
                <a16:creationId xmlns:a16="http://schemas.microsoft.com/office/drawing/2014/main" id="{7DEC2A8D-FB0E-410E-882D-D9377F9A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8630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接入模型、内容包、检查点与演示流程</a:t>
            </a:r>
          </a:p>
        </p:txBody>
      </p:sp>
      <p:sp>
        <p:nvSpPr>
          <p:cNvPr id="13" name="bullet-dot-280-3">
            <a:extLst xmlns:a="http://schemas.openxmlformats.org/drawingml/2006/main">
              <a:ext uri="{FF2B5EF4-FFF2-40B4-BE49-F238E27FC236}">
                <a16:creationId xmlns:a16="http://schemas.microsoft.com/office/drawing/2014/main" id="{25F0B16D-6AC0-4781-8149-41AE132C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00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80-3">
            <a:extLst xmlns:a="http://schemas.openxmlformats.org/drawingml/2006/main">
              <a:ext uri="{FF2B5EF4-FFF2-40B4-BE49-F238E27FC236}">
                <a16:creationId xmlns:a16="http://schemas.microsoft.com/office/drawing/2014/main" id="{81CDAA2D-854E-46A4-B9CD-5CC880B6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通过测试与复盘持续修正产品体验</a:t>
            </a:r>
          </a:p>
        </p:txBody>
      </p:sp>
      <p:sp>
        <p:nvSpPr>
          <p:cNvPr id="15" name="learn-title">
            <a:extLst xmlns:a="http://schemas.openxmlformats.org/drawingml/2006/main">
              <a:ext uri="{FF2B5EF4-FFF2-40B4-BE49-F238E27FC236}">
                <a16:creationId xmlns:a16="http://schemas.microsoft.com/office/drawing/2014/main" id="{03B68E44-2507-401F-9BA8-509DABE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对 AI 的核心认知</a:t>
            </a:r>
          </a:p>
        </p:txBody>
      </p:sp>
      <p:sp>
        <p:nvSpPr>
          <p:cNvPr id="16" name="learn-panel">
            <a:extLst xmlns:a="http://schemas.openxmlformats.org/drawingml/2006/main">
              <a:ext uri="{FF2B5EF4-FFF2-40B4-BE49-F238E27FC236}">
                <a16:creationId xmlns:a16="http://schemas.microsoft.com/office/drawing/2014/main" id="{10410C89-5739-44E0-964C-ED266162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dot-272-0">
            <a:extLst xmlns:a="http://schemas.openxmlformats.org/drawingml/2006/main">
              <a:ext uri="{FF2B5EF4-FFF2-40B4-BE49-F238E27FC236}">
                <a16:creationId xmlns:a16="http://schemas.microsoft.com/office/drawing/2014/main" id="{E26975AD-2B62-4800-BC99-345576ED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72-0">
            <a:extLst xmlns:a="http://schemas.openxmlformats.org/drawingml/2006/main">
              <a:ext uri="{FF2B5EF4-FFF2-40B4-BE49-F238E27FC236}">
                <a16:creationId xmlns:a16="http://schemas.microsoft.com/office/drawing/2014/main" id="{4CA21A40-8E2D-41CE-BDE5-DD5FD7D6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52800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模型能力不等于产品可靠性，关键事实要由程序约束</a:t>
            </a:r>
          </a:p>
        </p:txBody>
      </p:sp>
      <p:sp>
        <p:nvSpPr>
          <p:cNvPr id="19" name="bullet-dot-272-1">
            <a:extLst xmlns:a="http://schemas.openxmlformats.org/drawingml/2006/main">
              <a:ext uri="{FF2B5EF4-FFF2-40B4-BE49-F238E27FC236}">
                <a16:creationId xmlns:a16="http://schemas.microsoft.com/office/drawing/2014/main" id="{51A3598E-921A-48E1-9FBA-DC9A8FBA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72-1">
            <a:extLst xmlns:a="http://schemas.openxmlformats.org/drawingml/2006/main">
              <a:ext uri="{FF2B5EF4-FFF2-40B4-BE49-F238E27FC236}">
                <a16:creationId xmlns:a16="http://schemas.microsoft.com/office/drawing/2014/main" id="{C09383FD-96AD-4D40-B376-EB94265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10025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本地模型需要按任务做参数、提示词与上下文调优</a:t>
            </a:r>
          </a:p>
        </p:txBody>
      </p:sp>
      <p:sp>
        <p:nvSpPr>
          <p:cNvPr id="21" name="bullet-dot-272-2">
            <a:extLst xmlns:a="http://schemas.openxmlformats.org/drawingml/2006/main">
              <a:ext uri="{FF2B5EF4-FFF2-40B4-BE49-F238E27FC236}">
                <a16:creationId xmlns:a16="http://schemas.microsoft.com/office/drawing/2014/main" id="{997515D8-35F4-40BB-9732-59EC7C8D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72-2">
            <a:extLst xmlns:a="http://schemas.openxmlformats.org/drawingml/2006/main">
              <a:ext uri="{FF2B5EF4-FFF2-40B4-BE49-F238E27FC236}">
                <a16:creationId xmlns:a16="http://schemas.microsoft.com/office/drawing/2014/main" id="{79C9BFDD-EF42-4BA8-9212-B899CF55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67250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针对性适配比盲目追求大模型规模更重要</a:t>
            </a:r>
          </a:p>
        </p:txBody>
      </p:sp>
      <p:sp>
        <p:nvSpPr>
          <p:cNvPr id="23" name="bullet-dot-272-3">
            <a:extLst xmlns:a="http://schemas.openxmlformats.org/drawingml/2006/main">
              <a:ext uri="{FF2B5EF4-FFF2-40B4-BE49-F238E27FC236}">
                <a16:creationId xmlns:a16="http://schemas.microsoft.com/office/drawing/2014/main" id="{4321B900-BF1A-4106-A846-1CDF4958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10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72-3">
            <a:extLst xmlns:a="http://schemas.openxmlformats.org/drawingml/2006/main">
              <a:ext uri="{FF2B5EF4-FFF2-40B4-BE49-F238E27FC236}">
                <a16:creationId xmlns:a16="http://schemas.microsoft.com/office/drawing/2014/main" id="{F3462A49-71B6-48AE-8028-B242AD10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24475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结构化输出、评测和失败降级决定实际可用性</a:t>
            </a:r>
          </a:p>
        </p:txBody>
      </p:sp>
      <p:sp>
        <p:nvSpPr>
          <p:cNvPr id="25" name="learn-note">
            <a:extLst xmlns:a="http://schemas.openxmlformats.org/drawingml/2006/main">
              <a:ext uri="{FF2B5EF4-FFF2-40B4-BE49-F238E27FC236}">
                <a16:creationId xmlns:a16="http://schemas.microsoft.com/office/drawing/2014/main" id="{43D1AF53-3FE6-43E7-801F-BCEE8A17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91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最大的收获：从“会调用 AI”，走向“能让 AI 在明确边界内稳定完成任务”。</a:t>
            </a:r>
          </a:p>
        </p:txBody>
      </p:sp>
    </p:spTree>
    <p:extLst>
      <p:ext uri="{BB962C8B-B14F-4D97-AF65-F5344CB8AC3E}">
        <p14:creationId xmlns:p14="http://schemas.microsoft.com/office/powerpoint/2010/main" val="14072340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yebrow-9">
            <a:extLst xmlns:a="http://schemas.openxmlformats.org/drawingml/2006/main">
              <a:ext uri="{FF2B5EF4-FFF2-40B4-BE49-F238E27FC236}">
                <a16:creationId xmlns:a16="http://schemas.microsoft.com/office/drawing/2014/main" id="{01086C98-C391-47A6-94EE-E89E91C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08  版本演进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3A2CFC7-B613-4CE0-B465-B0CB1A9A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从可分发的 V0.1，走向完整的 V1.0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5A5016B4-AE5D-44ED-8A23-FD7D79EB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C5F2EB58-818C-4DA7-81D8-172802B9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5" name="v01-label">
            <a:extLst xmlns:a="http://schemas.openxmlformats.org/drawingml/2006/main">
              <a:ext uri="{FF2B5EF4-FFF2-40B4-BE49-F238E27FC236}">
                <a16:creationId xmlns:a16="http://schemas.microsoft.com/office/drawing/2014/main" id="{F43DFBCC-B3B8-437D-8E70-CD62326D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V0.1  ·  已经完成</a:t>
            </a:r>
          </a:p>
        </p:txBody>
      </p:sp>
      <p:sp>
        <p:nvSpPr>
          <p:cNvPr id="6" name="v01-panel">
            <a:extLst xmlns:a="http://schemas.openxmlformats.org/drawingml/2006/main">
              <a:ext uri="{FF2B5EF4-FFF2-40B4-BE49-F238E27FC236}">
                <a16:creationId xmlns:a16="http://schemas.microsoft.com/office/drawing/2014/main" id="{B310BE06-270F-408C-BF84-BFB0228F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D843C0E9-EE94-4402-8F9D-0C8FA411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63A8C3E4-C8C6-4BAD-B792-60FBE31E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909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可安装、可独立启动的桌面产品</a:t>
            </a:r>
          </a:p>
        </p:txBody>
      </p:sp>
      <p:sp>
        <p:nvSpPr>
          <p:cNvPr id="9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6F0C0D1E-B6D9-4CA1-A64C-7F8D329E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702504AD-00B3-4705-A9C3-46DC267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9572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角色创建、战役与自然语言行动</a:t>
            </a:r>
          </a:p>
        </p:txBody>
      </p:sp>
      <p:sp>
        <p:nvSpPr>
          <p:cNvPr id="11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60A8F6A9-9A37-45D2-8A94-ADEADB09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4B7ACD3B-FED4-4A61-9235-BB47BBD8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0055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规则检定、AI 叙事与权威状态</a:t>
            </a:r>
          </a:p>
        </p:txBody>
      </p:sp>
      <p:sp>
        <p:nvSpPr>
          <p:cNvPr id="13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4330370E-F246-4D73-890D-69EF4AAA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5849C349-229B-47C7-8897-D5A4FD5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0537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时间线、检查点和基础恢复</a:t>
            </a:r>
          </a:p>
        </p:txBody>
      </p:sp>
      <p:sp>
        <p:nvSpPr>
          <p:cNvPr id="15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BDD701B8-68CF-4F59-B6EB-6A3B728D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BB4FA646-A3D4-41E3-B086-8DBE58F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102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模型配置与内容基础接入</a:t>
            </a:r>
          </a:p>
        </p:txBody>
      </p:sp>
      <p:sp>
        <p:nvSpPr>
          <p:cNvPr id="17" name="v10-label">
            <a:extLst xmlns:a="http://schemas.openxmlformats.org/drawingml/2006/main">
              <a:ext uri="{FF2B5EF4-FFF2-40B4-BE49-F238E27FC236}">
                <a16:creationId xmlns:a16="http://schemas.microsoft.com/office/drawing/2014/main" id="{84840003-4306-459C-82C3-08794F3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V1.0  ·  完整产品形态</a:t>
            </a:r>
          </a:p>
        </p:txBody>
      </p:sp>
      <p:sp>
        <p:nvSpPr>
          <p:cNvPr id="18" name="v10-panel">
            <a:extLst xmlns:a="http://schemas.openxmlformats.org/drawingml/2006/main">
              <a:ext uri="{FF2B5EF4-FFF2-40B4-BE49-F238E27FC236}">
                <a16:creationId xmlns:a16="http://schemas.microsoft.com/office/drawing/2014/main" id="{53623922-B755-4156-AB00-00B8D065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74AA5468-91CD-4D96-97B7-F877CD2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21890A29-A317-47B8-A18D-E7520321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目标战役长度内的长期一致性</a:t>
            </a:r>
          </a:p>
        </p:txBody>
      </p:sp>
      <p:sp>
        <p:nvSpPr>
          <p:cNvPr id="21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7BCA0763-1A7D-4287-9039-91C60B11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9E246AA9-6CAB-4C5F-8B73-66B5607C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9572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文字卡、轻量内容与剧本包兼容</a:t>
            </a:r>
          </a:p>
        </p:txBody>
      </p:sp>
      <p:sp>
        <p:nvSpPr>
          <p:cNvPr id="23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6E5FB011-417F-403C-AA3A-EB9C5B5A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374E1ECC-8978-42E8-A262-6B2A9D6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Scenario Pack 制作与发布路径</a:t>
            </a:r>
          </a:p>
        </p:txBody>
      </p:sp>
      <p:sp>
        <p:nvSpPr>
          <p:cNvPr id="25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E5A2E965-1F05-45AB-AFDD-146741DD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876ECB30-030A-49F3-80BB-92368F4B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0537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模型替换、失败降级和成本控制</a:t>
            </a:r>
          </a:p>
        </p:txBody>
      </p:sp>
      <p:sp>
        <p:nvSpPr>
          <p:cNvPr id="27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7C35D348-3A1C-4341-A27D-B814853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AA066504-3F02-4EB5-AE88-F2A03213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102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存档回滚、分支、迁移与完整文档</a:t>
            </a:r>
          </a:p>
        </p:txBody>
      </p:sp>
      <p:sp>
        <p:nvSpPr>
          <p:cNvPr id="29" name="version-boundary">
            <a:extLst xmlns:a="http://schemas.openxmlformats.org/drawingml/2006/main">
              <a:ext uri="{FF2B5EF4-FFF2-40B4-BE49-F238E27FC236}">
                <a16:creationId xmlns:a16="http://schemas.microsoft.com/office/drawing/2014/main" id="{FE04253C-0B53-494C-A70C-5D1A125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6294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V1.0 仍聚焦 AI 主持的单人跑团；多人实时联机与真人 GM 工作台属于远期方向。</a:t>
            </a:r>
          </a:p>
        </p:txBody>
      </p:sp>
    </p:spTree>
    <p:extLst>
      <p:ext uri="{BB962C8B-B14F-4D97-AF65-F5344CB8AC3E}">
        <p14:creationId xmlns:p14="http://schemas.microsoft.com/office/powerpoint/2010/main" val="447840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F1007254-E338-42BB-A3AE-1EC0B221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AI TRPG ENGINE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F0E2BC3-2F82-4D62-9556-24AEB05C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 AI 成为主持人，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让程序守住世界的事实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BCF7724A-6579-4F83-BA6C-6730C05E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当前成果：完整试玩闭环 · 本地权威状态 · 可替换模型 · 可恢复历史</a:t>
            </a:r>
          </a:p>
        </p:txBody>
      </p:sp>
      <p:sp>
        <p:nvSpPr>
          <p:cNvPr id="4" name="close-future">
            <a:extLst xmlns:a="http://schemas.openxmlformats.org/drawingml/2006/main">
              <a:ext uri="{FF2B5EF4-FFF2-40B4-BE49-F238E27FC236}">
                <a16:creationId xmlns:a16="http://schemas.microsoft.com/office/drawing/2014/main" id="{0EBAF77E-7828-4C00-88AB-E3DE300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CBF4"/>
                </a:solidFill>
              </a:defRPr>
            </a:pPr>
            <a:r>
              <a:rPr sz="1575" b="0">
                <a:solidFill>
                  <a:srgbClr val="6DCBF4"/>
                </a:solidFill>
              </a:rPr>
              <a:t>下一步：增强长期记忆与内容工具，并逐步探索多人协作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BA38DEFB-B934-4B26-A3EE-C0E8D1F1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qa">
            <a:extLst xmlns:a="http://schemas.openxmlformats.org/drawingml/2006/main">
              <a:ext uri="{FF2B5EF4-FFF2-40B4-BE49-F238E27FC236}">
                <a16:creationId xmlns:a16="http://schemas.microsoft.com/office/drawing/2014/main" id="{D78F57E1-7EF6-4AE4-85D1-E632B810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7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BFAA8AF7-49D6-4642-BD45-11721CC0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感谢各位老师指导</a:t>
            </a:r>
          </a:p>
        </p:txBody>
      </p:sp>
    </p:spTree>
    <p:extLst>
      <p:ext uri="{BB962C8B-B14F-4D97-AF65-F5344CB8AC3E}">
        <p14:creationId xmlns:p14="http://schemas.microsoft.com/office/powerpoint/2010/main" val="1558288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2026-08-25T06:16:43.4830000Z</dcterms:created>
  <dcterms:modified xsi:type="dcterms:W3CDTF">2026-08-25T06:16:43.4830000Z</dcterms:modified>
</coreProperties>
</file>