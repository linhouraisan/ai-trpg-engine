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7fcda47c6a84805" Type="http://schemas.openxmlformats.org/package/2006/relationships/metadata/core-properties" Target="docProps/core.xml"/><Relationship Id="R4e32f31629b04324" Type="http://schemas.openxmlformats.org/officeDocument/2006/relationships/extended-properties" Target="docProps/app.xml"/><Relationship Id="R65a9d35b3c4145b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733add1fad4331"/>
  </p:sldMasterIdLst>
  <p:notesMasterIdLst>
    <p:notesMasterId xmlns:r="http://schemas.openxmlformats.org/officeDocument/2006/relationships" r:id="R4bfb390722b24335"/>
  </p:notesMasterIdLst>
  <p:sldIdLst>
    <p:sldId xmlns:r="http://schemas.openxmlformats.org/officeDocument/2006/relationships" id="256" r:id="Rc7b4efac03784dd9"/>
    <p:sldId xmlns:r="http://schemas.openxmlformats.org/officeDocument/2006/relationships" id="257" r:id="Rcf2d7abadf014860"/>
    <p:sldId xmlns:r="http://schemas.openxmlformats.org/officeDocument/2006/relationships" id="258" r:id="Reb353ed05b634f6c"/>
    <p:sldId xmlns:r="http://schemas.openxmlformats.org/officeDocument/2006/relationships" id="259" r:id="R90d75cfaa74b4aae"/>
    <p:sldId xmlns:r="http://schemas.openxmlformats.org/officeDocument/2006/relationships" id="260" r:id="Rac995a0a6e3246d2"/>
    <p:sldId xmlns:r="http://schemas.openxmlformats.org/officeDocument/2006/relationships" id="261" r:id="R2079d27b6c9c4bc2"/>
    <p:sldId xmlns:r="http://schemas.openxmlformats.org/officeDocument/2006/relationships" id="262" r:id="Re1e365bd4f074b32"/>
    <p:sldId xmlns:r="http://schemas.openxmlformats.org/officeDocument/2006/relationships" id="263" r:id="Ra4da2f4ff7974ed8"/>
    <p:sldId xmlns:r="http://schemas.openxmlformats.org/officeDocument/2006/relationships" id="264" r:id="R61263cbec832413b"/>
    <p:sldId xmlns:r="http://schemas.openxmlformats.org/officeDocument/2006/relationships" id="265" r:id="R85b1106f26494023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079d27b6c9c4bc2" Type="http://schemas.openxmlformats.org/officeDocument/2006/relationships/slide" Target="slides/slide6.xml"/><Relationship Id="R3f63f85586984028" Type="http://schemas.openxmlformats.org/officeDocument/2006/relationships/presProps" Target="presProps.xml"/><Relationship Id="R4bfb390722b24335" Type="http://schemas.openxmlformats.org/officeDocument/2006/relationships/notesMaster" Target="notesMasters/notesMaster1.xml"/><Relationship Id="R61263cbec832413b" Type="http://schemas.openxmlformats.org/officeDocument/2006/relationships/slide" Target="slides/slide9.xml"/><Relationship Id="R85b1106f26494023" Type="http://schemas.openxmlformats.org/officeDocument/2006/relationships/slide" Target="slides/slide10.xml"/><Relationship Id="R88f41edcef374946" Type="http://schemas.openxmlformats.org/officeDocument/2006/relationships/tableStyles" Target="tableStyles.xml"/><Relationship Id="R90d75cfaa74b4aae" Type="http://schemas.openxmlformats.org/officeDocument/2006/relationships/slide" Target="slides/slide4.xml"/><Relationship Id="R9f733add1fad4331" Type="http://schemas.openxmlformats.org/officeDocument/2006/relationships/slideMaster" Target="slideMasters/slideMaster1.xml"/><Relationship Id="Ra4da2f4ff7974ed8" Type="http://schemas.openxmlformats.org/officeDocument/2006/relationships/slide" Target="slides/slide8.xml"/><Relationship Id="Rac995a0a6e3246d2" Type="http://schemas.openxmlformats.org/officeDocument/2006/relationships/slide" Target="slides/slide5.xml"/><Relationship Id="Rc7b4efac03784dd9" Type="http://schemas.openxmlformats.org/officeDocument/2006/relationships/slide" Target="slides/slide1.xml"/><Relationship Id="Rcf2d7abadf014860" Type="http://schemas.openxmlformats.org/officeDocument/2006/relationships/slide" Target="slides/slide2.xml"/><Relationship Id="Re1e365bd4f074b32" Type="http://schemas.openxmlformats.org/officeDocument/2006/relationships/slide" Target="slides/slide7.xml"/><Relationship Id="Reb353ed05b634f6c" Type="http://schemas.openxmlformats.org/officeDocument/2006/relationships/slide" Target="slides/slide3.xml"/><Relationship Id="Rfc8b97b18bb94d60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5502ba4ec3e943a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c05c54f867647f8" Type="http://schemas.openxmlformats.org/officeDocument/2006/relationships/slide" Target="../slides/slide1.xml"/><Relationship Id="R83ceec721cb34b5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805809019a24e49" Type="http://schemas.openxmlformats.org/officeDocument/2006/relationships/notesMaster" Target="../notesMasters/notesMaster1.xml"/><Relationship Id="R82c3d8cc9dad4aa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b02267efa8748ef" Type="http://schemas.openxmlformats.org/officeDocument/2006/relationships/slide" Target="../slides/slide3.xml"/><Relationship Id="Rea304ec90e0e4c2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e909f490d044d9a" Type="http://schemas.openxmlformats.org/officeDocument/2006/relationships/slide" Target="../slides/slide4.xml"/><Relationship Id="Rb4f4d9a57a4b49e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21b571df1c2407e" Type="http://schemas.openxmlformats.org/officeDocument/2006/relationships/slide" Target="../slides/slide5.xml"/><Relationship Id="Rf221c983bb04491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99797e01e124982" Type="http://schemas.openxmlformats.org/officeDocument/2006/relationships/notesMaster" Target="../notesMasters/notesMaster1.xml"/><Relationship Id="Ree2ba897505e4c1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2427af3f4754cb5" Type="http://schemas.openxmlformats.org/officeDocument/2006/relationships/slide" Target="../slides/slide7.xml"/><Relationship Id="R62f0f135b201409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d640e756d1f34a77" Type="http://schemas.openxmlformats.org/officeDocument/2006/relationships/slide" Target="../slides/slide8.xml"/><Relationship Id="Re3a40d2e1d6d4b3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eace58b40054a9d" Type="http://schemas.openxmlformats.org/officeDocument/2006/relationships/slide" Target="../slides/slide9.xml"/><Relationship Id="Rc871e58ae90548f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cef6da25ec8b45a8" Type="http://schemas.openxmlformats.org/officeDocument/2006/relationships/notesMaster" Target="../notesMasters/notesMaster1.xml"/><Relationship Id="Rff32d3ffe39846fa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aedd48cf8324f2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927051db75d4c03" Type="http://schemas.openxmlformats.org/officeDocument/2006/relationships/theme" Target="theme/theme2.xml"/><Relationship Id="R9b2f9aab8f9f428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f9aab8f9f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6bc8e4459fa42bf" Type="http://schemas.openxmlformats.org/officeDocument/2006/relationships/image" Target="../media/image.png"/><Relationship Id="R2a7a84a8891145ab" Type="http://schemas.openxmlformats.org/officeDocument/2006/relationships/notesSlide" Target="../notesSlides/notesSlide1.xml"/><Relationship Id="R873378d2993b4ef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ee9f2d7e1534fcb" Type="http://schemas.openxmlformats.org/officeDocument/2006/relationships/slideLayout" Target="../slideLayouts/slideLayout1.xml"/><Relationship Id="R6efc0e0e39634a9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1b74367b89e4121" Type="http://schemas.openxmlformats.org/officeDocument/2006/relationships/notesSlide" Target="../notesSlides/notesSlide3.xml"/><Relationship Id="Rba96e69ec47a4ca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c984e2d62aa49c1" Type="http://schemas.openxmlformats.org/officeDocument/2006/relationships/notesSlide" Target="../notesSlides/notesSlide4.xml"/><Relationship Id="R613fed2785854478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86c8162a90e49c3" Type="http://schemas.openxmlformats.org/officeDocument/2006/relationships/notesSlide" Target="../notesSlides/notesSlide5.xml"/><Relationship Id="Rcdc73251ba834c8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c94f9f986ed4856" Type="http://schemas.openxmlformats.org/officeDocument/2006/relationships/notesSlide" Target="../notesSlides/notesSlide6.xml"/><Relationship Id="R8fc344c78f284e2b" Type="http://schemas.openxmlformats.org/officeDocument/2006/relationships/image" Target="../media/image2.png"/><Relationship Id="Re797c2402519492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06a95c38d0945c9" Type="http://schemas.openxmlformats.org/officeDocument/2006/relationships/slideLayout" Target="../slideLayouts/slideLayout1.xml"/><Relationship Id="Rb5c0b7f1a064485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a07494be32543e3" Type="http://schemas.openxmlformats.org/officeDocument/2006/relationships/notesSlide" Target="../notesSlides/notesSlide8.xml"/><Relationship Id="Rcb138bfb9ecd412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0362223e5214ce7" Type="http://schemas.openxmlformats.org/officeDocument/2006/relationships/slideLayout" Target="../slideLayouts/slideLayout1.xml"/><Relationship Id="R8ef680c581d14de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f01d4a65ed145e4" Type="http://schemas.openxmlformats.org/officeDocument/2006/relationships/slideLayout" Target="../slideLayouts/slideLayout1.xml"/><Relationship Id="Rbd7554e5f1774e11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BCB5A6F2-DE54-4576-A179-E5A8C3E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ar">
            <a:extLst xmlns:a="http://schemas.openxmlformats.org/drawingml/2006/main">
              <a:ext uri="{FF2B5EF4-FFF2-40B4-BE49-F238E27FC236}">
                <a16:creationId xmlns:a16="http://schemas.microsoft.com/office/drawing/2014/main" id="{6C673C7B-D8F1-43A1-9F6C-F0C5E49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A4C844F-BD2D-4AD8-BA35-BB7FA1CB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毕业实习项目答辩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AB412B5-00C1-4B9D-BFA4-8554966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7510368-41D0-4C97-856A-A176F0FC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本地优先的 AI 单人跑团桌面引擎</a:t>
            </a:r>
          </a:p>
        </p:txBody>
      </p:sp>
      <p:sp>
        <p:nvSpPr>
          <p:cNvPr id="6" name="cover-value">
            <a:extLst xmlns:a="http://schemas.openxmlformats.org/drawingml/2006/main">
              <a:ext uri="{FF2B5EF4-FFF2-40B4-BE49-F238E27FC236}">
                <a16:creationId xmlns:a16="http://schemas.microsoft.com/office/drawing/2014/main" id="{39A2A5C9-2BB2-4834-AB54-BAC4C015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AI 负责理解与叙事，程序负责规则与事实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C149B353-E454-4090-AEE9-ACA3D2E5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组号：【待替换：组号】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组长：【待替换：组长姓名】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成员：【待替换：全部成员姓名】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c8e4459fa42bf"/>
          <a:stretch xmlns:a="http://schemas.openxmlformats.org/drawingml/2006/main"/>
        </p:blipFill>
        <p:spPr>
          <a:xfrm xmlns:a="http://schemas.openxmlformats.org/drawingml/2006/main">
            <a:off x="8572500" y="2840458"/>
            <a:ext cx="3810000" cy="2301035"/>
          </a:xfrm>
          <a:prstGeom xmlns:a="http://schemas.openxmlformats.org/drawingml/2006/main" prst="rect">
            <a:avLst/>
          </a:prstGeom>
        </p:spPr>
      </p:pic>
      <p:sp>
        <p:nvSpPr>
          <p:cNvPr id="9" name="cover-product-border">
            <a:extLst xmlns:a="http://schemas.openxmlformats.org/drawingml/2006/main">
              <a:ext uri="{FF2B5EF4-FFF2-40B4-BE49-F238E27FC236}">
                <a16:creationId xmlns:a16="http://schemas.microsoft.com/office/drawing/2014/main" id="{6E37683F-9EF7-4518-8D1A-8F4CC20C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3810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ver-product-caption">
            <a:extLst xmlns:a="http://schemas.openxmlformats.org/drawingml/2006/main">
              <a:ext uri="{FF2B5EF4-FFF2-40B4-BE49-F238E27FC236}">
                <a16:creationId xmlns:a16="http://schemas.microsoft.com/office/drawing/2014/main" id="{A7EB7B66-1C80-45CC-9959-EAB519F9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V0.1 真实运行界面</a:t>
            </a:r>
          </a:p>
        </p:txBody>
      </p:sp>
      <p:sp>
        <p:nvSpPr>
          <p:cNvPr id="11" name="cover-product-note">
            <a:extLst xmlns:a="http://schemas.openxmlformats.org/drawingml/2006/main">
              <a:ext uri="{FF2B5EF4-FFF2-40B4-BE49-F238E27FC236}">
                <a16:creationId xmlns:a16="http://schemas.microsoft.com/office/drawing/2014/main" id="{2D395EF1-BC82-42C6-BA4F-1DCD9835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91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自然语言行动 · 权威状态 · 时间线恢复</a:t>
            </a:r>
          </a:p>
        </p:txBody>
      </p:sp>
    </p:spTree>
    <p:extLst>
      <p:ext uri="{BB962C8B-B14F-4D97-AF65-F5344CB8AC3E}">
        <p14:creationId xmlns:p14="http://schemas.microsoft.com/office/powerpoint/2010/main" val="2093800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1CB340A2-16BD-4D23-9ABD-C473E96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  产品场景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B85CB69-35F1-4B48-8468-A27B81A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我们要解决的不是“聊天”，而是一场能持续的游戏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C1CCD916-8C54-42BC-8B59-2D01F1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7C047DE-2AE6-496F-AFFC-9004B61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box-现实跑团">
            <a:extLst xmlns:a="http://schemas.openxmlformats.org/drawingml/2006/main">
              <a:ext uri="{FF2B5EF4-FFF2-40B4-BE49-F238E27FC236}">
                <a16:creationId xmlns:a16="http://schemas.microsoft.com/office/drawing/2014/main" id="{7301C7F7-601F-4BDA-A31B-B0DFD373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现实跑团">
            <a:extLst xmlns:a="http://schemas.openxmlformats.org/drawingml/2006/main">
              <a:ext uri="{FF2B5EF4-FFF2-40B4-BE49-F238E27FC236}">
                <a16:creationId xmlns:a16="http://schemas.microsoft.com/office/drawing/2014/main" id="{45F4F7CB-5A50-4B3F-A2A9-D754B487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现实跑团">
            <a:extLst xmlns:a="http://schemas.openxmlformats.org/drawingml/2006/main">
              <a:ext uri="{FF2B5EF4-FFF2-40B4-BE49-F238E27FC236}">
                <a16:creationId xmlns:a16="http://schemas.microsoft.com/office/drawing/2014/main" id="{E74A7E7E-44B9-4FE2-B38E-265D8E3E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现实跑团</a:t>
            </a:r>
          </a:p>
        </p:txBody>
      </p:sp>
      <p:sp>
        <p:nvSpPr>
          <p:cNvPr id="8" name="box-body-现实跑团">
            <a:extLst xmlns:a="http://schemas.openxmlformats.org/drawingml/2006/main">
              <a:ext uri="{FF2B5EF4-FFF2-40B4-BE49-F238E27FC236}">
                <a16:creationId xmlns:a16="http://schemas.microsoft.com/office/drawing/2014/main" id="{A88DAB58-EAE3-4510-A61D-9280359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需要主持人、玩家和连续时间安排，组织成本高。</a:t>
            </a:r>
          </a:p>
        </p:txBody>
      </p:sp>
      <p:sp>
        <p:nvSpPr>
          <p:cNvPr id="9" name="box-普通 AI 对话">
            <a:extLst xmlns:a="http://schemas.openxmlformats.org/drawingml/2006/main">
              <a:ext uri="{FF2B5EF4-FFF2-40B4-BE49-F238E27FC236}">
                <a16:creationId xmlns:a16="http://schemas.microsoft.com/office/drawing/2014/main" id="{96D3F7DC-86F8-4B32-AC1E-4467115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普通 AI 对话">
            <a:extLst xmlns:a="http://schemas.openxmlformats.org/drawingml/2006/main">
              <a:ext uri="{FF2B5EF4-FFF2-40B4-BE49-F238E27FC236}">
                <a16:creationId xmlns:a16="http://schemas.microsoft.com/office/drawing/2014/main" id="{4330F8BB-3932-41EB-9CB4-56B47907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普通 AI 对话">
            <a:extLst xmlns:a="http://schemas.openxmlformats.org/drawingml/2006/main">
              <a:ext uri="{FF2B5EF4-FFF2-40B4-BE49-F238E27FC236}">
                <a16:creationId xmlns:a16="http://schemas.microsoft.com/office/drawing/2014/main" id="{BBAA5A0F-FFDD-4A88-90F4-7626D632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普通 AI 对话</a:t>
            </a:r>
          </a:p>
        </p:txBody>
      </p:sp>
      <p:sp>
        <p:nvSpPr>
          <p:cNvPr id="12" name="box-body-普通 AI 对话">
            <a:extLst xmlns:a="http://schemas.openxmlformats.org/drawingml/2006/main">
              <a:ext uri="{FF2B5EF4-FFF2-40B4-BE49-F238E27FC236}">
                <a16:creationId xmlns:a16="http://schemas.microsoft.com/office/drawing/2014/main" id="{7BCCE134-FBAE-4511-A602-967D600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叙事自由，但关键人物、道具和既有结果容易被遗忘或改写。</a:t>
            </a:r>
          </a:p>
        </p:txBody>
      </p:sp>
      <p:sp>
        <p:nvSpPr>
          <p:cNvPr id="13" name="box-AI TRPG Engine">
            <a:extLst xmlns:a="http://schemas.openxmlformats.org/drawingml/2006/main">
              <a:ext uri="{FF2B5EF4-FFF2-40B4-BE49-F238E27FC236}">
                <a16:creationId xmlns:a16="http://schemas.microsoft.com/office/drawing/2014/main" id="{505FF93F-2A16-4F22-8165-8856DE08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3695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AI TRPG Engine">
            <a:extLst xmlns:a="http://schemas.openxmlformats.org/drawingml/2006/main">
              <a:ext uri="{FF2B5EF4-FFF2-40B4-BE49-F238E27FC236}">
                <a16:creationId xmlns:a16="http://schemas.microsoft.com/office/drawing/2014/main" id="{5BF11BF1-E805-452A-BDB2-BB4613E9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AI TRPG Engine">
            <a:extLst xmlns:a="http://schemas.openxmlformats.org/drawingml/2006/main">
              <a:ext uri="{FF2B5EF4-FFF2-40B4-BE49-F238E27FC236}">
                <a16:creationId xmlns:a16="http://schemas.microsoft.com/office/drawing/2014/main" id="{591AA526-6506-410C-A0CC-7E5735BC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16" name="box-body-AI TRPG Engine">
            <a:extLst xmlns:a="http://schemas.openxmlformats.org/drawingml/2006/main">
              <a:ext uri="{FF2B5EF4-FFF2-40B4-BE49-F238E27FC236}">
                <a16:creationId xmlns:a16="http://schemas.microsoft.com/office/drawing/2014/main" id="{E1454233-416D-4276-A76E-870AAEF4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自然语言自由行动，同时用规则、状态和事件维护长期一致性。</a:t>
            </a:r>
          </a:p>
        </p:txBody>
      </p:sp>
      <p:sp>
        <p:nvSpPr>
          <p:cNvPr id="17" name="value">
            <a:extLst xmlns:a="http://schemas.openxmlformats.org/drawingml/2006/main">
              <a:ext uri="{FF2B5EF4-FFF2-40B4-BE49-F238E27FC236}">
                <a16:creationId xmlns:a16="http://schemas.microsoft.com/office/drawing/2014/main" id="{A1BC7C9F-6D2C-400C-BA0A-A28FDDE6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一句话价值</a:t>
            </a:r>
          </a:p>
        </p:txBody>
      </p:sp>
      <p:sp>
        <p:nvSpPr>
          <p:cNvPr id="18" name="value-statement">
            <a:extLst xmlns:a="http://schemas.openxmlformats.org/drawingml/2006/main">
              <a:ext uri="{FF2B5EF4-FFF2-40B4-BE49-F238E27FC236}">
                <a16:creationId xmlns:a16="http://schemas.microsoft.com/office/drawing/2014/main" id="{A2318513-781F-4634-9B63-CD3E7F4C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让玩家随时进入一场可保存、可追溯、可恢复的单人跑团。</a:t>
            </a:r>
          </a:p>
        </p:txBody>
      </p:sp>
    </p:spTree>
    <p:extLst>
      <p:ext uri="{BB962C8B-B14F-4D97-AF65-F5344CB8AC3E}">
        <p14:creationId xmlns:p14="http://schemas.microsoft.com/office/powerpoint/2010/main" val="12574724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D7051D20-7258-4CED-924B-BD19E630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  产品架构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67EEA8-8F83-4EAD-93E9-D45176C5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AI 负责叙事，确定性内核决定什么真正发生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810A7CD-E400-40C2-8E19-EC7109D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1994E55-8835-4B9F-9EC8-A0CBE0F1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E87A2892-6AF2-4A28-AEED-6D47602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8B8C28FB-D2D6-4749-BC33-99E8FB3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玩家交互层</a:t>
            </a:r>
          </a:p>
        </p:txBody>
      </p:sp>
      <p:sp>
        <p:nvSpPr>
          <p:cNvPr id="7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D76E458A-2C67-4ADF-9DCE-8481D6B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React 界面 · 人物卡 · 叙事 · 时间线</a:t>
            </a:r>
          </a:p>
        </p:txBody>
      </p:sp>
      <p:sp>
        <p:nvSpPr>
          <p:cNvPr id="8" name="layer-1">
            <a:extLst xmlns:a="http://schemas.openxmlformats.org/drawingml/2006/main">
              <a:ext uri="{FF2B5EF4-FFF2-40B4-BE49-F238E27FC236}">
                <a16:creationId xmlns:a16="http://schemas.microsoft.com/office/drawing/2014/main" id="{9DF96A02-6824-44EC-B1C0-AF3F42A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CF1E1744-5DA9-4CB7-B37E-1B7A557C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桌面与 AI 协调层</a:t>
            </a:r>
          </a:p>
        </p:txBody>
      </p:sp>
      <p:sp>
        <p:nvSpPr>
          <p:cNvPr id="1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58CA2D98-56D0-476B-8B7A-1D8BA81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86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Electron Main / Preload · Keeper · Model Gateway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06358B62-E911-4D97-B1E5-6C353C40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30A3042E-9206-425F-8841-B7B4329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9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确定性运行时</a:t>
            </a:r>
          </a:p>
        </p:txBody>
      </p:sp>
      <p:sp>
        <p:nvSpPr>
          <p:cNvPr id="13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6CB3514F-1B32-43C1-B2F8-373853CD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Turn Router · Rules · RNG · Validator · Events</a:t>
            </a:r>
          </a:p>
        </p:txBody>
      </p:sp>
      <p:sp>
        <p:nvSpPr>
          <p:cNvPr id="14" name="layer-3">
            <a:extLst xmlns:a="http://schemas.openxmlformats.org/drawingml/2006/main">
              <a:ext uri="{FF2B5EF4-FFF2-40B4-BE49-F238E27FC236}">
                <a16:creationId xmlns:a16="http://schemas.microsoft.com/office/drawing/2014/main" id="{B0C6CE98-743E-40D4-81D4-E90A047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BC64C776-71A5-4421-922F-D1C023FA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72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本地数据层</a:t>
            </a:r>
          </a:p>
        </p:txBody>
      </p:sp>
      <p:sp>
        <p:nvSpPr>
          <p:cNvPr id="16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2CA9F596-C7A1-48C1-9438-2DFF89A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SQLite · Current State · Immutable Event Log · Checkpoint</a:t>
            </a:r>
          </a:p>
        </p:txBody>
      </p:sp>
      <p:sp>
        <p:nvSpPr>
          <p:cNvPr id="17" name="arch-rule">
            <a:extLst xmlns:a="http://schemas.openxmlformats.org/drawingml/2006/main">
              <a:ext uri="{FF2B5EF4-FFF2-40B4-BE49-F238E27FC236}">
                <a16:creationId xmlns:a16="http://schemas.microsoft.com/office/drawing/2014/main" id="{4761C83C-8CB9-4E96-B0D2-2B6AE35E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核心边界</a:t>
            </a:r>
          </a:p>
        </p:txBody>
      </p:sp>
      <p:sp>
        <p:nvSpPr>
          <p:cNvPr id="18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A4BACCE0-D92D-4C8D-B2A9-ACA7E165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69C0F7CF-D17F-4F4D-BC42-51784237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AI 只生成候选和叙事</a:t>
            </a:r>
          </a:p>
        </p:txBody>
      </p:sp>
      <p:sp>
        <p:nvSpPr>
          <p:cNvPr id="20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69383C8A-F1F8-416B-9B4B-99BA311C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9BDF36FD-0CF9-4DCC-8CF0-2B36A73D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程序校验并原子提交</a:t>
            </a:r>
          </a:p>
        </p:txBody>
      </p:sp>
      <p:sp>
        <p:nvSpPr>
          <p:cNvPr id="22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52C6F2C4-7AEF-44EE-9CEE-A33E330E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EEC4512F-7AB1-482D-8144-8C930F18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Renderer 不直连 SQLite</a:t>
            </a:r>
          </a:p>
        </p:txBody>
      </p:sp>
      <p:sp>
        <p:nvSpPr>
          <p:cNvPr id="24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94CF07F6-E5CC-45C0-B968-1D518075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1D117153-A9AE-460E-B1A9-499BAFF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模型可以替换或降级</a:t>
            </a:r>
          </a:p>
        </p:txBody>
      </p:sp>
    </p:spTree>
    <p:extLst>
      <p:ext uri="{BB962C8B-B14F-4D97-AF65-F5344CB8AC3E}">
        <p14:creationId xmlns:p14="http://schemas.microsoft.com/office/powerpoint/2010/main" val="1664688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B3FEB670-C2F6-441F-82C5-6A1062DC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  核心功能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7B073EC-FF34-4A83-BB0E-0D582A8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四项核心能力组成完整的单人跑团闭环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1C33A737-CB2B-4849-BF93-755859F9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0452351-77D3-431B-BE0B-6CA7F1E7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box-01  创建角色">
            <a:extLst xmlns:a="http://schemas.openxmlformats.org/drawingml/2006/main">
              <a:ext uri="{FF2B5EF4-FFF2-40B4-BE49-F238E27FC236}">
                <a16:creationId xmlns:a16="http://schemas.microsoft.com/office/drawing/2014/main" id="{4C36495C-8FA9-4DEC-B3E3-5484D5C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01  创建角色">
            <a:extLst xmlns:a="http://schemas.openxmlformats.org/drawingml/2006/main">
              <a:ext uri="{FF2B5EF4-FFF2-40B4-BE49-F238E27FC236}">
                <a16:creationId xmlns:a16="http://schemas.microsoft.com/office/drawing/2014/main" id="{28E90869-6DD0-41D0-95B8-07A9C47C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01  创建角色">
            <a:extLst xmlns:a="http://schemas.openxmlformats.org/drawingml/2006/main">
              <a:ext uri="{FF2B5EF4-FFF2-40B4-BE49-F238E27FC236}">
                <a16:creationId xmlns:a16="http://schemas.microsoft.com/office/drawing/2014/main" id="{8DAA99F7-81C1-40DB-AE24-C21959C4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01  创建角色</a:t>
            </a:r>
          </a:p>
        </p:txBody>
      </p:sp>
      <p:sp>
        <p:nvSpPr>
          <p:cNvPr id="8" name="box-body-01  创建角色">
            <a:extLst xmlns:a="http://schemas.openxmlformats.org/drawingml/2006/main">
              <a:ext uri="{FF2B5EF4-FFF2-40B4-BE49-F238E27FC236}">
                <a16:creationId xmlns:a16="http://schemas.microsoft.com/office/drawing/2014/main" id="{E0E1A806-5807-40BF-94AF-AA27ABB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属性分配、正式人物卡、稳定实体身份</a:t>
            </a:r>
          </a:p>
        </p:txBody>
      </p:sp>
      <p:sp>
        <p:nvSpPr>
          <p:cNvPr id="9" name="box-02  自由行动">
            <a:extLst xmlns:a="http://schemas.openxmlformats.org/drawingml/2006/main">
              <a:ext uri="{FF2B5EF4-FFF2-40B4-BE49-F238E27FC236}">
                <a16:creationId xmlns:a16="http://schemas.microsoft.com/office/drawing/2014/main" id="{8E9229AA-3190-4834-9BFC-6E9431A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02  自由行动">
            <a:extLst xmlns:a="http://schemas.openxmlformats.org/drawingml/2006/main">
              <a:ext uri="{FF2B5EF4-FFF2-40B4-BE49-F238E27FC236}">
                <a16:creationId xmlns:a16="http://schemas.microsoft.com/office/drawing/2014/main" id="{BB7A6B37-A72F-4596-AB6A-64A3577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02  自由行动">
            <a:extLst xmlns:a="http://schemas.openxmlformats.org/drawingml/2006/main">
              <a:ext uri="{FF2B5EF4-FFF2-40B4-BE49-F238E27FC236}">
                <a16:creationId xmlns:a16="http://schemas.microsoft.com/office/drawing/2014/main" id="{E5FDF8C8-FBEC-4490-9EA6-7A7ED387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02  自由行动</a:t>
            </a:r>
          </a:p>
        </p:txBody>
      </p:sp>
      <p:sp>
        <p:nvSpPr>
          <p:cNvPr id="12" name="box-body-02  自由行动">
            <a:extLst xmlns:a="http://schemas.openxmlformats.org/drawingml/2006/main">
              <a:ext uri="{FF2B5EF4-FFF2-40B4-BE49-F238E27FC236}">
                <a16:creationId xmlns:a16="http://schemas.microsoft.com/office/drawing/2014/main" id="{CF549093-9C13-4A77-A262-BA0FC8D9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玩家用自然语言调查、交谈、移动或尝试</a:t>
            </a:r>
          </a:p>
        </p:txBody>
      </p:sp>
      <p:sp>
        <p:nvSpPr>
          <p:cNvPr id="13" name="box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5723CE26-C7F3-4D37-B2F6-40D64365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A20E1093-ABB8-4614-A4BC-D4BAE77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F0AB0E72-2D0A-4675-BF17-D7C4C1B4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67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03  检定与叙事</a:t>
            </a:r>
          </a:p>
        </p:txBody>
      </p:sp>
      <p:sp>
        <p:nvSpPr>
          <p:cNvPr id="16" name="box-body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E276690D-1D8D-4082-B679-0426C78C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系统先裁定并提交，再由 AI 生成主持人反馈</a:t>
            </a:r>
          </a:p>
        </p:txBody>
      </p:sp>
      <p:sp>
        <p:nvSpPr>
          <p:cNvPr id="17" name="box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47F2C98C-6C75-4B03-952C-736F4871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-accent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D96F6957-FDA7-4F57-9C71-DD8B5703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title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1C3BD185-DF04-4290-B7B2-03625AF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04  保存与恢复</a:t>
            </a:r>
          </a:p>
        </p:txBody>
      </p:sp>
      <p:sp>
        <p:nvSpPr>
          <p:cNvPr id="20" name="box-body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1BE43FCA-21A8-4F29-AA71-226A06D4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时间线、检查点、分支副本和战役备份</a:t>
            </a:r>
          </a:p>
        </p:txBody>
      </p:sp>
      <p:sp>
        <p:nvSpPr>
          <p:cNvPr id="21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3F3C223E-94EB-4134-A7E0-39C7A083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151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可接入本地模型或用户自己的云端模型密钥</a:t>
            </a:r>
          </a:p>
        </p:txBody>
      </p:sp>
    </p:spTree>
    <p:extLst>
      <p:ext uri="{BB962C8B-B14F-4D97-AF65-F5344CB8AC3E}">
        <p14:creationId xmlns:p14="http://schemas.microsoft.com/office/powerpoint/2010/main" val="1943450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yebrow-5">
            <a:extLst xmlns:a="http://schemas.openxmlformats.org/drawingml/2006/main">
              <a:ext uri="{FF2B5EF4-FFF2-40B4-BE49-F238E27FC236}">
                <a16:creationId xmlns:a16="http://schemas.microsoft.com/office/drawing/2014/main" id="{B738479F-33EB-403A-BAD8-61BA7219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  数据库与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CEFC11C-A92E-4B47-9FA5-0BB2B10B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状态 + 事件 + 类型化 API，让系统结果可验证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593226D1-2011-46DE-AFD9-8704875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75EB54F-F707-4825-A2FD-B4404E3C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data-title">
            <a:extLst xmlns:a="http://schemas.openxmlformats.org/drawingml/2006/main">
              <a:ext uri="{FF2B5EF4-FFF2-40B4-BE49-F238E27FC236}">
                <a16:creationId xmlns:a16="http://schemas.microsoft.com/office/drawing/2014/main" id="{DB842A95-A05C-41E0-AF02-928F0D0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SQLite 数据设计</a:t>
            </a:r>
          </a:p>
        </p:txBody>
      </p:sp>
      <p:sp>
        <p:nvSpPr>
          <p:cNvPr id="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C25FF68B-62FE-4E74-881F-077A9A7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53C58D92-2927-4FBC-AB37-76C3B1A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Current State：快速读取当前世界</a:t>
            </a:r>
          </a:p>
        </p:txBody>
      </p:sp>
      <p:sp>
        <p:nvSpPr>
          <p:cNvPr id="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AFD1EC79-FA84-44ED-B9E9-9D41E64C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77883602-19FE-4AC4-9567-6A6E4C7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Immutable Event Log：追溯变化原因</a:t>
            </a:r>
          </a:p>
        </p:txBody>
      </p:sp>
      <p:sp>
        <p:nvSpPr>
          <p:cNvPr id="1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01D2FA4A-5B70-462D-B711-0D5974BD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95FCE596-0CC6-46FE-B5FD-049A21D7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Checkpoint：恢复副本而不覆盖历史</a:t>
            </a:r>
          </a:p>
        </p:txBody>
      </p:sp>
      <p:sp>
        <p:nvSpPr>
          <p:cNvPr id="1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3A3D7A1C-6015-43A4-B891-D050362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6EA3E681-AC9E-4D1C-892F-A41CB119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Credential ID：数据库不保存明文密钥</a:t>
            </a:r>
          </a:p>
        </p:txBody>
      </p:sp>
      <p:sp>
        <p:nvSpPr>
          <p:cNvPr id="14" name="mid-rule">
            <a:extLst xmlns:a="http://schemas.openxmlformats.org/drawingml/2006/main">
              <a:ext uri="{FF2B5EF4-FFF2-40B4-BE49-F238E27FC236}">
                <a16:creationId xmlns:a16="http://schemas.microsoft.com/office/drawing/2014/main" id="{79C4C3E2-1809-4AF5-9E93-767D669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pi-title">
            <a:extLst xmlns:a="http://schemas.openxmlformats.org/drawingml/2006/main">
              <a:ext uri="{FF2B5EF4-FFF2-40B4-BE49-F238E27FC236}">
                <a16:creationId xmlns:a16="http://schemas.microsoft.com/office/drawing/2014/main" id="{EF81244C-91A9-47E7-8C63-4D8416B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类型化桌面 API</a:t>
            </a:r>
          </a:p>
        </p:txBody>
      </p:sp>
      <p:sp>
        <p:nvSpPr>
          <p:cNvPr id="1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0C067190-2808-49DF-B698-317A67F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9CDF2048-9B46-40DE-818D-CB9A89E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campaign:*  战役与人物</a:t>
            </a:r>
          </a:p>
        </p:txBody>
      </p:sp>
      <p:sp>
        <p:nvSpPr>
          <p:cNvPr id="1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92389638-DE5B-4392-94FA-CAF27D3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B2BE1BAD-D980-479F-AF2E-3B160718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turn:* / operation:*  回合与进度</a:t>
            </a:r>
          </a:p>
        </p:txBody>
      </p:sp>
      <p:sp>
        <p:nvSpPr>
          <p:cNvPr id="2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65CAB973-B69D-4FB9-ABEE-4F95EEE5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EC08A78E-4638-4A41-AB1F-0399402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timeline:* / checkpoint:*  历史与恢复</a:t>
            </a:r>
          </a:p>
        </p:txBody>
      </p:sp>
      <p:sp>
        <p:nvSpPr>
          <p:cNvPr id="2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E3095232-D93C-4C3E-91F6-5E93454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7AF3D879-A3E8-4BF7-8153-A8AF41F1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settings:* / backup:*  模型与备份</a:t>
            </a:r>
          </a:p>
        </p:txBody>
      </p:sp>
      <p:sp>
        <p:nvSpPr>
          <p:cNvPr id="24" name="api-bottom">
            <a:extLst xmlns:a="http://schemas.openxmlformats.org/drawingml/2006/main">
              <a:ext uri="{FF2B5EF4-FFF2-40B4-BE49-F238E27FC236}">
                <a16:creationId xmlns:a16="http://schemas.microsoft.com/office/drawing/2014/main" id="{100465FB-2CC9-4922-AD0F-0507A6B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版本冲突时拒绝提交；叙事失败也不会重复掷骰。</a:t>
            </a:r>
          </a:p>
        </p:txBody>
      </p:sp>
    </p:spTree>
    <p:extLst>
      <p:ext uri="{BB962C8B-B14F-4D97-AF65-F5344CB8AC3E}">
        <p14:creationId xmlns:p14="http://schemas.microsoft.com/office/powerpoint/2010/main" val="284890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3" name="Rectangle 5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6">
            <a:extLst xmlns:a="http://schemas.openxmlformats.org/drawingml/2006/main">
              <a:ext uri="{FF2B5EF4-FFF2-40B4-BE49-F238E27FC236}">
                <a16:creationId xmlns:a16="http://schemas.microsoft.com/office/drawing/2014/main" id="{6563EFEC-3CE6-4815-9BED-67B4383C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  系统演示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A734C85-17B6-4485-A968-8EBFA42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两分钟演示：从自然语言行动到可追溯结果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C5C12FD5-01D1-4FB9-8899-0103A9AF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08336D88-7D6E-44B6-A1D8-E949F48B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56B6E12C-E06C-474C-BD3C-31DC0358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text-0">
            <a:extLst xmlns:a="http://schemas.openxmlformats.org/drawingml/2006/main">
              <a:ext uri="{FF2B5EF4-FFF2-40B4-BE49-F238E27FC236}">
                <a16:creationId xmlns:a16="http://schemas.microsoft.com/office/drawing/2014/main" id="{0D5B9973-B34E-489A-94DA-52326681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640BB849-877E-4B59-8A68-8CAA408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打开预置战役</a:t>
            </a:r>
          </a:p>
        </p:txBody>
      </p:sp>
      <p:sp>
        <p:nvSpPr>
          <p:cNvPr id="8" name="step-line-0">
            <a:extLst xmlns:a="http://schemas.openxmlformats.org/drawingml/2006/main">
              <a:ext uri="{FF2B5EF4-FFF2-40B4-BE49-F238E27FC236}">
                <a16:creationId xmlns:a16="http://schemas.microsoft.com/office/drawing/2014/main" id="{8BC1F24A-A2AF-4530-A94F-90BC7044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006B152E-CF88-4B6D-8BA2-08383A2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2DAAFD90-0DAD-4043-A3E2-F0D756FF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EAF2DE70-9ADA-44F7-B89B-5CA8FD33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查看人物与场景</a:t>
            </a:r>
          </a:p>
        </p:txBody>
      </p:sp>
      <p:sp>
        <p:nvSpPr>
          <p:cNvPr id="12" name="step-line-1">
            <a:extLst xmlns:a="http://schemas.openxmlformats.org/drawingml/2006/main">
              <a:ext uri="{FF2B5EF4-FFF2-40B4-BE49-F238E27FC236}">
                <a16:creationId xmlns:a16="http://schemas.microsoft.com/office/drawing/2014/main" id="{5C7149D3-8A63-4358-9D5B-9655BFDC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B5B0AFF4-99B9-4B6D-906A-3875CB24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65ED9AEE-FEDE-4959-AA84-4842F8D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ext-2">
            <a:extLst xmlns:a="http://schemas.openxmlformats.org/drawingml/2006/main">
              <a:ext uri="{FF2B5EF4-FFF2-40B4-BE49-F238E27FC236}">
                <a16:creationId xmlns:a16="http://schemas.microsoft.com/office/drawing/2014/main" id="{CA1D4DFE-AE6D-4D4E-9ED3-0AC2B3A8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输入调查行动</a:t>
            </a:r>
          </a:p>
        </p:txBody>
      </p:sp>
      <p:sp>
        <p:nvSpPr>
          <p:cNvPr id="16" name="step-line-2">
            <a:extLst xmlns:a="http://schemas.openxmlformats.org/drawingml/2006/main">
              <a:ext uri="{FF2B5EF4-FFF2-40B4-BE49-F238E27FC236}">
                <a16:creationId xmlns:a16="http://schemas.microsoft.com/office/drawing/2014/main" id="{505FAD66-1D2F-4CED-A501-7EE8F5F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9B986F75-E19E-4420-BF78-50EEB1BF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EEF5C322-EE5C-45A5-8B94-B47F6B80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ext-3">
            <a:extLst xmlns:a="http://schemas.openxmlformats.org/drawingml/2006/main">
              <a:ext uri="{FF2B5EF4-FFF2-40B4-BE49-F238E27FC236}">
                <a16:creationId xmlns:a16="http://schemas.microsoft.com/office/drawing/2014/main" id="{81012298-4338-4029-B944-D639ED7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触发检定与叙事</a:t>
            </a:r>
          </a:p>
        </p:txBody>
      </p:sp>
      <p:sp>
        <p:nvSpPr>
          <p:cNvPr id="2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AFDE1A71-7B77-49DE-8E90-B2C1DEA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7203BA0F-4196-4934-AFCA-06433FC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-text-4">
            <a:extLst xmlns:a="http://schemas.openxmlformats.org/drawingml/2006/main">
              <a:ext uri="{FF2B5EF4-FFF2-40B4-BE49-F238E27FC236}">
                <a16:creationId xmlns:a16="http://schemas.microsoft.com/office/drawing/2014/main" id="{25535509-9F23-4DBB-9D36-5FF32D30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049A48C6-17A3-4BD9-9047-D8687AED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查看时间线/检查点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344c78f284e2b"/>
          <a:srcRect xmlns:a="http://schemas.openxmlformats.org/drawingml/2006/main" l="0" t="30800" r="0" b="30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250" y="4591050"/>
            <a:ext cx="8953500" cy="2076450"/>
          </a:xfrm>
          <a:prstGeom xmlns:a="http://schemas.openxmlformats.org/drawingml/2006/main" prst="rect">
            <a:avLst/>
          </a:prstGeom>
        </p:spPr>
      </p:pic>
      <p:sp>
        <p:nvSpPr>
          <p:cNvPr id="25" name="demo-product-border">
            <a:extLst xmlns:a="http://schemas.openxmlformats.org/drawingml/2006/main">
              <a:ext uri="{FF2B5EF4-FFF2-40B4-BE49-F238E27FC236}">
                <a16:creationId xmlns:a16="http://schemas.microsoft.com/office/drawing/2014/main" id="{BEEB9295-6CAB-4DAF-A5CC-2719B7C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8953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314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C687CED8-4C5D-46B9-8499-02D2661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  技术难点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74296FE-F083-4F3F-8851-F3EB92B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最关键的难点：避免 AI 把“说过的话”当成事实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063F8EF3-0CC3-49D2-9C26-26646ED5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388B364-D25E-481B-8F4C-95EBDF0B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wrong-title">
            <a:extLst xmlns:a="http://schemas.openxmlformats.org/drawingml/2006/main">
              <a:ext uri="{FF2B5EF4-FFF2-40B4-BE49-F238E27FC236}">
                <a16:creationId xmlns:a16="http://schemas.microsoft.com/office/drawing/2014/main" id="{EB4C0033-7598-4625-94D8-C928F91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6573"/>
                </a:solidFill>
              </a:defRPr>
            </a:pPr>
            <a:r>
              <a:rPr sz="1575" b="1">
                <a:solidFill>
                  <a:srgbClr val="5B6573"/>
                </a:solidFill>
              </a:rPr>
              <a:t>常见做法</a:t>
            </a:r>
          </a:p>
        </p:txBody>
      </p:sp>
      <p:sp>
        <p:nvSpPr>
          <p:cNvPr id="6" name="wrong-flow">
            <a:extLst xmlns:a="http://schemas.openxmlformats.org/drawingml/2006/main">
              <a:ext uri="{FF2B5EF4-FFF2-40B4-BE49-F238E27FC236}">
                <a16:creationId xmlns:a16="http://schemas.microsoft.com/office/drawing/2014/main" id="{27654637-EFB4-42E3-BCF9-EB7ABCA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玩家输入  →  AI 直接续写世界</a:t>
            </a:r>
          </a:p>
        </p:txBody>
      </p:sp>
      <p:sp>
        <p:nvSpPr>
          <p:cNvPr id="7" name="wrong-risk">
            <a:extLst xmlns:a="http://schemas.openxmlformats.org/drawingml/2006/main">
              <a:ext uri="{FF2B5EF4-FFF2-40B4-BE49-F238E27FC236}">
                <a16:creationId xmlns:a16="http://schemas.microsoft.com/office/drawing/2014/main" id="{F479CB67-1AC6-4E1A-934B-C01DFC2A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00000"/>
                </a:solidFill>
              </a:defRPr>
            </a:pPr>
            <a:r>
              <a:rPr sz="1425" b="0">
                <a:solidFill>
                  <a:srgbClr val="C00000"/>
                </a:solidFill>
              </a:rPr>
              <a:t>风险：结果不可验证，重试可能改变既有事实</a:t>
            </a:r>
          </a:p>
        </p:txBody>
      </p:sp>
      <p:sp>
        <p:nvSpPr>
          <p:cNvPr id="8" name="challenge-rule">
            <a:extLst xmlns:a="http://schemas.openxmlformats.org/drawingml/2006/main">
              <a:ext uri="{FF2B5EF4-FFF2-40B4-BE49-F238E27FC236}">
                <a16:creationId xmlns:a16="http://schemas.microsoft.com/office/drawing/2014/main" id="{FD5F4F85-D98A-4D22-85F7-00E2F3B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r-title">
            <a:extLst xmlns:a="http://schemas.openxmlformats.org/drawingml/2006/main">
              <a:ext uri="{FF2B5EF4-FFF2-40B4-BE49-F238E27FC236}">
                <a16:creationId xmlns:a16="http://schemas.microsoft.com/office/drawing/2014/main" id="{A438E038-BA3A-4E1C-BC41-A06EE65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我们的方案</a:t>
            </a:r>
          </a:p>
        </p:txBody>
      </p:sp>
      <p:sp>
        <p:nvSpPr>
          <p:cNvPr id="10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74A4CE50-000F-46D2-997F-ECC597C8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C064D833-09B6-40C7-A6D9-84F9FDA5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理解玩家意图</a:t>
            </a:r>
          </a:p>
        </p:txBody>
      </p:sp>
      <p:sp>
        <p:nvSpPr>
          <p:cNvPr id="12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D6ADFCD5-0856-4E25-9ABC-9D83F7D5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43A16025-ED68-42BE-B76B-3B50AC0C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规则与随机数裁定</a:t>
            </a:r>
          </a:p>
        </p:txBody>
      </p:sp>
      <p:sp>
        <p:nvSpPr>
          <p:cNvPr id="14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B83B2058-DC62-48C4-B52B-65F8BC7D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E8C2F799-9CCC-41E4-B4E7-1C4EC70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校验并提交状态/事件</a:t>
            </a:r>
          </a:p>
        </p:txBody>
      </p:sp>
      <p:sp>
        <p:nvSpPr>
          <p:cNvPr id="16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B5A20DFC-FF06-4D7D-A33B-ED76884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D66BB89C-4473-40BE-B7E1-75C65417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根据已提交结果生成叙事</a:t>
            </a:r>
          </a:p>
        </p:txBody>
      </p:sp>
      <p:sp>
        <p:nvSpPr>
          <p:cNvPr id="18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8E246090-F412-4E44-A014-F71798F4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结果：叙事可以重试，已经发生的事实不会重算。</a:t>
            </a:r>
          </a:p>
        </p:txBody>
      </p:sp>
    </p:spTree>
    <p:extLst>
      <p:ext uri="{BB962C8B-B14F-4D97-AF65-F5344CB8AC3E}">
        <p14:creationId xmlns:p14="http://schemas.microsoft.com/office/powerpoint/2010/main" val="1388548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7812ACB1-AD58-4EF3-A86B-3EE9AEC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  个人实践与实习收获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5EBA3C5-5F1B-49A2-BB61-5C5C6B1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独立完成产品，也重新认识了 AI 的工程边界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5A207F4F-410B-4764-9EB1-4B6A9CA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0B7A5134-CC37-4427-A47D-107B4A6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work-title">
            <a:extLst xmlns:a="http://schemas.openxmlformats.org/drawingml/2006/main">
              <a:ext uri="{FF2B5EF4-FFF2-40B4-BE49-F238E27FC236}">
                <a16:creationId xmlns:a16="http://schemas.microsoft.com/office/drawing/2014/main" id="{E0A3113B-1114-4D9F-8C0A-21F7D80E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个人完成的工作</a:t>
            </a:r>
          </a:p>
        </p:txBody>
      </p:sp>
      <p:sp>
        <p:nvSpPr>
          <p:cNvPr id="6" name="work-panel">
            <a:extLst xmlns:a="http://schemas.openxmlformats.org/drawingml/2006/main">
              <a:ext uri="{FF2B5EF4-FFF2-40B4-BE49-F238E27FC236}">
                <a16:creationId xmlns:a16="http://schemas.microsoft.com/office/drawing/2014/main" id="{CBA09049-8116-4796-AF36-C59046A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80-0">
            <a:extLst xmlns:a="http://schemas.openxmlformats.org/drawingml/2006/main">
              <a:ext uri="{FF2B5EF4-FFF2-40B4-BE49-F238E27FC236}">
                <a16:creationId xmlns:a16="http://schemas.microsoft.com/office/drawing/2014/main" id="{BFFB079E-6F35-40BC-8D6B-A06E4EBE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80-0">
            <a:extLst xmlns:a="http://schemas.openxmlformats.org/drawingml/2006/main">
              <a:ext uri="{FF2B5EF4-FFF2-40B4-BE49-F238E27FC236}">
                <a16:creationId xmlns:a16="http://schemas.microsoft.com/office/drawing/2014/main" id="{85EBC169-15FC-47CA-8DE2-92FB88F1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完成产品定位、架构设计与功能拆解</a:t>
            </a:r>
          </a:p>
        </p:txBody>
      </p:sp>
      <p:sp>
        <p:nvSpPr>
          <p:cNvPr id="9" name="bullet-dot-280-1">
            <a:extLst xmlns:a="http://schemas.openxmlformats.org/drawingml/2006/main">
              <a:ext uri="{FF2B5EF4-FFF2-40B4-BE49-F238E27FC236}">
                <a16:creationId xmlns:a16="http://schemas.microsoft.com/office/drawing/2014/main" id="{C6B3343F-9DA0-4365-8FAD-956CA62F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80-1">
            <a:extLst xmlns:a="http://schemas.openxmlformats.org/drawingml/2006/main">
              <a:ext uri="{FF2B5EF4-FFF2-40B4-BE49-F238E27FC236}">
                <a16:creationId xmlns:a16="http://schemas.microsoft.com/office/drawing/2014/main" id="{819A580D-A5AF-4407-A90E-EACBA523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5765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实现桌面界面、游戏内核与本地数据层</a:t>
            </a:r>
          </a:p>
        </p:txBody>
      </p:sp>
      <p:sp>
        <p:nvSpPr>
          <p:cNvPr id="11" name="bullet-dot-280-2">
            <a:extLst xmlns:a="http://schemas.openxmlformats.org/drawingml/2006/main">
              <a:ext uri="{FF2B5EF4-FFF2-40B4-BE49-F238E27FC236}">
                <a16:creationId xmlns:a16="http://schemas.microsoft.com/office/drawing/2014/main" id="{322F89BB-FF71-4BB9-8DD6-D4C48D0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72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80-2">
            <a:extLst xmlns:a="http://schemas.openxmlformats.org/drawingml/2006/main">
              <a:ext uri="{FF2B5EF4-FFF2-40B4-BE49-F238E27FC236}">
                <a16:creationId xmlns:a16="http://schemas.microsoft.com/office/drawing/2014/main" id="{EC454B58-C162-42D0-A94A-1F47F862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8630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接入模型、内容包、检查点与演示流程</a:t>
            </a:r>
          </a:p>
        </p:txBody>
      </p:sp>
      <p:sp>
        <p:nvSpPr>
          <p:cNvPr id="13" name="bullet-dot-280-3">
            <a:extLst xmlns:a="http://schemas.openxmlformats.org/drawingml/2006/main">
              <a:ext uri="{FF2B5EF4-FFF2-40B4-BE49-F238E27FC236}">
                <a16:creationId xmlns:a16="http://schemas.microsoft.com/office/drawing/2014/main" id="{671AB70C-2E35-404B-BDE9-BAAEEA9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0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80-3">
            <a:extLst xmlns:a="http://schemas.openxmlformats.org/drawingml/2006/main">
              <a:ext uri="{FF2B5EF4-FFF2-40B4-BE49-F238E27FC236}">
                <a16:creationId xmlns:a16="http://schemas.microsoft.com/office/drawing/2014/main" id="{3B5E768F-56B2-4925-B6AD-0470EE6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通过测试与复盘持续修正产品体验</a:t>
            </a:r>
          </a:p>
        </p:txBody>
      </p:sp>
      <p:sp>
        <p:nvSpPr>
          <p:cNvPr id="15" name="learn-title">
            <a:extLst xmlns:a="http://schemas.openxmlformats.org/drawingml/2006/main">
              <a:ext uri="{FF2B5EF4-FFF2-40B4-BE49-F238E27FC236}">
                <a16:creationId xmlns:a16="http://schemas.microsoft.com/office/drawing/2014/main" id="{0BEB4C55-27A3-407D-9D5E-3DF1D026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对 AI 的核心认知</a:t>
            </a:r>
          </a:p>
        </p:txBody>
      </p:sp>
      <p:sp>
        <p:nvSpPr>
          <p:cNvPr id="16" name="learn-panel">
            <a:extLst xmlns:a="http://schemas.openxmlformats.org/drawingml/2006/main">
              <a:ext uri="{FF2B5EF4-FFF2-40B4-BE49-F238E27FC236}">
                <a16:creationId xmlns:a16="http://schemas.microsoft.com/office/drawing/2014/main" id="{C89B464B-041F-4BCF-86C6-8DF3061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dot-272-0">
            <a:extLst xmlns:a="http://schemas.openxmlformats.org/drawingml/2006/main">
              <a:ext uri="{FF2B5EF4-FFF2-40B4-BE49-F238E27FC236}">
                <a16:creationId xmlns:a16="http://schemas.microsoft.com/office/drawing/2014/main" id="{20CF0BE6-E4CA-4FDE-9EB3-E580DAD2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72-0">
            <a:extLst xmlns:a="http://schemas.openxmlformats.org/drawingml/2006/main">
              <a:ext uri="{FF2B5EF4-FFF2-40B4-BE49-F238E27FC236}">
                <a16:creationId xmlns:a16="http://schemas.microsoft.com/office/drawing/2014/main" id="{CBFCA7B9-2E0E-4E7E-9C0D-5ABF607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模型能力不等于产品可靠性，关键事实要由程序约束</a:t>
            </a:r>
          </a:p>
        </p:txBody>
      </p:sp>
      <p:sp>
        <p:nvSpPr>
          <p:cNvPr id="19" name="bullet-dot-272-1">
            <a:extLst xmlns:a="http://schemas.openxmlformats.org/drawingml/2006/main">
              <a:ext uri="{FF2B5EF4-FFF2-40B4-BE49-F238E27FC236}">
                <a16:creationId xmlns:a16="http://schemas.microsoft.com/office/drawing/2014/main" id="{E5D7807E-D80F-446D-A1AD-ECF83924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2-1">
            <a:extLst xmlns:a="http://schemas.openxmlformats.org/drawingml/2006/main">
              <a:ext uri="{FF2B5EF4-FFF2-40B4-BE49-F238E27FC236}">
                <a16:creationId xmlns:a16="http://schemas.microsoft.com/office/drawing/2014/main" id="{EBAB42DE-1DCD-4040-BCF5-8F38161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0025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本地模型需要按任务做参数、提示词与上下文调优</a:t>
            </a:r>
          </a:p>
        </p:txBody>
      </p:sp>
      <p:sp>
        <p:nvSpPr>
          <p:cNvPr id="21" name="bullet-dot-272-2">
            <a:extLst xmlns:a="http://schemas.openxmlformats.org/drawingml/2006/main">
              <a:ext uri="{FF2B5EF4-FFF2-40B4-BE49-F238E27FC236}">
                <a16:creationId xmlns:a16="http://schemas.microsoft.com/office/drawing/2014/main" id="{EFACFEF9-57B2-482D-851A-6165E65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2-2">
            <a:extLst xmlns:a="http://schemas.openxmlformats.org/drawingml/2006/main">
              <a:ext uri="{FF2B5EF4-FFF2-40B4-BE49-F238E27FC236}">
                <a16:creationId xmlns:a16="http://schemas.microsoft.com/office/drawing/2014/main" id="{900004AA-1EB6-452F-92F2-9D23BEFD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67250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针对性适配比盲目追求大模型规模更重要</a:t>
            </a:r>
          </a:p>
        </p:txBody>
      </p:sp>
      <p:sp>
        <p:nvSpPr>
          <p:cNvPr id="23" name="bullet-dot-272-3">
            <a:extLst xmlns:a="http://schemas.openxmlformats.org/drawingml/2006/main">
              <a:ext uri="{FF2B5EF4-FFF2-40B4-BE49-F238E27FC236}">
                <a16:creationId xmlns:a16="http://schemas.microsoft.com/office/drawing/2014/main" id="{A6BBEDF1-B228-4755-9040-633A677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10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2-3">
            <a:extLst xmlns:a="http://schemas.openxmlformats.org/drawingml/2006/main">
              <a:ext uri="{FF2B5EF4-FFF2-40B4-BE49-F238E27FC236}">
                <a16:creationId xmlns:a16="http://schemas.microsoft.com/office/drawing/2014/main" id="{55DF45F2-BD8E-49A6-9E01-01426AE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24475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结构化输出、评测和失败降级决定实际可用性</a:t>
            </a:r>
          </a:p>
        </p:txBody>
      </p:sp>
      <p:sp>
        <p:nvSpPr>
          <p:cNvPr id="25" name="learn-note">
            <a:extLst xmlns:a="http://schemas.openxmlformats.org/drawingml/2006/main">
              <a:ext uri="{FF2B5EF4-FFF2-40B4-BE49-F238E27FC236}">
                <a16:creationId xmlns:a16="http://schemas.microsoft.com/office/drawing/2014/main" id="{C57FB4AC-729B-4B8C-8D9A-B73437E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91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最大的收获：从“会调用 AI”，走向“能让 AI 在明确边界内稳定完成任务”。</a:t>
            </a:r>
          </a:p>
        </p:txBody>
      </p:sp>
    </p:spTree>
    <p:extLst>
      <p:ext uri="{BB962C8B-B14F-4D97-AF65-F5344CB8AC3E}">
        <p14:creationId xmlns:p14="http://schemas.microsoft.com/office/powerpoint/2010/main" val="485647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yebrow-9">
            <a:extLst xmlns:a="http://schemas.openxmlformats.org/drawingml/2006/main">
              <a:ext uri="{FF2B5EF4-FFF2-40B4-BE49-F238E27FC236}">
                <a16:creationId xmlns:a16="http://schemas.microsoft.com/office/drawing/2014/main" id="{A51471FF-A1D1-4533-AFC9-11E5C24A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08  版本演进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35B4888-511C-4AD0-8D92-3A238B5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从可分发的 V0.1，走向完整的 V1.0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ABC2DFBD-7452-446D-B1B1-7CF653AE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EFD3D0DC-54EA-4DDF-A146-BC5133A1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5" name="v01-label">
            <a:extLst xmlns:a="http://schemas.openxmlformats.org/drawingml/2006/main">
              <a:ext uri="{FF2B5EF4-FFF2-40B4-BE49-F238E27FC236}">
                <a16:creationId xmlns:a16="http://schemas.microsoft.com/office/drawing/2014/main" id="{7D649029-6D8F-4F68-BE61-BC340CDD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V0.1  ·  已经完成</a:t>
            </a:r>
          </a:p>
        </p:txBody>
      </p:sp>
      <p:sp>
        <p:nvSpPr>
          <p:cNvPr id="6" name="v01-panel">
            <a:extLst xmlns:a="http://schemas.openxmlformats.org/drawingml/2006/main">
              <a:ext uri="{FF2B5EF4-FFF2-40B4-BE49-F238E27FC236}">
                <a16:creationId xmlns:a16="http://schemas.microsoft.com/office/drawing/2014/main" id="{DBE5FB6B-E8CD-40E4-BC17-C556640F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CBE267BD-4D88-4A89-803E-09AF25ED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E1D3ECE2-4591-4FEB-B482-E8ABAC33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909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可安装、可独立启动的桌面产品</a:t>
            </a:r>
          </a:p>
        </p:txBody>
      </p:sp>
      <p:sp>
        <p:nvSpPr>
          <p:cNvPr id="9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CE19EDB3-B5A8-4F9B-A3D2-8041631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AAC83446-5E17-44E4-8567-8E084ADA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9572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角色创建、战役与自然语言行动</a:t>
            </a:r>
          </a:p>
        </p:txBody>
      </p:sp>
      <p:sp>
        <p:nvSpPr>
          <p:cNvPr id="11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D42F6664-918C-4741-BC67-70C24C5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C4865ADB-69D7-46A6-81D2-E29E3BF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0055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规则检定、AI 叙事与权威状态</a:t>
            </a:r>
          </a:p>
        </p:txBody>
      </p:sp>
      <p:sp>
        <p:nvSpPr>
          <p:cNvPr id="13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BB508A12-0B67-4CF4-AE00-AEECF7B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D0932F55-A763-4051-A3D6-E4CBC34B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0537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时间线、检查点和基础恢复</a:t>
            </a:r>
          </a:p>
        </p:txBody>
      </p:sp>
      <p:sp>
        <p:nvSpPr>
          <p:cNvPr id="15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B4184C2D-23A5-4D72-A109-56F21B7B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1AA735E6-4634-4E6F-B364-90260F0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模型配置与内容基础接入</a:t>
            </a:r>
          </a:p>
        </p:txBody>
      </p:sp>
      <p:sp>
        <p:nvSpPr>
          <p:cNvPr id="17" name="v10-label">
            <a:extLst xmlns:a="http://schemas.openxmlformats.org/drawingml/2006/main">
              <a:ext uri="{FF2B5EF4-FFF2-40B4-BE49-F238E27FC236}">
                <a16:creationId xmlns:a16="http://schemas.microsoft.com/office/drawing/2014/main" id="{86579AB7-294C-488C-97CB-D5B30AD8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V1.0  ·  完整产品形态</a:t>
            </a:r>
          </a:p>
        </p:txBody>
      </p:sp>
      <p:sp>
        <p:nvSpPr>
          <p:cNvPr id="18" name="v10-panel">
            <a:extLst xmlns:a="http://schemas.openxmlformats.org/drawingml/2006/main">
              <a:ext uri="{FF2B5EF4-FFF2-40B4-BE49-F238E27FC236}">
                <a16:creationId xmlns:a16="http://schemas.microsoft.com/office/drawing/2014/main" id="{23C62915-41E4-4710-B5BB-C36FF55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AE33AC83-4409-4864-A7BC-37B564D4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8068EE98-87F7-4997-9703-493C4C80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目标战役长度内的长期一致性</a:t>
            </a:r>
          </a:p>
        </p:txBody>
      </p:sp>
      <p:sp>
        <p:nvSpPr>
          <p:cNvPr id="21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EA71E801-8B80-4D82-A4D4-6F2C77D1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67D71DB3-34C6-4982-8CEF-0237015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9572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文字卡、轻量内容与剧本包兼容</a:t>
            </a:r>
          </a:p>
        </p:txBody>
      </p:sp>
      <p:sp>
        <p:nvSpPr>
          <p:cNvPr id="23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A78822C9-D6B9-421B-82C8-70C9F29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E72E215A-DAE2-4385-A9C0-8E1A9EE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Scenario Pack 制作与发布路径</a:t>
            </a:r>
          </a:p>
        </p:txBody>
      </p:sp>
      <p:sp>
        <p:nvSpPr>
          <p:cNvPr id="25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93A22D93-876A-4C59-A10E-5A79483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27ED53EF-16AE-448A-9F50-77FB3101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0537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模型替换、失败降级和成本控制</a:t>
            </a:r>
          </a:p>
        </p:txBody>
      </p:sp>
      <p:sp>
        <p:nvSpPr>
          <p:cNvPr id="27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47250A55-7297-421E-AB45-FF2C5989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4FF5790C-4A07-4841-BFE1-6EED1845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102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存档回滚、分支、迁移与完整文档</a:t>
            </a:r>
          </a:p>
        </p:txBody>
      </p:sp>
      <p:sp>
        <p:nvSpPr>
          <p:cNvPr id="29" name="version-boundary">
            <a:extLst xmlns:a="http://schemas.openxmlformats.org/drawingml/2006/main">
              <a:ext uri="{FF2B5EF4-FFF2-40B4-BE49-F238E27FC236}">
                <a16:creationId xmlns:a16="http://schemas.microsoft.com/office/drawing/2014/main" id="{E65C354D-4BB7-41EB-A739-C795CADC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629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V1.0 仍聚焦 AI 主持的单人跑团；多人实时联机与真人 GM 工作台属于远期方向。</a:t>
            </a:r>
          </a:p>
        </p:txBody>
      </p:sp>
    </p:spTree>
    <p:extLst>
      <p:ext uri="{BB962C8B-B14F-4D97-AF65-F5344CB8AC3E}">
        <p14:creationId xmlns:p14="http://schemas.microsoft.com/office/powerpoint/2010/main" val="1104342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31E78810-8C67-4FF6-953F-206D4D4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AI TRPG ENGINE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6EC43FE-C8D3-4A06-9970-FBCA767D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 AI 成为主持人，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让程序守住世界的事实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B0AD1C6E-1FD4-4274-8564-4E40EBD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当前成果：完整试玩闭环 · 本地权威状态 · 可替换模型 · 可恢复历史</a:t>
            </a:r>
          </a:p>
        </p:txBody>
      </p:sp>
      <p:sp>
        <p:nvSpPr>
          <p:cNvPr id="4" name="close-future">
            <a:extLst xmlns:a="http://schemas.openxmlformats.org/drawingml/2006/main">
              <a:ext uri="{FF2B5EF4-FFF2-40B4-BE49-F238E27FC236}">
                <a16:creationId xmlns:a16="http://schemas.microsoft.com/office/drawing/2014/main" id="{A3B7C4BB-D2C6-4DB6-93E6-ED05F25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CBF4"/>
                </a:solidFill>
              </a:defRPr>
            </a:pPr>
            <a:r>
              <a:rPr sz="1575" b="0">
                <a:solidFill>
                  <a:srgbClr val="6DCBF4"/>
                </a:solidFill>
              </a:rPr>
              <a:t>下一步：增强长期记忆与内容工具，并逐步探索多人协作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D8F31D0B-228D-4FA6-918E-6DBCB74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a">
            <a:extLst xmlns:a="http://schemas.openxmlformats.org/drawingml/2006/main">
              <a:ext uri="{FF2B5EF4-FFF2-40B4-BE49-F238E27FC236}">
                <a16:creationId xmlns:a16="http://schemas.microsoft.com/office/drawing/2014/main" id="{1CA38994-906C-4E64-A881-4C4B80C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219AF5CE-5738-452A-82D9-C0F844C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感谢各位老师指导</a:t>
            </a:r>
          </a:p>
        </p:txBody>
      </p:sp>
    </p:spTree>
    <p:extLst>
      <p:ext uri="{BB962C8B-B14F-4D97-AF65-F5344CB8AC3E}">
        <p14:creationId xmlns:p14="http://schemas.microsoft.com/office/powerpoint/2010/main" val="618580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2026-08-25T06:04:43.0080000Z</dcterms:created>
  <dcterms:modified xsi:type="dcterms:W3CDTF">2026-08-25T06:04:43.0090000Z</dcterms:modified>
</coreProperties>
</file>