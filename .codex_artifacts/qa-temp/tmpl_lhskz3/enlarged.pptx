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873ebeee124909" Type="http://schemas.openxmlformats.org/package/2006/relationships/metadata/core-properties" Target="docProps/core.xml"/><Relationship Id="Ra6d287cf49ac41b5" Type="http://schemas.openxmlformats.org/officeDocument/2006/relationships/extended-properties" Target="docProps/app.xml"/><Relationship Id="Rfc8ae079607544d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1960c710244f1"/>
  </p:sldMasterIdLst>
  <p:notesMasterIdLst>
    <p:notesMasterId xmlns:r="http://schemas.openxmlformats.org/officeDocument/2006/relationships" r:id="Rf331ff67c95c4564"/>
  </p:notesMasterIdLst>
  <p:sldIdLst>
    <p:sldId xmlns:r="http://schemas.openxmlformats.org/officeDocument/2006/relationships" id="256" r:id="R6f4c80eb07794016"/>
    <p:sldId xmlns:r="http://schemas.openxmlformats.org/officeDocument/2006/relationships" id="257" r:id="R0b0444a53c554704"/>
    <p:sldId xmlns:r="http://schemas.openxmlformats.org/officeDocument/2006/relationships" id="258" r:id="R1e31769b49664184"/>
    <p:sldId xmlns:r="http://schemas.openxmlformats.org/officeDocument/2006/relationships" id="259" r:id="R96287f3e5fe44459"/>
    <p:sldId xmlns:r="http://schemas.openxmlformats.org/officeDocument/2006/relationships" id="260" r:id="R7632da07d33e4bb3"/>
    <p:sldId xmlns:r="http://schemas.openxmlformats.org/officeDocument/2006/relationships" id="261" r:id="R4c79c84646094269"/>
    <p:sldId xmlns:r="http://schemas.openxmlformats.org/officeDocument/2006/relationships" id="262" r:id="Rb55ef821ba834b0c"/>
    <p:sldId xmlns:r="http://schemas.openxmlformats.org/officeDocument/2006/relationships" id="263" r:id="R35b7f05580654393"/>
    <p:sldId xmlns:r="http://schemas.openxmlformats.org/officeDocument/2006/relationships" id="264" r:id="R5a15eb66eec74cca"/>
    <p:sldId xmlns:r="http://schemas.openxmlformats.org/officeDocument/2006/relationships" id="265" r:id="R49e1afb6cb624b2c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6ad920ddbe4783" Type="http://schemas.openxmlformats.org/officeDocument/2006/relationships/theme" Target="theme/theme1.xml"/><Relationship Id="R0b0444a53c554704" Type="http://schemas.openxmlformats.org/officeDocument/2006/relationships/slide" Target="slides/slide2.xml"/><Relationship Id="R1e31769b49664184" Type="http://schemas.openxmlformats.org/officeDocument/2006/relationships/slide" Target="slides/slide3.xml"/><Relationship Id="R35b7f05580654393" Type="http://schemas.openxmlformats.org/officeDocument/2006/relationships/slide" Target="slides/slide8.xml"/><Relationship Id="R39d1960c710244f1" Type="http://schemas.openxmlformats.org/officeDocument/2006/relationships/slideMaster" Target="slideMasters/slideMaster1.xml"/><Relationship Id="R49e1afb6cb624b2c" Type="http://schemas.openxmlformats.org/officeDocument/2006/relationships/slide" Target="slides/slide10.xml"/><Relationship Id="R4c79c84646094269" Type="http://schemas.openxmlformats.org/officeDocument/2006/relationships/slide" Target="slides/slide6.xml"/><Relationship Id="R5a15eb66eec74cca" Type="http://schemas.openxmlformats.org/officeDocument/2006/relationships/slide" Target="slides/slide9.xml"/><Relationship Id="R6e34cf10d0e34a6a" Type="http://schemas.openxmlformats.org/officeDocument/2006/relationships/presProps" Target="presProps.xml"/><Relationship Id="R6f4c80eb07794016" Type="http://schemas.openxmlformats.org/officeDocument/2006/relationships/slide" Target="slides/slide1.xml"/><Relationship Id="R7632da07d33e4bb3" Type="http://schemas.openxmlformats.org/officeDocument/2006/relationships/slide" Target="slides/slide5.xml"/><Relationship Id="R8ed18197647a4ea5" Type="http://schemas.openxmlformats.org/officeDocument/2006/relationships/tableStyles" Target="tableStyles.xml"/><Relationship Id="R96287f3e5fe44459" Type="http://schemas.openxmlformats.org/officeDocument/2006/relationships/slide" Target="slides/slide4.xml"/><Relationship Id="Rb55ef821ba834b0c" Type="http://schemas.openxmlformats.org/officeDocument/2006/relationships/slide" Target="slides/slide7.xml"/><Relationship Id="Rf331ff67c95c456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95a2072fcee747b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052ac7678134ecf" Type="http://schemas.openxmlformats.org/officeDocument/2006/relationships/slide" Target="../slides/slide1.xml"/><Relationship Id="Rdbde22516a43430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ccdfca0cceb4501" Type="http://schemas.openxmlformats.org/officeDocument/2006/relationships/notesMaster" Target="../notesMasters/notesMaster1.xml"/><Relationship Id="Rf8c739046fa2455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e6eae77db9143b4" Type="http://schemas.openxmlformats.org/officeDocument/2006/relationships/notesMaster" Target="../notesMasters/notesMaster1.xml"/><Relationship Id="Ra338cbf029f54ec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c4b5561048c42b0" Type="http://schemas.openxmlformats.org/officeDocument/2006/relationships/slide" Target="../slides/slide4.xml"/><Relationship Id="Re47dd27330b2437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cd57cd2ad3244e7" Type="http://schemas.openxmlformats.org/officeDocument/2006/relationships/slide" Target="../slides/slide5.xml"/><Relationship Id="Rd158d55ce4754bc9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934c793a75441c5" Type="http://schemas.openxmlformats.org/officeDocument/2006/relationships/slide" Target="../slides/slide6.xml"/><Relationship Id="Rfa4859eb7f204c7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cece75f25494def" Type="http://schemas.openxmlformats.org/officeDocument/2006/relationships/slide" Target="../slides/slide7.xml"/><Relationship Id="Rdaf54cefae1d40eb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2ced1f15a354cef" Type="http://schemas.openxmlformats.org/officeDocument/2006/relationships/notesMaster" Target="../notesMasters/notesMaster1.xml"/><Relationship Id="Rf556f5967b8b447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9ec2fae12a74924" Type="http://schemas.openxmlformats.org/officeDocument/2006/relationships/slide" Target="../slides/slide9.xml"/><Relationship Id="Reffd9be0d74e43f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cbc300abf62470b" Type="http://schemas.openxmlformats.org/officeDocument/2006/relationships/notesMaster" Target="../notesMasters/notesMaster1.xml"/><Relationship Id="R4c53cb6d11914ed0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dd49828c7e04c8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020af3a677144c6" Type="http://schemas.openxmlformats.org/officeDocument/2006/relationships/theme" Target="theme/theme2.xml"/><Relationship Id="Rd2076330a1b0431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76330a1b0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84ce3cc9ccc4360" Type="http://schemas.openxmlformats.org/officeDocument/2006/relationships/notesSlide" Target="../notesSlides/notesSlide1.xml"/><Relationship Id="R86be250f140f42f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fa9f371a1eb43fe" Type="http://schemas.openxmlformats.org/officeDocument/2006/relationships/notesSlide" Target="../notesSlides/notesSlide2.xml"/><Relationship Id="Rb5fab145de154818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e3a89ace0da4e95" Type="http://schemas.openxmlformats.org/officeDocument/2006/relationships/slideLayout" Target="../slideLayouts/slideLayout1.xml"/><Relationship Id="Rc89bff61be08487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dcac188c87fe418d" Type="http://schemas.openxmlformats.org/officeDocument/2006/relationships/notesSlide" Target="../notesSlides/notesSlide4.xml"/><Relationship Id="Redbf74a44d334fa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c1aa28101bc4fbd" Type="http://schemas.openxmlformats.org/officeDocument/2006/relationships/notesSlide" Target="../notesSlides/notesSlide5.xml"/><Relationship Id="Rf1924c9225484c4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73fe25b69644a57" Type="http://schemas.openxmlformats.org/officeDocument/2006/relationships/slideLayout" Target="../slideLayouts/slideLayout1.xml"/><Relationship Id="Ra3f77a349ab6487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8cc56c0405348c7" Type="http://schemas.openxmlformats.org/officeDocument/2006/relationships/slideLayout" Target="../slideLayouts/slideLayout1.xml"/><Relationship Id="R9275a0c3c15c4a0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b33bf7c82f4b41d7" Type="http://schemas.openxmlformats.org/officeDocument/2006/relationships/notesSlide" Target="../notesSlides/notesSlide8.xml"/><Relationship Id="Rf44eda47068e4cc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0c73d926c944beb" Type="http://schemas.openxmlformats.org/officeDocument/2006/relationships/notesSlide" Target="../notesSlides/notesSlide9.xml"/><Relationship Id="R9e37ad56cc2445b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8b08b4b8a24b4a9c" Type="http://schemas.openxmlformats.org/officeDocument/2006/relationships/notesSlide" Target="../notesSlides/notesSlide10.xml"/><Relationship Id="Ra7589e218ab24307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ver-field">
            <a:extLst xmlns:a="http://schemas.openxmlformats.org/drawingml/2006/main">
              <a:ext uri="{FF2B5EF4-FFF2-40B4-BE49-F238E27FC236}">
                <a16:creationId xmlns:a16="http://schemas.microsoft.com/office/drawing/2014/main" id="{E0BAFD71-9B9F-4E34-97CD-6F588F59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ar">
            <a:extLst xmlns:a="http://schemas.openxmlformats.org/drawingml/2006/main">
              <a:ext uri="{FF2B5EF4-FFF2-40B4-BE49-F238E27FC236}">
                <a16:creationId xmlns:a16="http://schemas.microsoft.com/office/drawing/2014/main" id="{5C26019D-AAA6-4C6A-BAE7-2903837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4148C08-79FA-45E8-8084-3218F82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毕业实习项目答辩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783187B-8FCF-45D7-AC1F-C1CA522D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ABF329B-4928-48BB-83D5-6FA110F2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本地优先的 AI 单人跑团桌面引擎</a:t>
            </a:r>
          </a:p>
        </p:txBody>
      </p:sp>
      <p:sp>
        <p:nvSpPr>
          <p:cNvPr id="6" name="cover-value">
            <a:extLst xmlns:a="http://schemas.openxmlformats.org/drawingml/2006/main">
              <a:ext uri="{FF2B5EF4-FFF2-40B4-BE49-F238E27FC236}">
                <a16:creationId xmlns:a16="http://schemas.microsoft.com/office/drawing/2014/main" id="{782F6304-2511-47B9-B7A8-2C6AEE6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AI 负责理解与叙事，程序负责规则与事实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E0AF3E12-DA73-4007-A9E9-856F09C9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组号：【待替换：组号】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组长：【待替换：组长姓名】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成员：【待替换：全部成员姓名】</a:t>
            </a:r>
          </a:p>
        </p:txBody>
      </p:sp>
      <p:sp>
        <p:nvSpPr>
          <p:cNvPr id="8" name="placeholder-产品主界面截图或产品氛围图">
            <a:extLst xmlns:a="http://schemas.openxmlformats.org/drawingml/2006/main">
              <a:ext uri="{FF2B5EF4-FFF2-40B4-BE49-F238E27FC236}">
                <a16:creationId xmlns:a16="http://schemas.microsoft.com/office/drawing/2014/main" id="{3BDD5CFD-17A8-4D99-903A-0596BF80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34290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laceholder-text-产品主界面截图或产品氛围图">
            <a:extLst xmlns:a="http://schemas.openxmlformats.org/drawingml/2006/main">
              <a:ext uri="{FF2B5EF4-FFF2-40B4-BE49-F238E27FC236}">
                <a16:creationId xmlns:a16="http://schemas.microsoft.com/office/drawing/2014/main" id="{1E9BE5F6-BB11-4BF7-8243-F9E8F46C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【待替换：产品主界面截图或产品氛围图】</a:t>
            </a:r>
          </a:p>
        </p:txBody>
      </p:sp>
    </p:spTree>
    <p:extLst>
      <p:ext uri="{BB962C8B-B14F-4D97-AF65-F5344CB8AC3E}">
        <p14:creationId xmlns:p14="http://schemas.microsoft.com/office/powerpoint/2010/main" val="585675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E994F07C-8621-4446-91FF-2F9E6DCB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  产品场景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A663146-EF13-454F-A322-4648FA3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我们要解决的不是“聊天”，而是一场能持续的游戏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7A67FB07-111E-468F-BEB4-ADBF18C3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DBDFDEE-E99C-4DFD-810A-84D155DC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box-现实跑团">
            <a:extLst xmlns:a="http://schemas.openxmlformats.org/drawingml/2006/main">
              <a:ext uri="{FF2B5EF4-FFF2-40B4-BE49-F238E27FC236}">
                <a16:creationId xmlns:a16="http://schemas.microsoft.com/office/drawing/2014/main" id="{B132E665-A498-4EC6-8815-6A7132E0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现实跑团">
            <a:extLst xmlns:a="http://schemas.openxmlformats.org/drawingml/2006/main">
              <a:ext uri="{FF2B5EF4-FFF2-40B4-BE49-F238E27FC236}">
                <a16:creationId xmlns:a16="http://schemas.microsoft.com/office/drawing/2014/main" id="{0ED2B101-244B-4BE2-BC07-66433DF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现实跑团">
            <a:extLst xmlns:a="http://schemas.openxmlformats.org/drawingml/2006/main">
              <a:ext uri="{FF2B5EF4-FFF2-40B4-BE49-F238E27FC236}">
                <a16:creationId xmlns:a16="http://schemas.microsoft.com/office/drawing/2014/main" id="{A08D3320-D376-42F4-96E4-D1F2087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现实跑团</a:t>
            </a:r>
          </a:p>
        </p:txBody>
      </p:sp>
      <p:sp>
        <p:nvSpPr>
          <p:cNvPr id="8" name="box-body-现实跑团">
            <a:extLst xmlns:a="http://schemas.openxmlformats.org/drawingml/2006/main">
              <a:ext uri="{FF2B5EF4-FFF2-40B4-BE49-F238E27FC236}">
                <a16:creationId xmlns:a16="http://schemas.microsoft.com/office/drawing/2014/main" id="{FFC37F65-5990-43B7-AC18-5B0CF29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需要主持人、玩家和连续时间安排，组织成本高。</a:t>
            </a:r>
          </a:p>
        </p:txBody>
      </p:sp>
      <p:sp>
        <p:nvSpPr>
          <p:cNvPr id="9" name="box-普通 AI 对话">
            <a:extLst xmlns:a="http://schemas.openxmlformats.org/drawingml/2006/main">
              <a:ext uri="{FF2B5EF4-FFF2-40B4-BE49-F238E27FC236}">
                <a16:creationId xmlns:a16="http://schemas.microsoft.com/office/drawing/2014/main" id="{9706DBC5-12F5-4835-BE73-93D9D8B5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普通 AI 对话">
            <a:extLst xmlns:a="http://schemas.openxmlformats.org/drawingml/2006/main">
              <a:ext uri="{FF2B5EF4-FFF2-40B4-BE49-F238E27FC236}">
                <a16:creationId xmlns:a16="http://schemas.microsoft.com/office/drawing/2014/main" id="{1D350C3D-E1A9-474C-81AD-D756D064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普通 AI 对话">
            <a:extLst xmlns:a="http://schemas.openxmlformats.org/drawingml/2006/main">
              <a:ext uri="{FF2B5EF4-FFF2-40B4-BE49-F238E27FC236}">
                <a16:creationId xmlns:a16="http://schemas.microsoft.com/office/drawing/2014/main" id="{1B1FE4DF-A140-48B4-B38F-7FEA565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普通 AI 对话</a:t>
            </a:r>
          </a:p>
        </p:txBody>
      </p:sp>
      <p:sp>
        <p:nvSpPr>
          <p:cNvPr id="12" name="box-body-普通 AI 对话">
            <a:extLst xmlns:a="http://schemas.openxmlformats.org/drawingml/2006/main">
              <a:ext uri="{FF2B5EF4-FFF2-40B4-BE49-F238E27FC236}">
                <a16:creationId xmlns:a16="http://schemas.microsoft.com/office/drawing/2014/main" id="{A7E46EC8-576B-420E-88E4-25B0BA5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叙事自由，但关键人物、道具和既有结果容易被遗忘或改写。</a:t>
            </a:r>
          </a:p>
        </p:txBody>
      </p:sp>
      <p:sp>
        <p:nvSpPr>
          <p:cNvPr id="13" name="box-AI TRPG Engine">
            <a:extLst xmlns:a="http://schemas.openxmlformats.org/drawingml/2006/main">
              <a:ext uri="{FF2B5EF4-FFF2-40B4-BE49-F238E27FC236}">
                <a16:creationId xmlns:a16="http://schemas.microsoft.com/office/drawing/2014/main" id="{9E2FAE4A-3A39-430C-B4B4-A09D6EA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3695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AI TRPG Engine">
            <a:extLst xmlns:a="http://schemas.openxmlformats.org/drawingml/2006/main">
              <a:ext uri="{FF2B5EF4-FFF2-40B4-BE49-F238E27FC236}">
                <a16:creationId xmlns:a16="http://schemas.microsoft.com/office/drawing/2014/main" id="{71B35557-6D0B-4489-8858-32E7122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AI TRPG Engine">
            <a:extLst xmlns:a="http://schemas.openxmlformats.org/drawingml/2006/main">
              <a:ext uri="{FF2B5EF4-FFF2-40B4-BE49-F238E27FC236}">
                <a16:creationId xmlns:a16="http://schemas.microsoft.com/office/drawing/2014/main" id="{15375D8A-BD37-4C46-974B-C0A8E1DC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16" name="box-body-AI TRPG Engine">
            <a:extLst xmlns:a="http://schemas.openxmlformats.org/drawingml/2006/main">
              <a:ext uri="{FF2B5EF4-FFF2-40B4-BE49-F238E27FC236}">
                <a16:creationId xmlns:a16="http://schemas.microsoft.com/office/drawing/2014/main" id="{CF7E8951-8899-44C4-A582-90D70250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自然语言自由行动，同时用规则、状态和事件维护长期一致性。</a:t>
            </a:r>
          </a:p>
        </p:txBody>
      </p:sp>
      <p:sp>
        <p:nvSpPr>
          <p:cNvPr id="17" name="value">
            <a:extLst xmlns:a="http://schemas.openxmlformats.org/drawingml/2006/main">
              <a:ext uri="{FF2B5EF4-FFF2-40B4-BE49-F238E27FC236}">
                <a16:creationId xmlns:a16="http://schemas.microsoft.com/office/drawing/2014/main" id="{8A83A282-C722-40EB-A032-1BA6EC7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一句话价值</a:t>
            </a:r>
          </a:p>
        </p:txBody>
      </p:sp>
      <p:sp>
        <p:nvSpPr>
          <p:cNvPr id="18" name="value-statement">
            <a:extLst xmlns:a="http://schemas.openxmlformats.org/drawingml/2006/main">
              <a:ext uri="{FF2B5EF4-FFF2-40B4-BE49-F238E27FC236}">
                <a16:creationId xmlns:a16="http://schemas.microsoft.com/office/drawing/2014/main" id="{A13F7E6E-A325-43EA-B3CA-DB538B36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让玩家随时进入一场可保存、可追溯、可恢复的单人跑团。</a:t>
            </a:r>
          </a:p>
        </p:txBody>
      </p:sp>
    </p:spTree>
    <p:extLst>
      <p:ext uri="{BB962C8B-B14F-4D97-AF65-F5344CB8AC3E}">
        <p14:creationId xmlns:p14="http://schemas.microsoft.com/office/powerpoint/2010/main" val="1085308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85891442-2518-49A1-94F4-1A59113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  产品架构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22F321F-DA06-41F2-8AF4-B501168A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AI 负责叙事，确定性内核决定什么真正发生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2504F7DB-8D5C-4D8F-9EB8-C96345C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24A9613-73B0-463F-AAAB-2E3866F7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27222938-E0A3-4753-BCE6-95BA63AD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B3DFD40B-2D08-41E2-AF97-03D00796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玩家交互层</a:t>
            </a:r>
          </a:p>
        </p:txBody>
      </p:sp>
      <p:sp>
        <p:nvSpPr>
          <p:cNvPr id="7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3CDCFB50-2BD2-4C37-99CA-770EE064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React 界面 · 人物卡 · 叙事 · 时间线</a:t>
            </a:r>
          </a:p>
        </p:txBody>
      </p:sp>
      <p:sp>
        <p:nvSpPr>
          <p:cNvPr id="8" name="layer-1">
            <a:extLst xmlns:a="http://schemas.openxmlformats.org/drawingml/2006/main">
              <a:ext uri="{FF2B5EF4-FFF2-40B4-BE49-F238E27FC236}">
                <a16:creationId xmlns:a16="http://schemas.microsoft.com/office/drawing/2014/main" id="{59D62931-179C-4CE3-8985-B324D93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3033321E-DF99-4AF6-8186-7BD95D2D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桌面与 AI 协调层</a:t>
            </a:r>
          </a:p>
        </p:txBody>
      </p:sp>
      <p:sp>
        <p:nvSpPr>
          <p:cNvPr id="1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0FEBE71B-9802-49C6-B7B0-8DC049CF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86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Electron Main / Preload · Keeper · Model Gateway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935240C4-2D23-43F2-9633-9C7AE1D1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4943F11E-B8A5-41C5-801A-E5F1F0C5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9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确定性运行时</a:t>
            </a:r>
          </a:p>
        </p:txBody>
      </p:sp>
      <p:sp>
        <p:nvSpPr>
          <p:cNvPr id="13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DA5DDA14-6EA4-46E6-8109-2B73928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Turn Router · Rules · RNG · Validator · Events</a:t>
            </a:r>
          </a:p>
        </p:txBody>
      </p:sp>
      <p:sp>
        <p:nvSpPr>
          <p:cNvPr id="14" name="layer-3">
            <a:extLst xmlns:a="http://schemas.openxmlformats.org/drawingml/2006/main">
              <a:ext uri="{FF2B5EF4-FFF2-40B4-BE49-F238E27FC236}">
                <a16:creationId xmlns:a16="http://schemas.microsoft.com/office/drawing/2014/main" id="{075E396C-E1B6-4659-B458-3EA45A24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45601AA2-D438-4DBA-B361-5946F0D3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72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本地数据层</a:t>
            </a:r>
          </a:p>
        </p:txBody>
      </p:sp>
      <p:sp>
        <p:nvSpPr>
          <p:cNvPr id="16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33195594-1429-4670-BE74-9A0A0AF2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SQLite · Current State · Immutable Event Log · Checkpoint</a:t>
            </a:r>
          </a:p>
        </p:txBody>
      </p:sp>
      <p:sp>
        <p:nvSpPr>
          <p:cNvPr id="17" name="arch-rule">
            <a:extLst xmlns:a="http://schemas.openxmlformats.org/drawingml/2006/main">
              <a:ext uri="{FF2B5EF4-FFF2-40B4-BE49-F238E27FC236}">
                <a16:creationId xmlns:a16="http://schemas.microsoft.com/office/drawing/2014/main" id="{B4ABB95F-6BAE-43E8-8A1A-AEEAEE3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核心边界</a:t>
            </a:r>
          </a:p>
        </p:txBody>
      </p:sp>
      <p:sp>
        <p:nvSpPr>
          <p:cNvPr id="18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DCBDA5BA-71DB-4786-9FA4-A843E0A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4E1D13C3-61F6-4512-B717-15695B24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AI 只生成候选和叙事</a:t>
            </a:r>
          </a:p>
        </p:txBody>
      </p:sp>
      <p:sp>
        <p:nvSpPr>
          <p:cNvPr id="20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0EC7E6D7-A037-49E5-BDB5-0996015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434FCC38-8395-4B5A-A885-FE71F3A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程序校验并原子提交</a:t>
            </a:r>
          </a:p>
        </p:txBody>
      </p:sp>
      <p:sp>
        <p:nvSpPr>
          <p:cNvPr id="22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DBEF1437-32A6-4D6A-BB43-4B661EB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34293DAB-888D-4B61-AC51-C5B73EA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Renderer 不直连 SQLite</a:t>
            </a:r>
          </a:p>
        </p:txBody>
      </p:sp>
      <p:sp>
        <p:nvSpPr>
          <p:cNvPr id="24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E7E113EC-C3D6-4296-9BCD-9F977CCA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881BAB60-88B2-4DE2-98E9-06D255F9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模型可以替换或降级</a:t>
            </a:r>
          </a:p>
        </p:txBody>
      </p:sp>
    </p:spTree>
    <p:extLst>
      <p:ext uri="{BB962C8B-B14F-4D97-AF65-F5344CB8AC3E}">
        <p14:creationId xmlns:p14="http://schemas.microsoft.com/office/powerpoint/2010/main" val="953298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C46776D8-C242-4FC3-B925-AFF2F2F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  核心功能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AF67DE9-0780-41D0-8960-7930204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四项核心能力组成完整的单人跑团闭环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56B3325-9C3F-4660-BD11-8470BA08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844FE03-2991-464C-8989-327687A5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box-01  创建角色">
            <a:extLst xmlns:a="http://schemas.openxmlformats.org/drawingml/2006/main">
              <a:ext uri="{FF2B5EF4-FFF2-40B4-BE49-F238E27FC236}">
                <a16:creationId xmlns:a16="http://schemas.microsoft.com/office/drawing/2014/main" id="{A6A528F7-035B-4797-A845-53484FD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01  创建角色">
            <a:extLst xmlns:a="http://schemas.openxmlformats.org/drawingml/2006/main">
              <a:ext uri="{FF2B5EF4-FFF2-40B4-BE49-F238E27FC236}">
                <a16:creationId xmlns:a16="http://schemas.microsoft.com/office/drawing/2014/main" id="{26DC903E-CA66-4C00-853C-C163E50E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01  创建角色">
            <a:extLst xmlns:a="http://schemas.openxmlformats.org/drawingml/2006/main">
              <a:ext uri="{FF2B5EF4-FFF2-40B4-BE49-F238E27FC236}">
                <a16:creationId xmlns:a16="http://schemas.microsoft.com/office/drawing/2014/main" id="{19CE9862-2144-43D4-ACD8-38DE373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01  创建角色</a:t>
            </a:r>
          </a:p>
        </p:txBody>
      </p:sp>
      <p:sp>
        <p:nvSpPr>
          <p:cNvPr id="8" name="box-body-01  创建角色">
            <a:extLst xmlns:a="http://schemas.openxmlformats.org/drawingml/2006/main">
              <a:ext uri="{FF2B5EF4-FFF2-40B4-BE49-F238E27FC236}">
                <a16:creationId xmlns:a16="http://schemas.microsoft.com/office/drawing/2014/main" id="{29957ED1-B366-4BEE-800F-309696FF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属性分配、正式人物卡、稳定实体身份</a:t>
            </a:r>
          </a:p>
        </p:txBody>
      </p:sp>
      <p:sp>
        <p:nvSpPr>
          <p:cNvPr id="9" name="box-02  自由行动">
            <a:extLst xmlns:a="http://schemas.openxmlformats.org/drawingml/2006/main">
              <a:ext uri="{FF2B5EF4-FFF2-40B4-BE49-F238E27FC236}">
                <a16:creationId xmlns:a16="http://schemas.microsoft.com/office/drawing/2014/main" id="{CD3044D5-D6B4-4CE2-931A-DBB41824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02  自由行动">
            <a:extLst xmlns:a="http://schemas.openxmlformats.org/drawingml/2006/main">
              <a:ext uri="{FF2B5EF4-FFF2-40B4-BE49-F238E27FC236}">
                <a16:creationId xmlns:a16="http://schemas.microsoft.com/office/drawing/2014/main" id="{CD5EFA2A-938C-4407-A7F0-09B6614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02  自由行动">
            <a:extLst xmlns:a="http://schemas.openxmlformats.org/drawingml/2006/main">
              <a:ext uri="{FF2B5EF4-FFF2-40B4-BE49-F238E27FC236}">
                <a16:creationId xmlns:a16="http://schemas.microsoft.com/office/drawing/2014/main" id="{1F5EEF78-A804-479F-9E65-AAE1FB9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02  自由行动</a:t>
            </a:r>
          </a:p>
        </p:txBody>
      </p:sp>
      <p:sp>
        <p:nvSpPr>
          <p:cNvPr id="12" name="box-body-02  自由行动">
            <a:extLst xmlns:a="http://schemas.openxmlformats.org/drawingml/2006/main">
              <a:ext uri="{FF2B5EF4-FFF2-40B4-BE49-F238E27FC236}">
                <a16:creationId xmlns:a16="http://schemas.microsoft.com/office/drawing/2014/main" id="{8B1549F8-9897-4BAC-AEB7-D5CBD57F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玩家用自然语言调查、交谈、移动或尝试</a:t>
            </a:r>
          </a:p>
        </p:txBody>
      </p:sp>
      <p:sp>
        <p:nvSpPr>
          <p:cNvPr id="13" name="box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73CDAD25-00F3-47D8-93D8-26B8284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56B93DE1-B110-4214-BF71-634A03B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AF5F80FB-4B42-468B-B39E-C2DFD6F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67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03  检定与叙事</a:t>
            </a:r>
          </a:p>
        </p:txBody>
      </p:sp>
      <p:sp>
        <p:nvSpPr>
          <p:cNvPr id="16" name="box-body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F673DE2A-DE9E-420D-BEAD-00C5908D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系统先裁定并提交，再由 AI 生成主持人反馈</a:t>
            </a:r>
          </a:p>
        </p:txBody>
      </p:sp>
      <p:sp>
        <p:nvSpPr>
          <p:cNvPr id="17" name="box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FE67C2DB-5003-4B96-853F-431FE564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-accent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C0BD6BEF-C328-4846-954D-5866C89E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title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03BAFB34-4C28-496D-B119-5D3ED8B5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04  保存与恢复</a:t>
            </a:r>
          </a:p>
        </p:txBody>
      </p:sp>
      <p:sp>
        <p:nvSpPr>
          <p:cNvPr id="20" name="box-body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B11346CE-2A66-494A-B95A-A70514C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时间线、检查点、分支副本和战役备份</a:t>
            </a:r>
          </a:p>
        </p:txBody>
      </p:sp>
      <p:sp>
        <p:nvSpPr>
          <p:cNvPr id="21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E7ED0625-B3DD-4B9F-A28F-351EDFB1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151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可接入本地模型或用户自己的云端模型密钥</a:t>
            </a:r>
          </a:p>
        </p:txBody>
      </p:sp>
    </p:spTree>
    <p:extLst>
      <p:ext uri="{BB962C8B-B14F-4D97-AF65-F5344CB8AC3E}">
        <p14:creationId xmlns:p14="http://schemas.microsoft.com/office/powerpoint/2010/main" val="1265410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yebrow-5">
            <a:extLst xmlns:a="http://schemas.openxmlformats.org/drawingml/2006/main">
              <a:ext uri="{FF2B5EF4-FFF2-40B4-BE49-F238E27FC236}">
                <a16:creationId xmlns:a16="http://schemas.microsoft.com/office/drawing/2014/main" id="{0CE6266D-B094-4524-8F55-4320DEF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  数据库与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ECB0F13-E47B-47F4-BE6E-2E34EAA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状态 + 事件 + 类型化 API，让系统结果可验证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72CD52CE-C75F-413E-87FD-2BBB4175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23D3525-3502-4AD6-B2C9-66016096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data-title">
            <a:extLst xmlns:a="http://schemas.openxmlformats.org/drawingml/2006/main">
              <a:ext uri="{FF2B5EF4-FFF2-40B4-BE49-F238E27FC236}">
                <a16:creationId xmlns:a16="http://schemas.microsoft.com/office/drawing/2014/main" id="{A42FDFD6-CC00-4153-A851-7F65AC63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SQLite 数据设计</a:t>
            </a:r>
          </a:p>
        </p:txBody>
      </p:sp>
      <p:sp>
        <p:nvSpPr>
          <p:cNvPr id="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768F02D3-4EDB-415D-AAD5-FD854F22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F5F11723-1AB7-4E07-918E-092A2999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Current State：快速读取当前世界</a:t>
            </a:r>
          </a:p>
        </p:txBody>
      </p:sp>
      <p:sp>
        <p:nvSpPr>
          <p:cNvPr id="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815497A1-8D5A-4647-8939-A5B186C8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90CD4D16-0B92-4238-AA87-DFF66C78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Immutable Event Log：追溯变化原因</a:t>
            </a:r>
          </a:p>
        </p:txBody>
      </p:sp>
      <p:sp>
        <p:nvSpPr>
          <p:cNvPr id="1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04F66CFE-8FC9-4834-95FF-02066D3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4514436C-47BF-4882-B461-6405BB70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Checkpoint：恢复副本而不覆盖历史</a:t>
            </a:r>
          </a:p>
        </p:txBody>
      </p:sp>
      <p:sp>
        <p:nvSpPr>
          <p:cNvPr id="1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D6AA87C3-3B46-4322-A77E-396DE2F5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B8F04E76-45D9-4D1F-B2AA-B284A16A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Credential ID：数据库不保存明文密钥</a:t>
            </a:r>
          </a:p>
        </p:txBody>
      </p:sp>
      <p:sp>
        <p:nvSpPr>
          <p:cNvPr id="14" name="mid-rule">
            <a:extLst xmlns:a="http://schemas.openxmlformats.org/drawingml/2006/main">
              <a:ext uri="{FF2B5EF4-FFF2-40B4-BE49-F238E27FC236}">
                <a16:creationId xmlns:a16="http://schemas.microsoft.com/office/drawing/2014/main" id="{08F991A1-FCDA-4887-AC2A-350F0F60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pi-title">
            <a:extLst xmlns:a="http://schemas.openxmlformats.org/drawingml/2006/main">
              <a:ext uri="{FF2B5EF4-FFF2-40B4-BE49-F238E27FC236}">
                <a16:creationId xmlns:a16="http://schemas.microsoft.com/office/drawing/2014/main" id="{09D3D671-2BCD-4962-84CE-A02C814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类型化桌面 API</a:t>
            </a:r>
          </a:p>
        </p:txBody>
      </p:sp>
      <p:sp>
        <p:nvSpPr>
          <p:cNvPr id="1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C4952B35-1E98-4915-A4AF-2C53045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AA520091-EBF1-49FF-A341-DBA71C6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campaign:*  战役与人物</a:t>
            </a:r>
          </a:p>
        </p:txBody>
      </p:sp>
      <p:sp>
        <p:nvSpPr>
          <p:cNvPr id="1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5066CFD6-81F9-42A0-8711-D866D98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7F809210-E0B1-4C79-A2C5-7A58C601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turn:* / operation:*  回合与进度</a:t>
            </a:r>
          </a:p>
        </p:txBody>
      </p:sp>
      <p:sp>
        <p:nvSpPr>
          <p:cNvPr id="2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BA7819EA-1CE9-4BF2-9043-C13512C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46D2A037-821C-48C4-8FE3-10D8C889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timeline:* / checkpoint:*  历史与恢复</a:t>
            </a:r>
          </a:p>
        </p:txBody>
      </p:sp>
      <p:sp>
        <p:nvSpPr>
          <p:cNvPr id="2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14EC69D0-02B0-4801-A578-C5CB3EE6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8D9791DF-39B1-4C7B-953F-7481046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settings:* / backup:*  模型与备份</a:t>
            </a:r>
          </a:p>
        </p:txBody>
      </p:sp>
      <p:sp>
        <p:nvSpPr>
          <p:cNvPr id="24" name="api-bottom">
            <a:extLst xmlns:a="http://schemas.openxmlformats.org/drawingml/2006/main">
              <a:ext uri="{FF2B5EF4-FFF2-40B4-BE49-F238E27FC236}">
                <a16:creationId xmlns:a16="http://schemas.microsoft.com/office/drawing/2014/main" id="{4B502709-4940-4EF8-9F99-3B9E1D72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版本冲突时拒绝提交；叙事失败也不会重复掷骰。</a:t>
            </a:r>
          </a:p>
        </p:txBody>
      </p:sp>
    </p:spTree>
    <p:extLst>
      <p:ext uri="{BB962C8B-B14F-4D97-AF65-F5344CB8AC3E}">
        <p14:creationId xmlns:p14="http://schemas.microsoft.com/office/powerpoint/2010/main" val="953268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6">
            <a:extLst xmlns:a="http://schemas.openxmlformats.org/drawingml/2006/main">
              <a:ext uri="{FF2B5EF4-FFF2-40B4-BE49-F238E27FC236}">
                <a16:creationId xmlns:a16="http://schemas.microsoft.com/office/drawing/2014/main" id="{96541143-C262-4C1A-9748-8EB8009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  系统演示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9DC6E5B-135C-4946-A247-B4082EC6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两分钟演示：从自然语言行动到可追溯结果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6FA098B-5E05-4A69-9076-82E43BA6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B669075F-384F-48D0-8C2E-B24BB85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A8D0CEFB-1A68-408A-9B08-BD8A721A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text-0">
            <a:extLst xmlns:a="http://schemas.openxmlformats.org/drawingml/2006/main">
              <a:ext uri="{FF2B5EF4-FFF2-40B4-BE49-F238E27FC236}">
                <a16:creationId xmlns:a16="http://schemas.microsoft.com/office/drawing/2014/main" id="{EF68296A-A8B3-43A0-92EC-13238C38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42A8DCE6-7475-436D-BE89-A28A1A92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打开预置战役</a:t>
            </a:r>
          </a:p>
        </p:txBody>
      </p:sp>
      <p:sp>
        <p:nvSpPr>
          <p:cNvPr id="8" name="step-line-0">
            <a:extLst xmlns:a="http://schemas.openxmlformats.org/drawingml/2006/main">
              <a:ext uri="{FF2B5EF4-FFF2-40B4-BE49-F238E27FC236}">
                <a16:creationId xmlns:a16="http://schemas.microsoft.com/office/drawing/2014/main" id="{E424D37B-2995-4A2A-9010-C613ADD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FBE1CAC3-300F-4BA8-B115-97695102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C1323703-DA82-4D14-B158-BF56337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CD2951E6-FD5F-4C16-AEF3-71D22136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查看人物与场景</a:t>
            </a:r>
          </a:p>
        </p:txBody>
      </p:sp>
      <p:sp>
        <p:nvSpPr>
          <p:cNvPr id="12" name="step-line-1">
            <a:extLst xmlns:a="http://schemas.openxmlformats.org/drawingml/2006/main">
              <a:ext uri="{FF2B5EF4-FFF2-40B4-BE49-F238E27FC236}">
                <a16:creationId xmlns:a16="http://schemas.microsoft.com/office/drawing/2014/main" id="{A0CE5DA8-CA20-4581-AD5F-0ADE928E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2429E914-AE39-476C-B110-C24757BE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B5907081-3F59-4F2A-B586-93ABB583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ext-2">
            <a:extLst xmlns:a="http://schemas.openxmlformats.org/drawingml/2006/main">
              <a:ext uri="{FF2B5EF4-FFF2-40B4-BE49-F238E27FC236}">
                <a16:creationId xmlns:a16="http://schemas.microsoft.com/office/drawing/2014/main" id="{3E5EEF36-53BB-4B5E-9D02-D3FCDCE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输入调查行动</a:t>
            </a:r>
          </a:p>
        </p:txBody>
      </p:sp>
      <p:sp>
        <p:nvSpPr>
          <p:cNvPr id="16" name="step-line-2">
            <a:extLst xmlns:a="http://schemas.openxmlformats.org/drawingml/2006/main">
              <a:ext uri="{FF2B5EF4-FFF2-40B4-BE49-F238E27FC236}">
                <a16:creationId xmlns:a16="http://schemas.microsoft.com/office/drawing/2014/main" id="{A3E9CC00-8330-431E-B1AE-7706C7A9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FDD64C66-51A1-43A9-AB7C-A951E9DA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F0F0D1D5-D500-4ADB-87D5-4D8AA2C3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ext-3">
            <a:extLst xmlns:a="http://schemas.openxmlformats.org/drawingml/2006/main">
              <a:ext uri="{FF2B5EF4-FFF2-40B4-BE49-F238E27FC236}">
                <a16:creationId xmlns:a16="http://schemas.microsoft.com/office/drawing/2014/main" id="{0C9A53C9-3EAD-47A1-B9B6-1A0EAED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触发检定与叙事</a:t>
            </a:r>
          </a:p>
        </p:txBody>
      </p:sp>
      <p:sp>
        <p:nvSpPr>
          <p:cNvPr id="2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393EDC28-2C11-4A36-AF16-325ACC6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3D5F714E-878C-42C1-ADA3-FE61CE4E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-text-4">
            <a:extLst xmlns:a="http://schemas.openxmlformats.org/drawingml/2006/main">
              <a:ext uri="{FF2B5EF4-FFF2-40B4-BE49-F238E27FC236}">
                <a16:creationId xmlns:a16="http://schemas.microsoft.com/office/drawing/2014/main" id="{6CA95884-BF26-46C8-AA99-ED9CA772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79C056F9-7180-4F19-B72F-D3E1CDAA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查看时间线/检查点</a:t>
            </a:r>
          </a:p>
        </p:txBody>
      </p:sp>
      <p:sp>
        <p:nvSpPr>
          <p:cNvPr id="24" name="placeholder-此页可替换为一张演示路径总览截图；现场演示时停留在本页">
            <a:extLst xmlns:a="http://schemas.openxmlformats.org/drawingml/2006/main">
              <a:ext uri="{FF2B5EF4-FFF2-40B4-BE49-F238E27FC236}">
                <a16:creationId xmlns:a16="http://schemas.microsoft.com/office/drawing/2014/main" id="{6F356D4C-7E46-4A93-8F89-D58232F2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9650"/>
            <a:ext cx="895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placeholder-text-此页可替换为一张演示路径总览截图；现场演示时停留在本页">
            <a:extLst xmlns:a="http://schemas.openxmlformats.org/drawingml/2006/main">
              <a:ext uri="{FF2B5EF4-FFF2-40B4-BE49-F238E27FC236}">
                <a16:creationId xmlns:a16="http://schemas.microsoft.com/office/drawing/2014/main" id="{0995EDEC-BA11-4075-8199-552464CA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0175"/>
            <a:ext cx="842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【待替换：此页可替换为一张演示路径总览截图；现场演示时停留在本页】</a:t>
            </a:r>
          </a:p>
        </p:txBody>
      </p:sp>
    </p:spTree>
    <p:extLst>
      <p:ext uri="{BB962C8B-B14F-4D97-AF65-F5344CB8AC3E}">
        <p14:creationId xmlns:p14="http://schemas.microsoft.com/office/powerpoint/2010/main" val="878640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A8E1C4C0-0BCA-492D-BF9E-9AAE62F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  技术难点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969AB3A-CDC3-47AE-83B5-62DB003E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最关键的难点：避免 AI 把“说过的话”当成事实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1B263C17-58AE-46AC-BED7-B0B6B658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1E62458-F207-48E2-ADCF-27EB94AF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wrong-title">
            <a:extLst xmlns:a="http://schemas.openxmlformats.org/drawingml/2006/main">
              <a:ext uri="{FF2B5EF4-FFF2-40B4-BE49-F238E27FC236}">
                <a16:creationId xmlns:a16="http://schemas.microsoft.com/office/drawing/2014/main" id="{B734F80E-079F-4760-88FA-C656914F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6573"/>
                </a:solidFill>
              </a:defRPr>
            </a:pPr>
            <a:r>
              <a:rPr sz="1575" b="1">
                <a:solidFill>
                  <a:srgbClr val="5B6573"/>
                </a:solidFill>
              </a:rPr>
              <a:t>常见做法</a:t>
            </a:r>
          </a:p>
        </p:txBody>
      </p:sp>
      <p:sp>
        <p:nvSpPr>
          <p:cNvPr id="6" name="wrong-flow">
            <a:extLst xmlns:a="http://schemas.openxmlformats.org/drawingml/2006/main">
              <a:ext uri="{FF2B5EF4-FFF2-40B4-BE49-F238E27FC236}">
                <a16:creationId xmlns:a16="http://schemas.microsoft.com/office/drawing/2014/main" id="{324FCA59-5439-46C9-9E87-1C2FB15D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玩家输入  →  AI 直接续写世界</a:t>
            </a:r>
          </a:p>
        </p:txBody>
      </p:sp>
      <p:sp>
        <p:nvSpPr>
          <p:cNvPr id="7" name="wrong-risk">
            <a:extLst xmlns:a="http://schemas.openxmlformats.org/drawingml/2006/main">
              <a:ext uri="{FF2B5EF4-FFF2-40B4-BE49-F238E27FC236}">
                <a16:creationId xmlns:a16="http://schemas.microsoft.com/office/drawing/2014/main" id="{A3A24C36-FEFE-4C1F-945D-16190F3B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00000"/>
                </a:solidFill>
              </a:defRPr>
            </a:pPr>
            <a:r>
              <a:rPr sz="1425" b="0">
                <a:solidFill>
                  <a:srgbClr val="C00000"/>
                </a:solidFill>
              </a:rPr>
              <a:t>风险：结果不可验证，重试可能改变既有事实</a:t>
            </a:r>
          </a:p>
        </p:txBody>
      </p:sp>
      <p:sp>
        <p:nvSpPr>
          <p:cNvPr id="8" name="challenge-rule">
            <a:extLst xmlns:a="http://schemas.openxmlformats.org/drawingml/2006/main">
              <a:ext uri="{FF2B5EF4-FFF2-40B4-BE49-F238E27FC236}">
                <a16:creationId xmlns:a16="http://schemas.microsoft.com/office/drawing/2014/main" id="{2D8F1C73-7567-4648-A61A-6D9E83D2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r-title">
            <a:extLst xmlns:a="http://schemas.openxmlformats.org/drawingml/2006/main">
              <a:ext uri="{FF2B5EF4-FFF2-40B4-BE49-F238E27FC236}">
                <a16:creationId xmlns:a16="http://schemas.microsoft.com/office/drawing/2014/main" id="{B19E77E8-23BB-4145-A94B-C517BD8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我们的方案</a:t>
            </a:r>
          </a:p>
        </p:txBody>
      </p:sp>
      <p:sp>
        <p:nvSpPr>
          <p:cNvPr id="10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F3377910-F963-4542-BA32-29BE910D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CC9AD7E3-69CF-4E46-8F9F-AB1969D4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理解玩家意图</a:t>
            </a:r>
          </a:p>
        </p:txBody>
      </p:sp>
      <p:sp>
        <p:nvSpPr>
          <p:cNvPr id="12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15016471-C8D6-4E1D-8E2E-58563588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E3A0354F-A79E-4B1B-B75D-B60111D4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规则与随机数裁定</a:t>
            </a:r>
          </a:p>
        </p:txBody>
      </p:sp>
      <p:sp>
        <p:nvSpPr>
          <p:cNvPr id="14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9B7619E8-6A37-46F7-9078-97FEF94B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8B43ED5D-1B86-44AE-836A-E6E5B133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校验并提交状态/事件</a:t>
            </a:r>
          </a:p>
        </p:txBody>
      </p:sp>
      <p:sp>
        <p:nvSpPr>
          <p:cNvPr id="16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35B5D2D9-6F3F-47A5-8612-F6D7E219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679422C0-175D-4DDA-8410-1B1EDA14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根据已提交结果生成叙事</a:t>
            </a:r>
          </a:p>
        </p:txBody>
      </p:sp>
      <p:sp>
        <p:nvSpPr>
          <p:cNvPr id="18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49163856-4AC7-4C16-BFFD-BACD6F57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结果：叙事可以重试，已经发生的事实不会重算。</a:t>
            </a:r>
          </a:p>
        </p:txBody>
      </p:sp>
    </p:spTree>
    <p:extLst>
      <p:ext uri="{BB962C8B-B14F-4D97-AF65-F5344CB8AC3E}">
        <p14:creationId xmlns:p14="http://schemas.microsoft.com/office/powerpoint/2010/main" val="465165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312EF9BC-57C7-4D09-89F6-AF1C79D1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  团队与实习反馈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AC83351-B087-4B62-8EA8-F6EF4B9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项目交付体现了工程协作，也带来了真实成长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F8E44719-D18A-4A47-AAD7-CC5F3FA8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96C0BFC-9355-41AD-9ECB-AF727A71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team-title">
            <a:extLst xmlns:a="http://schemas.openxmlformats.org/drawingml/2006/main">
              <a:ext uri="{FF2B5EF4-FFF2-40B4-BE49-F238E27FC236}">
                <a16:creationId xmlns:a16="http://schemas.microsoft.com/office/drawing/2014/main" id="{543033C3-68CE-406C-A5F1-865A51EC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成员分工</a:t>
            </a:r>
          </a:p>
        </p:txBody>
      </p:sp>
      <p:sp>
        <p:nvSpPr>
          <p:cNvPr id="6" name="team-row-0">
            <a:extLst xmlns:a="http://schemas.openxmlformats.org/drawingml/2006/main">
              <a:ext uri="{FF2B5EF4-FFF2-40B4-BE49-F238E27FC236}">
                <a16:creationId xmlns:a16="http://schemas.microsoft.com/office/drawing/2014/main" id="{F002E2C9-A6EC-4F2A-9CB5-0372BB10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am-text-0">
            <a:extLst xmlns:a="http://schemas.openxmlformats.org/drawingml/2006/main">
              <a:ext uri="{FF2B5EF4-FFF2-40B4-BE49-F238E27FC236}">
                <a16:creationId xmlns:a16="http://schemas.microsoft.com/office/drawing/2014/main" id="{34791105-5A19-4D9F-B0F4-EDDFBFD8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480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【待替换：成员1】—【职责/成果】</a:t>
            </a:r>
          </a:p>
        </p:txBody>
      </p:sp>
      <p:sp>
        <p:nvSpPr>
          <p:cNvPr id="8" name="team-row-1">
            <a:extLst xmlns:a="http://schemas.openxmlformats.org/drawingml/2006/main">
              <a:ext uri="{FF2B5EF4-FFF2-40B4-BE49-F238E27FC236}">
                <a16:creationId xmlns:a16="http://schemas.microsoft.com/office/drawing/2014/main" id="{3E1A352B-5E20-47F4-A60D-5090DE2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am-text-1">
            <a:extLst xmlns:a="http://schemas.openxmlformats.org/drawingml/2006/main">
              <a:ext uri="{FF2B5EF4-FFF2-40B4-BE49-F238E27FC236}">
                <a16:creationId xmlns:a16="http://schemas.microsoft.com/office/drawing/2014/main" id="{79EB16C1-0A4A-45E0-A11D-9F02BA8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719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【待替换：成员2】—【职责/成果】</a:t>
            </a:r>
          </a:p>
        </p:txBody>
      </p:sp>
      <p:sp>
        <p:nvSpPr>
          <p:cNvPr id="10" name="team-row-2">
            <a:extLst xmlns:a="http://schemas.openxmlformats.org/drawingml/2006/main">
              <a:ext uri="{FF2B5EF4-FFF2-40B4-BE49-F238E27FC236}">
                <a16:creationId xmlns:a16="http://schemas.microsoft.com/office/drawing/2014/main" id="{0CC76FD7-08EE-4C3A-8634-1F4C4EB0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am-text-2">
            <a:extLst xmlns:a="http://schemas.openxmlformats.org/drawingml/2006/main">
              <a:ext uri="{FF2B5EF4-FFF2-40B4-BE49-F238E27FC236}">
                <a16:creationId xmlns:a16="http://schemas.microsoft.com/office/drawing/2014/main" id="{C8F7911A-2C8F-4CAA-93C6-2F8A5AC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958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【待替换：成员3】—【职责/成果】</a:t>
            </a:r>
          </a:p>
        </p:txBody>
      </p:sp>
      <p:sp>
        <p:nvSpPr>
          <p:cNvPr id="12" name="learn-title">
            <a:extLst xmlns:a="http://schemas.openxmlformats.org/drawingml/2006/main">
              <a:ext uri="{FF2B5EF4-FFF2-40B4-BE49-F238E27FC236}">
                <a16:creationId xmlns:a16="http://schemas.microsoft.com/office/drawing/2014/main" id="{18D53BCF-BA2B-453F-9A1D-1D8EA65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实习收获</a:t>
            </a:r>
          </a:p>
        </p:txBody>
      </p:sp>
      <p:sp>
        <p:nvSpPr>
          <p:cNvPr id="13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56319A49-EDF8-42B8-9FEA-5E9B52C0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249418C5-FD96-44A7-9231-3EC8C4ED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从需求拆解到可验证交付</a:t>
            </a:r>
          </a:p>
        </p:txBody>
      </p:sp>
      <p:sp>
        <p:nvSpPr>
          <p:cNvPr id="15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351E1FC1-6D85-4607-BC12-9E910078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7777E307-7DF3-4FE6-BA4A-B044A44C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理解 AI 与确定性系统的边界</a:t>
            </a:r>
          </a:p>
        </p:txBody>
      </p:sp>
      <p:sp>
        <p:nvSpPr>
          <p:cNvPr id="17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EB1C8A67-A439-431F-A709-55FDD87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6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0B576C93-7A7B-41D8-A51B-3BC24332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767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掌握 Electron、React、SQLite 工程链路</a:t>
            </a:r>
          </a:p>
        </p:txBody>
      </p:sp>
      <p:sp>
        <p:nvSpPr>
          <p:cNvPr id="19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E5A4C8F1-CACA-4698-881C-8AC7A19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29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1EA3C5CC-80D3-49CC-8FE0-877C9A1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通过测试、复盘和协作持续迭代</a:t>
            </a:r>
          </a:p>
        </p:txBody>
      </p:sp>
      <p:sp>
        <p:nvSpPr>
          <p:cNvPr id="21" name="team-note">
            <a:extLst xmlns:a="http://schemas.openxmlformats.org/drawingml/2006/main">
              <a:ext uri="{FF2B5EF4-FFF2-40B4-BE49-F238E27FC236}">
                <a16:creationId xmlns:a16="http://schemas.microsoft.com/office/drawing/2014/main" id="{10255DCD-130D-4E6B-9A53-93C5291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191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【待替换：补充 1 个最具体的团队协作案例或个人成长案例】</a:t>
            </a:r>
          </a:p>
        </p:txBody>
      </p:sp>
    </p:spTree>
    <p:extLst>
      <p:ext uri="{BB962C8B-B14F-4D97-AF65-F5344CB8AC3E}">
        <p14:creationId xmlns:p14="http://schemas.microsoft.com/office/powerpoint/2010/main" val="1171545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yebrow-9">
            <a:extLst xmlns:a="http://schemas.openxmlformats.org/drawingml/2006/main">
              <a:ext uri="{FF2B5EF4-FFF2-40B4-BE49-F238E27FC236}">
                <a16:creationId xmlns:a16="http://schemas.microsoft.com/office/drawing/2014/main" id="{47377CC0-FBBB-4D12-9483-29EC8579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08  版本演进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0EEB300-CA1A-462D-878F-49206BA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从可分发的 V0.1，走向完整的 V1.0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6E37781D-6CD0-4339-8F91-625A340C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65C0D5F5-5B89-436B-B1A8-4E498C01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5" name="v01-label">
            <a:extLst xmlns:a="http://schemas.openxmlformats.org/drawingml/2006/main">
              <a:ext uri="{FF2B5EF4-FFF2-40B4-BE49-F238E27FC236}">
                <a16:creationId xmlns:a16="http://schemas.microsoft.com/office/drawing/2014/main" id="{23405403-EF69-49CE-9588-1807169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V0.1  ·  已经完成</a:t>
            </a:r>
          </a:p>
        </p:txBody>
      </p:sp>
      <p:sp>
        <p:nvSpPr>
          <p:cNvPr id="6" name="v01-panel">
            <a:extLst xmlns:a="http://schemas.openxmlformats.org/drawingml/2006/main">
              <a:ext uri="{FF2B5EF4-FFF2-40B4-BE49-F238E27FC236}">
                <a16:creationId xmlns:a16="http://schemas.microsoft.com/office/drawing/2014/main" id="{3F4EC1CB-2D4D-42A8-8DA1-2F3F077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A616D594-E8AB-44E8-9495-344F895A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BEF62821-CA08-495C-88D8-D43888E3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909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可安装、可独立启动的桌面产品</a:t>
            </a:r>
          </a:p>
        </p:txBody>
      </p:sp>
      <p:sp>
        <p:nvSpPr>
          <p:cNvPr id="9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270394C2-60F8-489C-8996-ECA0DC2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7285F2E0-AC1F-4ABC-9B69-EE25202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9572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角色创建、战役与自然语言行动</a:t>
            </a:r>
          </a:p>
        </p:txBody>
      </p:sp>
      <p:sp>
        <p:nvSpPr>
          <p:cNvPr id="11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60018049-DF69-4700-B3C9-0406680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CC1A10EC-0CA6-499E-99A3-37B39A0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0055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规则检定、AI 叙事与权威状态</a:t>
            </a:r>
          </a:p>
        </p:txBody>
      </p:sp>
      <p:sp>
        <p:nvSpPr>
          <p:cNvPr id="13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3A71969C-1ECC-49B2-9381-811B9CA3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EA21D24C-C736-49F6-8145-A3A052CB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0537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时间线、检查点和基础恢复</a:t>
            </a:r>
          </a:p>
        </p:txBody>
      </p:sp>
      <p:sp>
        <p:nvSpPr>
          <p:cNvPr id="15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74596D0C-A683-4795-BD0F-B096886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84A5A4BB-A55F-48C0-A0B5-E58BBAB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模型配置与内容基础接入</a:t>
            </a:r>
          </a:p>
        </p:txBody>
      </p:sp>
      <p:sp>
        <p:nvSpPr>
          <p:cNvPr id="17" name="v10-label">
            <a:extLst xmlns:a="http://schemas.openxmlformats.org/drawingml/2006/main">
              <a:ext uri="{FF2B5EF4-FFF2-40B4-BE49-F238E27FC236}">
                <a16:creationId xmlns:a16="http://schemas.microsoft.com/office/drawing/2014/main" id="{8A119DA9-DBFC-4E7A-8DDD-28569706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V1.0  ·  完整产品形态</a:t>
            </a:r>
          </a:p>
        </p:txBody>
      </p:sp>
      <p:sp>
        <p:nvSpPr>
          <p:cNvPr id="18" name="v10-panel">
            <a:extLst xmlns:a="http://schemas.openxmlformats.org/drawingml/2006/main">
              <a:ext uri="{FF2B5EF4-FFF2-40B4-BE49-F238E27FC236}">
                <a16:creationId xmlns:a16="http://schemas.microsoft.com/office/drawing/2014/main" id="{D5DBDB3D-0E99-4A66-85B0-052034CE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80F8EE67-ECC2-4153-B4B7-2CAEAE8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4310ED76-AA9F-42F5-B150-72633F86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目标战役长度内的长期一致性</a:t>
            </a:r>
          </a:p>
        </p:txBody>
      </p:sp>
      <p:sp>
        <p:nvSpPr>
          <p:cNvPr id="21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AD1B42C6-758E-4BBF-A2EC-9AE341C7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8C0253AD-7AC5-4BFE-8E83-C5ACF60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9572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文字卡、轻量内容与剧本包兼容</a:t>
            </a:r>
          </a:p>
        </p:txBody>
      </p:sp>
      <p:sp>
        <p:nvSpPr>
          <p:cNvPr id="23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C645E6E5-3200-47F6-A1E2-A220600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B5C7A96C-E2EE-4339-92A8-52522C76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Scenario Pack 制作与发布路径</a:t>
            </a:r>
          </a:p>
        </p:txBody>
      </p:sp>
      <p:sp>
        <p:nvSpPr>
          <p:cNvPr id="25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EAF1C035-E800-4A15-B747-18A3AD7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BB0B3E2C-8CA8-4153-AE81-2D1011C2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0537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模型替换、失败降级和成本控制</a:t>
            </a:r>
          </a:p>
        </p:txBody>
      </p:sp>
      <p:sp>
        <p:nvSpPr>
          <p:cNvPr id="27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4DDCE853-653B-441D-8795-ABFCAFEE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12273A42-CE10-4D49-861E-BEF251EF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102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存档回滚、分支、迁移与完整文档</a:t>
            </a:r>
          </a:p>
        </p:txBody>
      </p:sp>
      <p:sp>
        <p:nvSpPr>
          <p:cNvPr id="29" name="version-boundary">
            <a:extLst xmlns:a="http://schemas.openxmlformats.org/drawingml/2006/main">
              <a:ext uri="{FF2B5EF4-FFF2-40B4-BE49-F238E27FC236}">
                <a16:creationId xmlns:a16="http://schemas.microsoft.com/office/drawing/2014/main" id="{A4865AF6-D5A5-48B5-B232-090F35C1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629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V1.0 仍聚焦 AI 主持的单人跑团；多人实时联机与真人 GM 工作台属于远期方向。</a:t>
            </a:r>
          </a:p>
        </p:txBody>
      </p:sp>
    </p:spTree>
    <p:extLst>
      <p:ext uri="{BB962C8B-B14F-4D97-AF65-F5344CB8AC3E}">
        <p14:creationId xmlns:p14="http://schemas.microsoft.com/office/powerpoint/2010/main" val="1180753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524C535-2A0B-4961-9A97-F3855E9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AI TRPG ENGINE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ABD1493-3A64-4A48-8C70-3A0F8C73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 AI 成为主持人，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让程序守住世界的事实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9694C819-421E-4362-B01C-D865B7A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当前成果：完整试玩闭环 · 本地权威状态 · 可替换模型 · 可恢复历史</a:t>
            </a:r>
          </a:p>
        </p:txBody>
      </p:sp>
      <p:sp>
        <p:nvSpPr>
          <p:cNvPr id="4" name="close-future">
            <a:extLst xmlns:a="http://schemas.openxmlformats.org/drawingml/2006/main">
              <a:ext uri="{FF2B5EF4-FFF2-40B4-BE49-F238E27FC236}">
                <a16:creationId xmlns:a16="http://schemas.microsoft.com/office/drawing/2014/main" id="{05EA950B-CE5E-49CF-8DF4-687E554A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CBF4"/>
                </a:solidFill>
              </a:defRPr>
            </a:pPr>
            <a:r>
              <a:rPr sz="1575" b="0">
                <a:solidFill>
                  <a:srgbClr val="6DCBF4"/>
                </a:solidFill>
              </a:rPr>
              <a:t>下一步：增强长期记忆与内容工具，并逐步探索多人协作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0A907B85-89D4-409E-8EC7-C1B0F50E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a">
            <a:extLst xmlns:a="http://schemas.openxmlformats.org/drawingml/2006/main">
              <a:ext uri="{FF2B5EF4-FFF2-40B4-BE49-F238E27FC236}">
                <a16:creationId xmlns:a16="http://schemas.microsoft.com/office/drawing/2014/main" id="{52A9585B-6EF7-4E00-BCC4-0BFE3A1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5C1305CC-098C-4B5A-B6DC-BA20C73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感谢各位老师指导</a:t>
            </a:r>
          </a:p>
        </p:txBody>
      </p:sp>
    </p:spTree>
    <p:extLst>
      <p:ext uri="{BB962C8B-B14F-4D97-AF65-F5344CB8AC3E}">
        <p14:creationId xmlns:p14="http://schemas.microsoft.com/office/powerpoint/2010/main" val="1455524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2026-08-25T04:00:24.2620000Z</dcterms:created>
  <dcterms:modified xsi:type="dcterms:W3CDTF">2026-08-25T04:00:24.2620000Z</dcterms:modified>
</coreProperties>
</file>