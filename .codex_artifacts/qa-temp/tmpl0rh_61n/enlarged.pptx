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a369f5efe75455f" Type="http://schemas.openxmlformats.org/officeDocument/2006/relationships/officeDocument" Target="ppt/presentation.xml"/><Relationship Id="R7d1d16cdc0b0487a" Type="http://schemas.openxmlformats.org/officeDocument/2006/relationships/extended-properties" Target="docProps/app.xml"/><Relationship Id="R9099b2f4c178401b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e63a09d0764a8d"/>
  </p:sldMasterIdLst>
  <p:notesMasterIdLst>
    <p:notesMasterId xmlns:r="http://schemas.openxmlformats.org/officeDocument/2006/relationships" r:id="R97eb006bfad84b84"/>
  </p:notesMasterIdLst>
  <p:sldIdLst>
    <p:sldId xmlns:r="http://schemas.openxmlformats.org/officeDocument/2006/relationships" id="256" r:id="R2ed13e91143c4949"/>
    <p:sldId xmlns:r="http://schemas.openxmlformats.org/officeDocument/2006/relationships" id="257" r:id="R8f353c3bc1fc4632"/>
    <p:sldId xmlns:r="http://schemas.openxmlformats.org/officeDocument/2006/relationships" id="258" r:id="R33b1e0d6bb294202"/>
    <p:sldId xmlns:r="http://schemas.openxmlformats.org/officeDocument/2006/relationships" id="259" r:id="Rf9902528b0704b1b"/>
    <p:sldId xmlns:r="http://schemas.openxmlformats.org/officeDocument/2006/relationships" id="260" r:id="Re753a1641702443d"/>
    <p:sldId xmlns:r="http://schemas.openxmlformats.org/officeDocument/2006/relationships" id="261" r:id="Rde7a2e2ef45b40e3"/>
    <p:sldId xmlns:r="http://schemas.openxmlformats.org/officeDocument/2006/relationships" id="262" r:id="R8a24985492574bd9"/>
    <p:sldId xmlns:r="http://schemas.openxmlformats.org/officeDocument/2006/relationships" id="263" r:id="R997f848c4d564c0d"/>
    <p:sldId xmlns:r="http://schemas.openxmlformats.org/officeDocument/2006/relationships" id="264" r:id="R4e77907ec2814963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ed13e91143c4949" Type="http://schemas.openxmlformats.org/officeDocument/2006/relationships/slide" Target="slides/slide1.xml"/><Relationship Id="R33b1e0d6bb294202" Type="http://schemas.openxmlformats.org/officeDocument/2006/relationships/slide" Target="slides/slide3.xml"/><Relationship Id="R4e77907ec2814963" Type="http://schemas.openxmlformats.org/officeDocument/2006/relationships/slide" Target="slides/slide9.xml"/><Relationship Id="R859fb8d08038497c" Type="http://schemas.openxmlformats.org/officeDocument/2006/relationships/presProps" Target="presProps.xml"/><Relationship Id="R8a24985492574bd9" Type="http://schemas.openxmlformats.org/officeDocument/2006/relationships/slide" Target="slides/slide7.xml"/><Relationship Id="R8f353c3bc1fc4632" Type="http://schemas.openxmlformats.org/officeDocument/2006/relationships/slide" Target="slides/slide2.xml"/><Relationship Id="R96c58379ca1445aa" Type="http://schemas.openxmlformats.org/officeDocument/2006/relationships/tableStyles" Target="tableStyles.xml"/><Relationship Id="R97eb006bfad84b84" Type="http://schemas.openxmlformats.org/officeDocument/2006/relationships/notesMaster" Target="notesMasters/notesMaster1.xml"/><Relationship Id="R997f848c4d564c0d" Type="http://schemas.openxmlformats.org/officeDocument/2006/relationships/slide" Target="slides/slide8.xml"/><Relationship Id="Rcce08734923b4de8" Type="http://schemas.openxmlformats.org/officeDocument/2006/relationships/theme" Target="theme/theme1.xml"/><Relationship Id="Rcee63a09d0764a8d" Type="http://schemas.openxmlformats.org/officeDocument/2006/relationships/slideMaster" Target="slideMasters/slideMaster1.xml"/><Relationship Id="Rde7a2e2ef45b40e3" Type="http://schemas.openxmlformats.org/officeDocument/2006/relationships/slide" Target="slides/slide6.xml"/><Relationship Id="Re753a1641702443d" Type="http://schemas.openxmlformats.org/officeDocument/2006/relationships/slide" Target="slides/slide5.xml"/><Relationship Id="Rf9902528b0704b1b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4f326be8f595448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3399ca34ae446b4" Type="http://schemas.openxmlformats.org/officeDocument/2006/relationships/slide" Target="../slides/slide1.xml"/><Relationship Id="R1919492721f947aa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a8bcd1433584c95" Type="http://schemas.openxmlformats.org/officeDocument/2006/relationships/slide" Target="../slides/slide2.xml"/><Relationship Id="Re91210c008b9446a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40624403076465d" Type="http://schemas.openxmlformats.org/officeDocument/2006/relationships/notesMaster" Target="../notesMasters/notesMaster1.xml"/><Relationship Id="Ree3c39380ad44711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cb3a3ca8d0c43fd" Type="http://schemas.openxmlformats.org/officeDocument/2006/relationships/slide" Target="../slides/slide4.xml"/><Relationship Id="Rcc6464efa142429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2db0e4166a24332" Type="http://schemas.openxmlformats.org/officeDocument/2006/relationships/notesMaster" Target="../notesMasters/notesMaster1.xml"/><Relationship Id="R3652442e81ba440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961fd469dff4d94" Type="http://schemas.openxmlformats.org/officeDocument/2006/relationships/notesMaster" Target="../notesMasters/notesMaster1.xml"/><Relationship Id="Rca6bed3c7e5048e3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7c697fac8709421c" Type="http://schemas.openxmlformats.org/officeDocument/2006/relationships/slide" Target="../slides/slide7.xml"/><Relationship Id="Re9494f4226e24fa5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868334b9a6c34d3f" Type="http://schemas.openxmlformats.org/officeDocument/2006/relationships/notesMaster" Target="../notesMasters/notesMaster1.xml"/><Relationship Id="R8f0f1af1754e4e76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70cb45bcd38b448f" Type="http://schemas.openxmlformats.org/officeDocument/2006/relationships/slide" Target="../slides/slide9.xml"/><Relationship Id="Rdf74bc2704aa4997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8a0ca6c5f8943cb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213ec603c31424b" Type="http://schemas.openxmlformats.org/officeDocument/2006/relationships/slideLayout" Target="../slideLayouts/slideLayout1.xml"/><Relationship Id="Rb4ea3d84740b4401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13ec603c3142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90621246d8f4b21" Type="http://schemas.openxmlformats.org/officeDocument/2006/relationships/slideLayout" Target="../slideLayouts/slideLayout1.xml"/><Relationship Id="Rb302b5a345db4f2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9bdfaa1987642ad" Type="http://schemas.openxmlformats.org/officeDocument/2006/relationships/slideLayout" Target="../slideLayouts/slideLayout1.xml"/><Relationship Id="R49bcf8b4ea05476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93066bed59d84f9d" Type="http://schemas.openxmlformats.org/officeDocument/2006/relationships/slideLayout" Target="../slideLayouts/slideLayout1.xml"/><Relationship Id="Ra349f4f9cc644c0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0455889d31324cb2" Type="http://schemas.openxmlformats.org/officeDocument/2006/relationships/slideLayout" Target="../slideLayouts/slideLayout1.xml"/><Relationship Id="R6cffee76ed9e43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376576b1d25a4853" Type="http://schemas.openxmlformats.org/officeDocument/2006/relationships/slideLayout" Target="../slideLayouts/slideLayout1.xml"/><Relationship Id="R37a5eddcee26499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70ba7e01a984a73" Type="http://schemas.openxmlformats.org/officeDocument/2006/relationships/slideLayout" Target="../slideLayouts/slideLayout1.xml"/><Relationship Id="Ra0f200cd84dc4d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89434e91288e4e98" Type="http://schemas.openxmlformats.org/officeDocument/2006/relationships/notesSlide" Target="../notesSlides/notesSlide7.xml"/><Relationship Id="Ra16618defd104916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d81d0a7223094f7d" Type="http://schemas.openxmlformats.org/officeDocument/2006/relationships/slideLayout" Target="../slideLayouts/slideLayout1.xml"/><Relationship Id="Re18f0b645d0e41df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bb38934c8c14afa" Type="http://schemas.openxmlformats.org/officeDocument/2006/relationships/slideLayout" Target="../slideLayouts/slideLayout1.xml"/><Relationship Id="Ra24bdc0f3f2a46be" Type="http://schemas.openxmlformats.org/officeDocument/2006/relationships/notesSlide" Target="../notesSlides/notesSlide9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4" name="Rectangle 1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ver-field">
            <a:extLst xmlns:a="http://schemas.openxmlformats.org/drawingml/2006/main">
              <a:ext uri="{FF2B5EF4-FFF2-40B4-BE49-F238E27FC236}">
                <a16:creationId xmlns:a16="http://schemas.microsoft.com/office/drawing/2014/main" id="{3F79E4BF-A33A-4D08-ADC7-FF4D4008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6200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bar">
            <a:extLst xmlns:a="http://schemas.openxmlformats.org/drawingml/2006/main">
              <a:ext uri="{FF2B5EF4-FFF2-40B4-BE49-F238E27FC236}">
                <a16:creationId xmlns:a16="http://schemas.microsoft.com/office/drawing/2014/main" id="{9DC5DAB3-280F-4C2F-B14A-08048B93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6200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7B81BCF-5AFC-4DBC-AD32-E5BF8391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81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毕业实习项目答辩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4B41815-5C9A-4500-9B98-03328444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4315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AI TRPG Engine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527071C-4A55-4728-AAF0-10FB43DC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290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573"/>
                </a:solidFill>
              </a:defRPr>
            </a:pPr>
            <a:r>
              <a:rPr sz="1950" b="0">
                <a:solidFill>
                  <a:srgbClr val="5B6573"/>
                </a:solidFill>
              </a:rPr>
              <a:t>本地优先的 AI 单人跑团桌面引擎</a:t>
            </a:r>
          </a:p>
        </p:txBody>
      </p:sp>
      <p:sp>
        <p:nvSpPr>
          <p:cNvPr id="6" name="cover-value">
            <a:extLst xmlns:a="http://schemas.openxmlformats.org/drawingml/2006/main">
              <a:ext uri="{FF2B5EF4-FFF2-40B4-BE49-F238E27FC236}">
                <a16:creationId xmlns:a16="http://schemas.microsoft.com/office/drawing/2014/main" id="{AB237A6C-E5BE-4687-BED1-44BE632A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AI 负责理解与叙事，程序负责规则与事实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01B97F1B-0524-4E16-8B36-EE3D1FFD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19750"/>
            <a:ext cx="571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00000"/>
                </a:solidFill>
              </a:defRPr>
            </a:pPr>
            <a:r>
              <a:rPr sz="1350" b="0">
                <a:solidFill>
                  <a:srgbClr val="C00000"/>
                </a:solidFill>
              </a:rPr>
              <a:t>组号：【待替换：组号】</a:t>
            </a:r>
          </a:p>
          <a:p xmlns:a="http://schemas.openxmlformats.org/drawingml/2006/main">
            <a:pPr algn="l">
              <a:defRPr sz="1350" b="0">
                <a:solidFill>
                  <a:srgbClr val="C00000"/>
                </a:solidFill>
              </a:defRPr>
            </a:pPr>
            <a:r>
              <a:rPr sz="1350" b="0">
                <a:solidFill>
                  <a:srgbClr val="C00000"/>
                </a:solidFill>
              </a:rPr>
              <a:t>组长：【待替换：组长姓名】</a:t>
            </a:r>
          </a:p>
          <a:p xmlns:a="http://schemas.openxmlformats.org/drawingml/2006/main">
            <a:pPr algn="l">
              <a:defRPr sz="1350" b="0">
                <a:solidFill>
                  <a:srgbClr val="C00000"/>
                </a:solidFill>
              </a:defRPr>
            </a:pPr>
            <a:r>
              <a:rPr sz="1350" b="0">
                <a:solidFill>
                  <a:srgbClr val="C00000"/>
                </a:solidFill>
              </a:rPr>
              <a:t>成员：【待替换：全部成员姓名】</a:t>
            </a:r>
          </a:p>
        </p:txBody>
      </p:sp>
      <p:sp>
        <p:nvSpPr>
          <p:cNvPr id="8" name="placeholder-产品主界面截图或产品氛围图">
            <a:extLst xmlns:a="http://schemas.openxmlformats.org/drawingml/2006/main">
              <a:ext uri="{FF2B5EF4-FFF2-40B4-BE49-F238E27FC236}">
                <a16:creationId xmlns:a16="http://schemas.microsoft.com/office/drawing/2014/main" id="{733C5836-3443-4644-90C9-C247D018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81200"/>
            <a:ext cx="342900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placeholder-text-产品主界面截图或产品氛围图">
            <a:extLst xmlns:a="http://schemas.openxmlformats.org/drawingml/2006/main">
              <a:ext uri="{FF2B5EF4-FFF2-40B4-BE49-F238E27FC236}">
                <a16:creationId xmlns:a16="http://schemas.microsoft.com/office/drawing/2014/main" id="{DBBA0DE1-052E-4D9B-9794-64FCC9BB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052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【待替换：产品主界面截图或产品氛围图】</a:t>
            </a:r>
          </a:p>
        </p:txBody>
      </p:sp>
    </p:spTree>
    <p:extLst>
      <p:ext uri="{BB962C8B-B14F-4D97-AF65-F5344CB8AC3E}">
        <p14:creationId xmlns:p14="http://schemas.microsoft.com/office/powerpoint/2010/main" val="377318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-2">
            <a:extLst xmlns:a="http://schemas.openxmlformats.org/drawingml/2006/main">
              <a:ext uri="{FF2B5EF4-FFF2-40B4-BE49-F238E27FC236}">
                <a16:creationId xmlns:a16="http://schemas.microsoft.com/office/drawing/2014/main" id="{928E7763-22E4-44B6-8341-0B55F0F4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01  产品场景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E77A4AE-F68D-4D58-AAF6-ED9F4973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我们要解决的不是“聊天”，而是一场能持续的游戏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E7B81D68-2316-43C3-A391-8F1D3515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879175B2-34C0-449B-BEEB-F98CA346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02</a:t>
            </a:r>
          </a:p>
        </p:txBody>
      </p:sp>
      <p:sp>
        <p:nvSpPr>
          <p:cNvPr id="5" name="box-现实跑团">
            <a:extLst xmlns:a="http://schemas.openxmlformats.org/drawingml/2006/main">
              <a:ext uri="{FF2B5EF4-FFF2-40B4-BE49-F238E27FC236}">
                <a16:creationId xmlns:a16="http://schemas.microsoft.com/office/drawing/2014/main" id="{32FE1833-F406-4532-8023-48D38913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2890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-accent-现实跑团">
            <a:extLst xmlns:a="http://schemas.openxmlformats.org/drawingml/2006/main">
              <a:ext uri="{FF2B5EF4-FFF2-40B4-BE49-F238E27FC236}">
                <a16:creationId xmlns:a16="http://schemas.microsoft.com/office/drawing/2014/main" id="{865B7B43-11D8-4E55-A399-04BF5B9D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289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-title-现实跑团">
            <a:extLst xmlns:a="http://schemas.openxmlformats.org/drawingml/2006/main">
              <a:ext uri="{FF2B5EF4-FFF2-40B4-BE49-F238E27FC236}">
                <a16:creationId xmlns:a16="http://schemas.microsoft.com/office/drawing/2014/main" id="{E93F5B31-7DAC-43C2-8D68-D98606D7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00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现实跑团</a:t>
            </a:r>
          </a:p>
        </p:txBody>
      </p:sp>
      <p:sp>
        <p:nvSpPr>
          <p:cNvPr id="8" name="box-body-现实跑团">
            <a:extLst xmlns:a="http://schemas.openxmlformats.org/drawingml/2006/main">
              <a:ext uri="{FF2B5EF4-FFF2-40B4-BE49-F238E27FC236}">
                <a16:creationId xmlns:a16="http://schemas.microsoft.com/office/drawing/2014/main" id="{6DE94400-4F4A-4D90-B972-A56CA33B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813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需要主持人、玩家和连续时间安排，组织成本高。</a:t>
            </a:r>
          </a:p>
        </p:txBody>
      </p:sp>
      <p:sp>
        <p:nvSpPr>
          <p:cNvPr id="9" name="box-普通 AI 对话">
            <a:extLst xmlns:a="http://schemas.openxmlformats.org/drawingml/2006/main">
              <a:ext uri="{FF2B5EF4-FFF2-40B4-BE49-F238E27FC236}">
                <a16:creationId xmlns:a16="http://schemas.microsoft.com/office/drawing/2014/main" id="{9B0DE65E-AC70-489A-85D5-98F6960B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-accent-普通 AI 对话">
            <a:extLst xmlns:a="http://schemas.openxmlformats.org/drawingml/2006/main">
              <a:ext uri="{FF2B5EF4-FFF2-40B4-BE49-F238E27FC236}">
                <a16:creationId xmlns:a16="http://schemas.microsoft.com/office/drawing/2014/main" id="{E57A90E2-A78C-4CAB-95B0-42B0E66A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-title-普通 AI 对话">
            <a:extLst xmlns:a="http://schemas.openxmlformats.org/drawingml/2006/main">
              <a:ext uri="{FF2B5EF4-FFF2-40B4-BE49-F238E27FC236}">
                <a16:creationId xmlns:a16="http://schemas.microsoft.com/office/drawing/2014/main" id="{DE34F480-17C4-45FF-82EF-571585DD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普通 AI 对话</a:t>
            </a:r>
          </a:p>
        </p:txBody>
      </p:sp>
      <p:sp>
        <p:nvSpPr>
          <p:cNvPr id="12" name="box-body-普通 AI 对话">
            <a:extLst xmlns:a="http://schemas.openxmlformats.org/drawingml/2006/main">
              <a:ext uri="{FF2B5EF4-FFF2-40B4-BE49-F238E27FC236}">
                <a16:creationId xmlns:a16="http://schemas.microsoft.com/office/drawing/2014/main" id="{49258F06-5A0D-4D84-8620-522AB024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813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叙事自由，但关键人物、道具和既有结果容易被遗忘或改写。</a:t>
            </a:r>
          </a:p>
        </p:txBody>
      </p:sp>
      <p:sp>
        <p:nvSpPr>
          <p:cNvPr id="13" name="box-AI TRPG Engine">
            <a:extLst xmlns:a="http://schemas.openxmlformats.org/drawingml/2006/main">
              <a:ext uri="{FF2B5EF4-FFF2-40B4-BE49-F238E27FC236}">
                <a16:creationId xmlns:a16="http://schemas.microsoft.com/office/drawing/2014/main" id="{3AD3C6EE-A141-453C-8118-B6AE7FEA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3695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-accent-AI TRPG Engine">
            <a:extLst xmlns:a="http://schemas.openxmlformats.org/drawingml/2006/main">
              <a:ext uri="{FF2B5EF4-FFF2-40B4-BE49-F238E27FC236}">
                <a16:creationId xmlns:a16="http://schemas.microsoft.com/office/drawing/2014/main" id="{7D6A5B30-F39C-48A0-8AC1-CAB27A3B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-title-AI TRPG Engine">
            <a:extLst xmlns:a="http://schemas.openxmlformats.org/drawingml/2006/main">
              <a:ext uri="{FF2B5EF4-FFF2-40B4-BE49-F238E27FC236}">
                <a16:creationId xmlns:a16="http://schemas.microsoft.com/office/drawing/2014/main" id="{49A1AF82-0884-4EA2-9B2A-BBC05789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0035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AI TRPG Engine</a:t>
            </a:r>
          </a:p>
        </p:txBody>
      </p:sp>
      <p:sp>
        <p:nvSpPr>
          <p:cNvPr id="16" name="box-body-AI TRPG Engine">
            <a:extLst xmlns:a="http://schemas.openxmlformats.org/drawingml/2006/main">
              <a:ext uri="{FF2B5EF4-FFF2-40B4-BE49-F238E27FC236}">
                <a16:creationId xmlns:a16="http://schemas.microsoft.com/office/drawing/2014/main" id="{9D3DCF83-32E1-4A35-A65F-36DEE501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81350"/>
            <a:ext cx="3314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自然语言自由行动，同时用规则、状态和事件维护长期一致性。</a:t>
            </a:r>
          </a:p>
        </p:txBody>
      </p:sp>
      <p:sp>
        <p:nvSpPr>
          <p:cNvPr id="17" name="value">
            <a:extLst xmlns:a="http://schemas.openxmlformats.org/drawingml/2006/main">
              <a:ext uri="{FF2B5EF4-FFF2-40B4-BE49-F238E27FC236}">
                <a16:creationId xmlns:a16="http://schemas.microsoft.com/office/drawing/2014/main" id="{C96CD170-6142-4520-9CC7-10DDDD81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149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一句话价值</a:t>
            </a:r>
          </a:p>
        </p:txBody>
      </p:sp>
      <p:sp>
        <p:nvSpPr>
          <p:cNvPr id="18" name="value-statement">
            <a:extLst xmlns:a="http://schemas.openxmlformats.org/drawingml/2006/main">
              <a:ext uri="{FF2B5EF4-FFF2-40B4-BE49-F238E27FC236}">
                <a16:creationId xmlns:a16="http://schemas.microsoft.com/office/drawing/2014/main" id="{50546E96-120F-4705-8416-EE1C45E7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150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让玩家随时进入一场可保存、可追溯、可恢复的单人跑团。</a:t>
            </a:r>
          </a:p>
        </p:txBody>
      </p:sp>
    </p:spTree>
    <p:extLst>
      <p:ext uri="{BB962C8B-B14F-4D97-AF65-F5344CB8AC3E}">
        <p14:creationId xmlns:p14="http://schemas.microsoft.com/office/powerpoint/2010/main" val="420705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0" name="Rectangle 2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yebrow-3">
            <a:extLst xmlns:a="http://schemas.openxmlformats.org/drawingml/2006/main">
              <a:ext uri="{FF2B5EF4-FFF2-40B4-BE49-F238E27FC236}">
                <a16:creationId xmlns:a16="http://schemas.microsoft.com/office/drawing/2014/main" id="{7401A7F2-6D99-40D3-B451-A5873020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02  产品架构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46257A9-6D93-4CB7-9EC0-7C24A460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AI 负责叙事，确定性内核决定什么真正发生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E2064FE8-4932-4272-8CBE-4634C0BC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591F36A9-7730-4E06-B098-6D87A18A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03</a:t>
            </a:r>
          </a:p>
        </p:txBody>
      </p:sp>
      <p:sp>
        <p:nvSpPr>
          <p:cNvPr id="5" name="layer-0">
            <a:extLst xmlns:a="http://schemas.openxmlformats.org/drawingml/2006/main">
              <a:ext uri="{FF2B5EF4-FFF2-40B4-BE49-F238E27FC236}">
                <a16:creationId xmlns:a16="http://schemas.microsoft.com/office/drawing/2014/main" id="{689239D7-B9C6-4F14-B423-898143BE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FAFEE06E-C62E-4B21-B482-5431586B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14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玩家交互层</a:t>
            </a:r>
          </a:p>
        </p:txBody>
      </p:sp>
      <p:sp>
        <p:nvSpPr>
          <p:cNvPr id="7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74E4357D-1655-4AF7-8074-446F726D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React 界面 · 人物卡 · 叙事 · 时间线</a:t>
            </a:r>
          </a:p>
        </p:txBody>
      </p:sp>
      <p:sp>
        <p:nvSpPr>
          <p:cNvPr id="8" name="layer-1">
            <a:extLst xmlns:a="http://schemas.openxmlformats.org/drawingml/2006/main">
              <a:ext uri="{FF2B5EF4-FFF2-40B4-BE49-F238E27FC236}">
                <a16:creationId xmlns:a16="http://schemas.microsoft.com/office/drawing/2014/main" id="{4A11338B-8282-4602-A128-646A334B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F31C02AF-BFEF-409F-963D-C9B292F3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671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桌面与 AI 协调层</a:t>
            </a:r>
          </a:p>
        </p:txBody>
      </p:sp>
      <p:sp>
        <p:nvSpPr>
          <p:cNvPr id="1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94F05BC2-D9C7-4038-AD86-DFCA4013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861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Electron Main / Preload · Keeper · Model Gateway</a:t>
            </a:r>
          </a:p>
        </p:txBody>
      </p:sp>
      <p:sp>
        <p:nvSpPr>
          <p:cNvPr id="11" name="layer-2">
            <a:extLst xmlns:a="http://schemas.openxmlformats.org/drawingml/2006/main">
              <a:ext uri="{FF2B5EF4-FFF2-40B4-BE49-F238E27FC236}">
                <a16:creationId xmlns:a16="http://schemas.microsoft.com/office/drawing/2014/main" id="{653ED948-A6B0-4BD7-A085-963C1F2D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FFC14611-FF34-4ED5-AF7F-96C60EC4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19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确定性运行时</a:t>
            </a:r>
          </a:p>
        </p:txBody>
      </p:sp>
      <p:sp>
        <p:nvSpPr>
          <p:cNvPr id="13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1A2CD2AB-7861-4AEC-8512-6D89AD71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386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Turn Router · Rules · RNG · Validator · Events</a:t>
            </a:r>
          </a:p>
        </p:txBody>
      </p:sp>
      <p:sp>
        <p:nvSpPr>
          <p:cNvPr id="14" name="layer-3">
            <a:extLst xmlns:a="http://schemas.openxmlformats.org/drawingml/2006/main">
              <a:ext uri="{FF2B5EF4-FFF2-40B4-BE49-F238E27FC236}">
                <a16:creationId xmlns:a16="http://schemas.microsoft.com/office/drawing/2014/main" id="{455145DA-2E25-4CBD-9300-D2A3BA8A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292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ADC8966B-2EA4-4E05-A64B-4F11087E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721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本地数据层</a:t>
            </a:r>
          </a:p>
        </p:txBody>
      </p:sp>
      <p:sp>
        <p:nvSpPr>
          <p:cNvPr id="16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D481E174-B7D9-4896-9D37-1BD1F285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911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SQLite · Current State · Immutable Event Log · Checkpoint</a:t>
            </a:r>
          </a:p>
        </p:txBody>
      </p:sp>
      <p:sp>
        <p:nvSpPr>
          <p:cNvPr id="17" name="arch-rule">
            <a:extLst xmlns:a="http://schemas.openxmlformats.org/drawingml/2006/main">
              <a:ext uri="{FF2B5EF4-FFF2-40B4-BE49-F238E27FC236}">
                <a16:creationId xmlns:a16="http://schemas.microsoft.com/office/drawing/2014/main" id="{B0F8F22E-29B7-4526-92C5-985F13E9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289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核心边界</a:t>
            </a:r>
          </a:p>
        </p:txBody>
      </p:sp>
      <p:sp>
        <p:nvSpPr>
          <p:cNvPr id="18" name="bullet-dot-252-0">
            <a:extLst xmlns:a="http://schemas.openxmlformats.org/drawingml/2006/main">
              <a:ext uri="{FF2B5EF4-FFF2-40B4-BE49-F238E27FC236}">
                <a16:creationId xmlns:a16="http://schemas.microsoft.com/office/drawing/2014/main" id="{A8E757DF-2C56-4574-BC46-1BFB8AA5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48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252-0">
            <a:extLst xmlns:a="http://schemas.openxmlformats.org/drawingml/2006/main">
              <a:ext uri="{FF2B5EF4-FFF2-40B4-BE49-F238E27FC236}">
                <a16:creationId xmlns:a16="http://schemas.microsoft.com/office/drawing/2014/main" id="{494334E5-FBAE-44D1-9C2B-1095F016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623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AI 只生成候选和叙事</a:t>
            </a:r>
          </a:p>
        </p:txBody>
      </p:sp>
      <p:sp>
        <p:nvSpPr>
          <p:cNvPr id="20" name="bullet-dot-252-1">
            <a:extLst xmlns:a="http://schemas.openxmlformats.org/drawingml/2006/main">
              <a:ext uri="{FF2B5EF4-FFF2-40B4-BE49-F238E27FC236}">
                <a16:creationId xmlns:a16="http://schemas.microsoft.com/office/drawing/2014/main" id="{A71D7B4E-4816-4A92-AC01-1D0E21BE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252-1">
            <a:extLst xmlns:a="http://schemas.openxmlformats.org/drawingml/2006/main">
              <a:ext uri="{FF2B5EF4-FFF2-40B4-BE49-F238E27FC236}">
                <a16:creationId xmlns:a16="http://schemas.microsoft.com/office/drawing/2014/main" id="{408FA373-9290-41BF-BFE1-86265E36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481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程序校验并原子提交</a:t>
            </a:r>
          </a:p>
        </p:txBody>
      </p:sp>
      <p:sp>
        <p:nvSpPr>
          <p:cNvPr id="22" name="bullet-dot-252-2">
            <a:extLst xmlns:a="http://schemas.openxmlformats.org/drawingml/2006/main">
              <a:ext uri="{FF2B5EF4-FFF2-40B4-BE49-F238E27FC236}">
                <a16:creationId xmlns:a16="http://schemas.microsoft.com/office/drawing/2014/main" id="{459644B1-01D2-47E3-98CE-08135F9F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19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252-2">
            <a:extLst xmlns:a="http://schemas.openxmlformats.org/drawingml/2006/main">
              <a:ext uri="{FF2B5EF4-FFF2-40B4-BE49-F238E27FC236}">
                <a16:creationId xmlns:a16="http://schemas.microsoft.com/office/drawing/2014/main" id="{CDCDE8FE-912C-403D-9863-79213AD5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339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Renderer 不直连 SQLite</a:t>
            </a:r>
          </a:p>
        </p:txBody>
      </p:sp>
      <p:sp>
        <p:nvSpPr>
          <p:cNvPr id="24" name="bullet-dot-252-3">
            <a:extLst xmlns:a="http://schemas.openxmlformats.org/drawingml/2006/main">
              <a:ext uri="{FF2B5EF4-FFF2-40B4-BE49-F238E27FC236}">
                <a16:creationId xmlns:a16="http://schemas.microsoft.com/office/drawing/2014/main" id="{13825FD8-F4C5-4CFB-ADA0-DABFD506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305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252-3">
            <a:extLst xmlns:a="http://schemas.openxmlformats.org/drawingml/2006/main">
              <a:ext uri="{FF2B5EF4-FFF2-40B4-BE49-F238E27FC236}">
                <a16:creationId xmlns:a16="http://schemas.microsoft.com/office/drawing/2014/main" id="{29EFBB85-D520-4A24-8D9C-85D30FDF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197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模型可以替换或降级</a:t>
            </a:r>
          </a:p>
        </p:txBody>
      </p:sp>
    </p:spTree>
    <p:extLst>
      <p:ext uri="{BB962C8B-B14F-4D97-AF65-F5344CB8AC3E}">
        <p14:creationId xmlns:p14="http://schemas.microsoft.com/office/powerpoint/2010/main" val="6281155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yebrow-4">
            <a:extLst xmlns:a="http://schemas.openxmlformats.org/drawingml/2006/main">
              <a:ext uri="{FF2B5EF4-FFF2-40B4-BE49-F238E27FC236}">
                <a16:creationId xmlns:a16="http://schemas.microsoft.com/office/drawing/2014/main" id="{B7D87D26-13F8-491B-B325-89A66927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03  核心功能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98AC69F-9276-47B8-BFB7-FDAD28D5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四项核心能力组成完整的单人跑团闭环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FBCB551F-2D4B-430C-9427-E7F262A8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8FB6CFB7-9DAF-4835-BB1B-AE180948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04</a:t>
            </a:r>
          </a:p>
        </p:txBody>
      </p:sp>
      <p:sp>
        <p:nvSpPr>
          <p:cNvPr id="5" name="box-01  创建角色">
            <a:extLst xmlns:a="http://schemas.openxmlformats.org/drawingml/2006/main">
              <a:ext uri="{FF2B5EF4-FFF2-40B4-BE49-F238E27FC236}">
                <a16:creationId xmlns:a16="http://schemas.microsoft.com/office/drawing/2014/main" id="{312E188A-8AB4-4929-881C-C39591C9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90800"/>
            <a:ext cx="504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-accent-01  创建角色">
            <a:extLst xmlns:a="http://schemas.openxmlformats.org/drawingml/2006/main">
              <a:ext uri="{FF2B5EF4-FFF2-40B4-BE49-F238E27FC236}">
                <a16:creationId xmlns:a16="http://schemas.microsoft.com/office/drawing/2014/main" id="{E5E6A3FB-2F11-4D68-9A19-B24BDC8E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90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-title-01  创建角色">
            <a:extLst xmlns:a="http://schemas.openxmlformats.org/drawingml/2006/main">
              <a:ext uri="{FF2B5EF4-FFF2-40B4-BE49-F238E27FC236}">
                <a16:creationId xmlns:a16="http://schemas.microsoft.com/office/drawing/2014/main" id="{C7F8F552-91B4-4D07-BFAE-5642F1D5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62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01  创建角色</a:t>
            </a:r>
          </a:p>
        </p:txBody>
      </p:sp>
      <p:sp>
        <p:nvSpPr>
          <p:cNvPr id="8" name="box-body-01  创建角色">
            <a:extLst xmlns:a="http://schemas.openxmlformats.org/drawingml/2006/main">
              <a:ext uri="{FF2B5EF4-FFF2-40B4-BE49-F238E27FC236}">
                <a16:creationId xmlns:a16="http://schemas.microsoft.com/office/drawing/2014/main" id="{2F0B10CC-8811-4A72-936E-819DFEE5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432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属性分配、正式人物卡、稳定实体身份</a:t>
            </a:r>
          </a:p>
        </p:txBody>
      </p:sp>
      <p:sp>
        <p:nvSpPr>
          <p:cNvPr id="9" name="box-02  自由行动">
            <a:extLst xmlns:a="http://schemas.openxmlformats.org/drawingml/2006/main">
              <a:ext uri="{FF2B5EF4-FFF2-40B4-BE49-F238E27FC236}">
                <a16:creationId xmlns:a16="http://schemas.microsoft.com/office/drawing/2014/main" id="{A57A19EE-5775-4889-A245-60DEA871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5505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-accent-02  自由行动">
            <a:extLst xmlns:a="http://schemas.openxmlformats.org/drawingml/2006/main">
              <a:ext uri="{FF2B5EF4-FFF2-40B4-BE49-F238E27FC236}">
                <a16:creationId xmlns:a16="http://schemas.microsoft.com/office/drawing/2014/main" id="{D386023A-070E-4CF1-9875-CA7DBFA6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-title-02  自由行动">
            <a:extLst xmlns:a="http://schemas.openxmlformats.org/drawingml/2006/main">
              <a:ext uri="{FF2B5EF4-FFF2-40B4-BE49-F238E27FC236}">
                <a16:creationId xmlns:a16="http://schemas.microsoft.com/office/drawing/2014/main" id="{D929C219-020E-46D8-B628-6EF65F96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6225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02  自由行动</a:t>
            </a:r>
          </a:p>
        </p:txBody>
      </p:sp>
      <p:sp>
        <p:nvSpPr>
          <p:cNvPr id="12" name="box-body-02  自由行动">
            <a:extLst xmlns:a="http://schemas.openxmlformats.org/drawingml/2006/main">
              <a:ext uri="{FF2B5EF4-FFF2-40B4-BE49-F238E27FC236}">
                <a16:creationId xmlns:a16="http://schemas.microsoft.com/office/drawing/2014/main" id="{C8B9F06B-9213-4E8C-B87D-E799F604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43250"/>
            <a:ext cx="5124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玩家用自然语言调查、交谈、移动或尝试</a:t>
            </a:r>
          </a:p>
        </p:txBody>
      </p:sp>
      <p:sp>
        <p:nvSpPr>
          <p:cNvPr id="13" name="box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FA5CFFD0-216D-4622-9EAC-72E17495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504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-accent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F0F005CD-18CC-4BD4-9E50-3085AAF8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-title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DB8A2948-367A-4D2D-AED8-7A90B082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67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03  检定与叙事</a:t>
            </a:r>
          </a:p>
        </p:txBody>
      </p:sp>
      <p:sp>
        <p:nvSpPr>
          <p:cNvPr id="16" name="box-body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C2B834F0-640E-4299-8B77-9455C4A0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482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系统先裁定并提交，再由 AI 生成主持人反馈</a:t>
            </a:r>
          </a:p>
        </p:txBody>
      </p:sp>
      <p:sp>
        <p:nvSpPr>
          <p:cNvPr id="17" name="box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1ACE3814-0F07-4060-A7C5-EDB3C43B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5505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-accent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D7F16AEF-3458-4458-95AF-1278E873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-title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ABF78D8B-CA1C-4C8E-BE81-7F698347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6725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04  保存与恢复</a:t>
            </a:r>
          </a:p>
        </p:txBody>
      </p:sp>
      <p:sp>
        <p:nvSpPr>
          <p:cNvPr id="20" name="box-body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526DAC3D-A90B-495B-B075-FC063946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48250"/>
            <a:ext cx="5124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时间线、检查点、分支副本和战役备份</a:t>
            </a:r>
          </a:p>
        </p:txBody>
      </p:sp>
      <p:sp>
        <p:nvSpPr>
          <p:cNvPr id="21" name="feature-note">
            <a:extLst xmlns:a="http://schemas.openxmlformats.org/drawingml/2006/main">
              <a:ext uri="{FF2B5EF4-FFF2-40B4-BE49-F238E27FC236}">
                <a16:creationId xmlns:a16="http://schemas.microsoft.com/office/drawing/2014/main" id="{EE100C39-5F84-4004-8111-CCA6D77E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151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可接入本地模型或用户自己的云端模型密钥</a:t>
            </a:r>
          </a:p>
        </p:txBody>
      </p:sp>
    </p:spTree>
    <p:extLst>
      <p:ext uri="{BB962C8B-B14F-4D97-AF65-F5344CB8AC3E}">
        <p14:creationId xmlns:p14="http://schemas.microsoft.com/office/powerpoint/2010/main" val="8708590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9" name="Rectangle 2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yebrow-5">
            <a:extLst xmlns:a="http://schemas.openxmlformats.org/drawingml/2006/main">
              <a:ext uri="{FF2B5EF4-FFF2-40B4-BE49-F238E27FC236}">
                <a16:creationId xmlns:a16="http://schemas.microsoft.com/office/drawing/2014/main" id="{F2285E14-355C-4863-831B-ACF4842A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04  数据库与 API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13E6C4C-51EC-4DDE-9B63-3A8F773C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状态 + 事件 + 类型化 API，让系统结果可验证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82C297EB-0A8A-4641-9091-D3B38ECB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CDE940F2-E8A6-49D9-9F62-E34E3D53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05</a:t>
            </a:r>
          </a:p>
        </p:txBody>
      </p:sp>
      <p:sp>
        <p:nvSpPr>
          <p:cNvPr id="5" name="data-title">
            <a:extLst xmlns:a="http://schemas.openxmlformats.org/drawingml/2006/main">
              <a:ext uri="{FF2B5EF4-FFF2-40B4-BE49-F238E27FC236}">
                <a16:creationId xmlns:a16="http://schemas.microsoft.com/office/drawing/2014/main" id="{66EA94AD-3016-4B55-94CC-5F19734B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SQLite 数据设计</a:t>
            </a:r>
          </a:p>
        </p:txBody>
      </p:sp>
      <p:sp>
        <p:nvSpPr>
          <p:cNvPr id="6" name="bullet-dot-250-0">
            <a:extLst xmlns:a="http://schemas.openxmlformats.org/drawingml/2006/main">
              <a:ext uri="{FF2B5EF4-FFF2-40B4-BE49-F238E27FC236}">
                <a16:creationId xmlns:a16="http://schemas.microsoft.com/office/drawing/2014/main" id="{CF8FF42A-229D-4CF5-9680-5042ED23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28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250-0">
            <a:extLst xmlns:a="http://schemas.openxmlformats.org/drawingml/2006/main">
              <a:ext uri="{FF2B5EF4-FFF2-40B4-BE49-F238E27FC236}">
                <a16:creationId xmlns:a16="http://schemas.microsoft.com/office/drawing/2014/main" id="{BDD3102D-A652-47BB-A22D-C5B4E46D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432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Current State：快速读取当前世界</a:t>
            </a:r>
          </a:p>
        </p:txBody>
      </p:sp>
      <p:sp>
        <p:nvSpPr>
          <p:cNvPr id="8" name="bullet-dot-250-1">
            <a:extLst xmlns:a="http://schemas.openxmlformats.org/drawingml/2006/main">
              <a:ext uri="{FF2B5EF4-FFF2-40B4-BE49-F238E27FC236}">
                <a16:creationId xmlns:a16="http://schemas.microsoft.com/office/drawing/2014/main" id="{852927CA-4E78-407E-9540-A91BACF4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7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50-1">
            <a:extLst xmlns:a="http://schemas.openxmlformats.org/drawingml/2006/main">
              <a:ext uri="{FF2B5EF4-FFF2-40B4-BE49-F238E27FC236}">
                <a16:creationId xmlns:a16="http://schemas.microsoft.com/office/drawing/2014/main" id="{E9DF2B78-8CBD-4F0B-B797-44022445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719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Immutable Event Log：追溯变化原因</a:t>
            </a:r>
          </a:p>
        </p:txBody>
      </p:sp>
      <p:sp>
        <p:nvSpPr>
          <p:cNvPr id="10" name="bullet-dot-250-2">
            <a:extLst xmlns:a="http://schemas.openxmlformats.org/drawingml/2006/main">
              <a:ext uri="{FF2B5EF4-FFF2-40B4-BE49-F238E27FC236}">
                <a16:creationId xmlns:a16="http://schemas.microsoft.com/office/drawing/2014/main" id="{32C1CDD1-FED1-4858-9C8A-1861AB25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250-2">
            <a:extLst xmlns:a="http://schemas.openxmlformats.org/drawingml/2006/main">
              <a:ext uri="{FF2B5EF4-FFF2-40B4-BE49-F238E27FC236}">
                <a16:creationId xmlns:a16="http://schemas.microsoft.com/office/drawing/2014/main" id="{2CBD2262-89FA-499B-A140-0B5FBB46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005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Checkpoint：恢复副本而不覆盖历史</a:t>
            </a:r>
          </a:p>
        </p:txBody>
      </p:sp>
      <p:sp>
        <p:nvSpPr>
          <p:cNvPr id="12" name="bullet-dot-250-3">
            <a:extLst xmlns:a="http://schemas.openxmlformats.org/drawingml/2006/main">
              <a:ext uri="{FF2B5EF4-FFF2-40B4-BE49-F238E27FC236}">
                <a16:creationId xmlns:a16="http://schemas.microsoft.com/office/drawing/2014/main" id="{6554C10D-8555-4A89-B14A-3216D92C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14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250-3">
            <a:extLst xmlns:a="http://schemas.openxmlformats.org/drawingml/2006/main">
              <a:ext uri="{FF2B5EF4-FFF2-40B4-BE49-F238E27FC236}">
                <a16:creationId xmlns:a16="http://schemas.microsoft.com/office/drawing/2014/main" id="{A35FA843-D58D-4D44-B17A-7BFD3F15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292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Credential ID：数据库不保存明文密钥</a:t>
            </a:r>
          </a:p>
        </p:txBody>
      </p:sp>
      <p:sp>
        <p:nvSpPr>
          <p:cNvPr id="14" name="mid-rule">
            <a:extLst xmlns:a="http://schemas.openxmlformats.org/drawingml/2006/main">
              <a:ext uri="{FF2B5EF4-FFF2-40B4-BE49-F238E27FC236}">
                <a16:creationId xmlns:a16="http://schemas.microsoft.com/office/drawing/2014/main" id="{99DD73A8-18DF-41D9-8B2E-F7F8230C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pi-title">
            <a:extLst xmlns:a="http://schemas.openxmlformats.org/drawingml/2006/main">
              <a:ext uri="{FF2B5EF4-FFF2-40B4-BE49-F238E27FC236}">
                <a16:creationId xmlns:a16="http://schemas.microsoft.com/office/drawing/2014/main" id="{AEAFEBE6-4C09-4998-BD56-8DF32882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类型化桌面 API</a:t>
            </a:r>
          </a:p>
        </p:txBody>
      </p:sp>
      <p:sp>
        <p:nvSpPr>
          <p:cNvPr id="16" name="bullet-dot-250-0">
            <a:extLst xmlns:a="http://schemas.openxmlformats.org/drawingml/2006/main">
              <a:ext uri="{FF2B5EF4-FFF2-40B4-BE49-F238E27FC236}">
                <a16:creationId xmlns:a16="http://schemas.microsoft.com/office/drawing/2014/main" id="{9EA5792D-E741-4450-87A4-E2C8408A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28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50-0">
            <a:extLst xmlns:a="http://schemas.openxmlformats.org/drawingml/2006/main">
              <a:ext uri="{FF2B5EF4-FFF2-40B4-BE49-F238E27FC236}">
                <a16:creationId xmlns:a16="http://schemas.microsoft.com/office/drawing/2014/main" id="{CEE607BE-BC76-4D92-9D73-E9E7AE0E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campaign:*  战役与人物</a:t>
            </a:r>
          </a:p>
        </p:txBody>
      </p:sp>
      <p:sp>
        <p:nvSpPr>
          <p:cNvPr id="18" name="bullet-dot-250-1">
            <a:extLst xmlns:a="http://schemas.openxmlformats.org/drawingml/2006/main">
              <a:ext uri="{FF2B5EF4-FFF2-40B4-BE49-F238E27FC236}">
                <a16:creationId xmlns:a16="http://schemas.microsoft.com/office/drawing/2014/main" id="{1F0A3655-5E50-49DD-A67E-8A4697E4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57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250-1">
            <a:extLst xmlns:a="http://schemas.openxmlformats.org/drawingml/2006/main">
              <a:ext uri="{FF2B5EF4-FFF2-40B4-BE49-F238E27FC236}">
                <a16:creationId xmlns:a16="http://schemas.microsoft.com/office/drawing/2014/main" id="{3F050A5B-54C9-4C84-A4C7-535238ED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719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turn:* / operation:*  回合与进度</a:t>
            </a:r>
          </a:p>
        </p:txBody>
      </p:sp>
      <p:sp>
        <p:nvSpPr>
          <p:cNvPr id="20" name="bullet-dot-250-2">
            <a:extLst xmlns:a="http://schemas.openxmlformats.org/drawingml/2006/main">
              <a:ext uri="{FF2B5EF4-FFF2-40B4-BE49-F238E27FC236}">
                <a16:creationId xmlns:a16="http://schemas.microsoft.com/office/drawing/2014/main" id="{B87FCA27-216D-4051-B7FF-BA4D045B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250-2">
            <a:extLst xmlns:a="http://schemas.openxmlformats.org/drawingml/2006/main">
              <a:ext uri="{FF2B5EF4-FFF2-40B4-BE49-F238E27FC236}">
                <a16:creationId xmlns:a16="http://schemas.microsoft.com/office/drawing/2014/main" id="{61F01618-0837-4FAF-B929-D08082EE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005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timeline:* / checkpoint:*  历史与恢复</a:t>
            </a:r>
          </a:p>
        </p:txBody>
      </p:sp>
      <p:sp>
        <p:nvSpPr>
          <p:cNvPr id="22" name="bullet-dot-250-3">
            <a:extLst xmlns:a="http://schemas.openxmlformats.org/drawingml/2006/main">
              <a:ext uri="{FF2B5EF4-FFF2-40B4-BE49-F238E27FC236}">
                <a16:creationId xmlns:a16="http://schemas.microsoft.com/office/drawing/2014/main" id="{56364FE6-6D55-4E50-99CD-8E791F9B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14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250-3">
            <a:extLst xmlns:a="http://schemas.openxmlformats.org/drawingml/2006/main">
              <a:ext uri="{FF2B5EF4-FFF2-40B4-BE49-F238E27FC236}">
                <a16:creationId xmlns:a16="http://schemas.microsoft.com/office/drawing/2014/main" id="{AFCC2B21-9733-48B0-822C-AF0A2823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292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settings:* / backup:*  模型与备份</a:t>
            </a:r>
          </a:p>
        </p:txBody>
      </p:sp>
      <p:sp>
        <p:nvSpPr>
          <p:cNvPr id="24" name="api-bottom">
            <a:extLst xmlns:a="http://schemas.openxmlformats.org/drawingml/2006/main">
              <a:ext uri="{FF2B5EF4-FFF2-40B4-BE49-F238E27FC236}">
                <a16:creationId xmlns:a16="http://schemas.microsoft.com/office/drawing/2014/main" id="{8B832859-FB44-4BD4-8E98-C57E072B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72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版本冲突时拒绝提交；叙事失败也不会重复掷骰。</a:t>
            </a:r>
          </a:p>
        </p:txBody>
      </p:sp>
    </p:spTree>
    <p:extLst>
      <p:ext uri="{BB962C8B-B14F-4D97-AF65-F5344CB8AC3E}">
        <p14:creationId xmlns:p14="http://schemas.microsoft.com/office/powerpoint/2010/main" val="10440121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0" name="Rectangle 2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yebrow-6">
            <a:extLst xmlns:a="http://schemas.openxmlformats.org/drawingml/2006/main">
              <a:ext uri="{FF2B5EF4-FFF2-40B4-BE49-F238E27FC236}">
                <a16:creationId xmlns:a16="http://schemas.microsoft.com/office/drawing/2014/main" id="{637A279E-AD45-4406-8E64-5392FCB1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05  系统演示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75E1A2E2-344B-4DFC-9BEF-D2E7D60A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两分钟演示：从自然语言行动到可追溯结果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4D451AAA-8390-4236-95DC-6D927D20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BAF4953E-EFE1-416F-9B98-B762D4EE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06</a:t>
            </a:r>
          </a:p>
        </p:txBody>
      </p:sp>
      <p:sp>
        <p:nvSpPr>
          <p:cNvPr id="5" name="step-num-0">
            <a:extLst xmlns:a="http://schemas.openxmlformats.org/drawingml/2006/main">
              <a:ext uri="{FF2B5EF4-FFF2-40B4-BE49-F238E27FC236}">
                <a16:creationId xmlns:a16="http://schemas.microsoft.com/office/drawing/2014/main" id="{9D1034F0-4A78-448C-97AB-6B5171A1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um-text-0">
            <a:extLst xmlns:a="http://schemas.openxmlformats.org/drawingml/2006/main">
              <a:ext uri="{FF2B5EF4-FFF2-40B4-BE49-F238E27FC236}">
                <a16:creationId xmlns:a16="http://schemas.microsoft.com/office/drawing/2014/main" id="{533430CA-F580-44A6-A47F-E436DD4B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tep-text-0">
            <a:extLst xmlns:a="http://schemas.openxmlformats.org/drawingml/2006/main">
              <a:ext uri="{FF2B5EF4-FFF2-40B4-BE49-F238E27FC236}">
                <a16:creationId xmlns:a16="http://schemas.microsoft.com/office/drawing/2014/main" id="{E83A99E2-1616-4EAC-B220-9167433F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打开预置战役</a:t>
            </a:r>
          </a:p>
        </p:txBody>
      </p:sp>
      <p:sp>
        <p:nvSpPr>
          <p:cNvPr id="8" name="step-line-0">
            <a:extLst xmlns:a="http://schemas.openxmlformats.org/drawingml/2006/main">
              <a:ext uri="{FF2B5EF4-FFF2-40B4-BE49-F238E27FC236}">
                <a16:creationId xmlns:a16="http://schemas.microsoft.com/office/drawing/2014/main" id="{CA331BB7-E32E-40BC-BD24-075A67A5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um-1">
            <a:extLst xmlns:a="http://schemas.openxmlformats.org/drawingml/2006/main">
              <a:ext uri="{FF2B5EF4-FFF2-40B4-BE49-F238E27FC236}">
                <a16:creationId xmlns:a16="http://schemas.microsoft.com/office/drawing/2014/main" id="{AD30FB61-CBC7-4BE3-9707-6A468081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um-text-1">
            <a:extLst xmlns:a="http://schemas.openxmlformats.org/drawingml/2006/main">
              <a:ext uri="{FF2B5EF4-FFF2-40B4-BE49-F238E27FC236}">
                <a16:creationId xmlns:a16="http://schemas.microsoft.com/office/drawing/2014/main" id="{E0A2D4A7-EFED-4CEE-98C4-089F6C63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step-text-1">
            <a:extLst xmlns:a="http://schemas.openxmlformats.org/drawingml/2006/main">
              <a:ext uri="{FF2B5EF4-FFF2-40B4-BE49-F238E27FC236}">
                <a16:creationId xmlns:a16="http://schemas.microsoft.com/office/drawing/2014/main" id="{E3CE60CA-B79C-4850-8CE8-A5FED64C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查看人物与场景</a:t>
            </a:r>
          </a:p>
        </p:txBody>
      </p:sp>
      <p:sp>
        <p:nvSpPr>
          <p:cNvPr id="12" name="step-line-1">
            <a:extLst xmlns:a="http://schemas.openxmlformats.org/drawingml/2006/main">
              <a:ext uri="{FF2B5EF4-FFF2-40B4-BE49-F238E27FC236}">
                <a16:creationId xmlns:a16="http://schemas.microsoft.com/office/drawing/2014/main" id="{B2893FB4-88AB-419D-91AB-DB89C6B6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num-2">
            <a:extLst xmlns:a="http://schemas.openxmlformats.org/drawingml/2006/main">
              <a:ext uri="{FF2B5EF4-FFF2-40B4-BE49-F238E27FC236}">
                <a16:creationId xmlns:a16="http://schemas.microsoft.com/office/drawing/2014/main" id="{3FF005F3-098F-4153-88C8-ED5AB1CD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um-text-2">
            <a:extLst xmlns:a="http://schemas.openxmlformats.org/drawingml/2006/main">
              <a:ext uri="{FF2B5EF4-FFF2-40B4-BE49-F238E27FC236}">
                <a16:creationId xmlns:a16="http://schemas.microsoft.com/office/drawing/2014/main" id="{A0ED7D39-9DB9-466B-AD94-E6B46091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step-text-2">
            <a:extLst xmlns:a="http://schemas.openxmlformats.org/drawingml/2006/main">
              <a:ext uri="{FF2B5EF4-FFF2-40B4-BE49-F238E27FC236}">
                <a16:creationId xmlns:a16="http://schemas.microsoft.com/office/drawing/2014/main" id="{60A40447-9B71-4F0C-ABD7-14610819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输入调查行动</a:t>
            </a:r>
          </a:p>
        </p:txBody>
      </p:sp>
      <p:sp>
        <p:nvSpPr>
          <p:cNvPr id="16" name="step-line-2">
            <a:extLst xmlns:a="http://schemas.openxmlformats.org/drawingml/2006/main">
              <a:ext uri="{FF2B5EF4-FFF2-40B4-BE49-F238E27FC236}">
                <a16:creationId xmlns:a16="http://schemas.microsoft.com/office/drawing/2014/main" id="{CE22C221-31A3-41CC-B604-A1326161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-num-3">
            <a:extLst xmlns:a="http://schemas.openxmlformats.org/drawingml/2006/main">
              <a:ext uri="{FF2B5EF4-FFF2-40B4-BE49-F238E27FC236}">
                <a16:creationId xmlns:a16="http://schemas.microsoft.com/office/drawing/2014/main" id="{D73268ED-911B-4809-B72F-93385332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num-text-3">
            <a:extLst xmlns:a="http://schemas.openxmlformats.org/drawingml/2006/main">
              <a:ext uri="{FF2B5EF4-FFF2-40B4-BE49-F238E27FC236}">
                <a16:creationId xmlns:a16="http://schemas.microsoft.com/office/drawing/2014/main" id="{287CD9B6-C5C5-4577-8620-A7B6F2C8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step-text-3">
            <a:extLst xmlns:a="http://schemas.openxmlformats.org/drawingml/2006/main">
              <a:ext uri="{FF2B5EF4-FFF2-40B4-BE49-F238E27FC236}">
                <a16:creationId xmlns:a16="http://schemas.microsoft.com/office/drawing/2014/main" id="{D0FC87E6-DCD8-49DA-A7AF-0194566A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触发检定与叙事</a:t>
            </a:r>
          </a:p>
        </p:txBody>
      </p:sp>
      <p:sp>
        <p:nvSpPr>
          <p:cNvPr id="20" name="step-line-3">
            <a:extLst xmlns:a="http://schemas.openxmlformats.org/drawingml/2006/main">
              <a:ext uri="{FF2B5EF4-FFF2-40B4-BE49-F238E27FC236}">
                <a16:creationId xmlns:a16="http://schemas.microsoft.com/office/drawing/2014/main" id="{278D8F45-C15C-4BC6-94A3-F9321004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-num-4">
            <a:extLst xmlns:a="http://schemas.openxmlformats.org/drawingml/2006/main">
              <a:ext uri="{FF2B5EF4-FFF2-40B4-BE49-F238E27FC236}">
                <a16:creationId xmlns:a16="http://schemas.microsoft.com/office/drawing/2014/main" id="{FC5EF181-8A9C-4BE5-9FD7-E77AE9F8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ep-num-text-4">
            <a:extLst xmlns:a="http://schemas.openxmlformats.org/drawingml/2006/main">
              <a:ext uri="{FF2B5EF4-FFF2-40B4-BE49-F238E27FC236}">
                <a16:creationId xmlns:a16="http://schemas.microsoft.com/office/drawing/2014/main" id="{22412BCE-BC59-4205-8128-BC548964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step-text-4">
            <a:extLst xmlns:a="http://schemas.openxmlformats.org/drawingml/2006/main">
              <a:ext uri="{FF2B5EF4-FFF2-40B4-BE49-F238E27FC236}">
                <a16:creationId xmlns:a16="http://schemas.microsoft.com/office/drawing/2014/main" id="{B545FF1A-565E-47BF-A1FC-70BBF07B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查看时间线/检查点</a:t>
            </a:r>
          </a:p>
        </p:txBody>
      </p:sp>
      <p:sp>
        <p:nvSpPr>
          <p:cNvPr id="24" name="placeholder-此页可替换为一张演示路径总览截图；现场演示时停留在本页">
            <a:extLst xmlns:a="http://schemas.openxmlformats.org/drawingml/2006/main">
              <a:ext uri="{FF2B5EF4-FFF2-40B4-BE49-F238E27FC236}">
                <a16:creationId xmlns:a16="http://schemas.microsoft.com/office/drawing/2014/main" id="{815B6054-A8E4-4C30-9177-1D3222CF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9650"/>
            <a:ext cx="8953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placeholder-text-此页可替换为一张演示路径总览截图；现场演示时停留在本页">
            <a:extLst xmlns:a="http://schemas.openxmlformats.org/drawingml/2006/main">
              <a:ext uri="{FF2B5EF4-FFF2-40B4-BE49-F238E27FC236}">
                <a16:creationId xmlns:a16="http://schemas.microsoft.com/office/drawing/2014/main" id="{487B1587-C096-4380-96C7-86437C6B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0175"/>
            <a:ext cx="842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【待替换：此页可替换为一张演示路径总览截图；现场演示时停留在本页】</a:t>
            </a:r>
          </a:p>
        </p:txBody>
      </p:sp>
    </p:spTree>
    <p:extLst>
      <p:ext uri="{BB962C8B-B14F-4D97-AF65-F5344CB8AC3E}">
        <p14:creationId xmlns:p14="http://schemas.microsoft.com/office/powerpoint/2010/main" val="31367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-7">
            <a:extLst xmlns:a="http://schemas.openxmlformats.org/drawingml/2006/main">
              <a:ext uri="{FF2B5EF4-FFF2-40B4-BE49-F238E27FC236}">
                <a16:creationId xmlns:a16="http://schemas.microsoft.com/office/drawing/2014/main" id="{7CE5AB43-CF47-4B82-8ECC-DA2E0190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06  技术难点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D6F6FF0-A9E8-443B-BDB3-6B2CB8C8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最关键的难点：避免 AI 把“说过的话”当成事实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2CECB735-1368-4B41-A2F8-244D970F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1EA8D803-A58C-4D16-A3E3-07DAEE2A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07</a:t>
            </a:r>
          </a:p>
        </p:txBody>
      </p:sp>
      <p:sp>
        <p:nvSpPr>
          <p:cNvPr id="5" name="wrong-title">
            <a:extLst xmlns:a="http://schemas.openxmlformats.org/drawingml/2006/main">
              <a:ext uri="{FF2B5EF4-FFF2-40B4-BE49-F238E27FC236}">
                <a16:creationId xmlns:a16="http://schemas.microsoft.com/office/drawing/2014/main" id="{88F5F57E-BFA6-43C5-B346-4D241C06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28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B6573"/>
                </a:solidFill>
              </a:defRPr>
            </a:pPr>
            <a:r>
              <a:rPr sz="1575" b="1">
                <a:solidFill>
                  <a:srgbClr val="5B6573"/>
                </a:solidFill>
              </a:rPr>
              <a:t>常见做法</a:t>
            </a:r>
          </a:p>
        </p:txBody>
      </p:sp>
      <p:sp>
        <p:nvSpPr>
          <p:cNvPr id="6" name="wrong-flow">
            <a:extLst xmlns:a="http://schemas.openxmlformats.org/drawingml/2006/main">
              <a:ext uri="{FF2B5EF4-FFF2-40B4-BE49-F238E27FC236}">
                <a16:creationId xmlns:a16="http://schemas.microsoft.com/office/drawing/2014/main" id="{D0E367CD-CA43-400C-A082-F1977C39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242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玩家输入  →  AI 直接续写世界</a:t>
            </a:r>
          </a:p>
        </p:txBody>
      </p:sp>
      <p:sp>
        <p:nvSpPr>
          <p:cNvPr id="7" name="wrong-risk">
            <a:extLst xmlns:a="http://schemas.openxmlformats.org/drawingml/2006/main">
              <a:ext uri="{FF2B5EF4-FFF2-40B4-BE49-F238E27FC236}">
                <a16:creationId xmlns:a16="http://schemas.microsoft.com/office/drawing/2014/main" id="{FBD4D468-483E-4A8B-8E8E-03FF153B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9095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00000"/>
                </a:solidFill>
              </a:defRPr>
            </a:pPr>
            <a:r>
              <a:rPr sz="1425" b="0">
                <a:solidFill>
                  <a:srgbClr val="C00000"/>
                </a:solidFill>
              </a:rPr>
              <a:t>风险：结果不可验证，重试可能改变既有事实</a:t>
            </a:r>
          </a:p>
        </p:txBody>
      </p:sp>
      <p:sp>
        <p:nvSpPr>
          <p:cNvPr id="8" name="challenge-rule">
            <a:extLst xmlns:a="http://schemas.openxmlformats.org/drawingml/2006/main">
              <a:ext uri="{FF2B5EF4-FFF2-40B4-BE49-F238E27FC236}">
                <a16:creationId xmlns:a16="http://schemas.microsoft.com/office/drawing/2014/main" id="{6D7A3AB0-22CE-49C5-A33A-E5DF48DE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ur-title">
            <a:extLst xmlns:a="http://schemas.openxmlformats.org/drawingml/2006/main">
              <a:ext uri="{FF2B5EF4-FFF2-40B4-BE49-F238E27FC236}">
                <a16:creationId xmlns:a16="http://schemas.microsoft.com/office/drawing/2014/main" id="{22D660E5-9C23-4519-AD51-34DDC13B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28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我们的方案</a:t>
            </a:r>
          </a:p>
        </p:txBody>
      </p:sp>
      <p:sp>
        <p:nvSpPr>
          <p:cNvPr id="10" name="bullet-dot-252-0">
            <a:extLst xmlns:a="http://schemas.openxmlformats.org/drawingml/2006/main">
              <a:ext uri="{FF2B5EF4-FFF2-40B4-BE49-F238E27FC236}">
                <a16:creationId xmlns:a16="http://schemas.microsoft.com/office/drawing/2014/main" id="{6D28E363-D221-434D-B0C8-E1279A0B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48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252-0">
            <a:extLst xmlns:a="http://schemas.openxmlformats.org/drawingml/2006/main">
              <a:ext uri="{FF2B5EF4-FFF2-40B4-BE49-F238E27FC236}">
                <a16:creationId xmlns:a16="http://schemas.microsoft.com/office/drawing/2014/main" id="{4F33D585-11F5-4805-BF99-3640A993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623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理解玩家意图</a:t>
            </a:r>
          </a:p>
        </p:txBody>
      </p:sp>
      <p:sp>
        <p:nvSpPr>
          <p:cNvPr id="12" name="bullet-dot-252-1">
            <a:extLst xmlns:a="http://schemas.openxmlformats.org/drawingml/2006/main">
              <a:ext uri="{FF2B5EF4-FFF2-40B4-BE49-F238E27FC236}">
                <a16:creationId xmlns:a16="http://schemas.microsoft.com/office/drawing/2014/main" id="{324A3FB7-00AA-45A0-9801-E4573C8C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95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252-1">
            <a:extLst xmlns:a="http://schemas.openxmlformats.org/drawingml/2006/main">
              <a:ext uri="{FF2B5EF4-FFF2-40B4-BE49-F238E27FC236}">
                <a16:creationId xmlns:a16="http://schemas.microsoft.com/office/drawing/2014/main" id="{9EDD5974-3DC2-4F48-92AF-BFE5D9CF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100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规则与随机数裁定</a:t>
            </a:r>
          </a:p>
        </p:txBody>
      </p:sp>
      <p:sp>
        <p:nvSpPr>
          <p:cNvPr id="14" name="bullet-dot-252-2">
            <a:extLst xmlns:a="http://schemas.openxmlformats.org/drawingml/2006/main">
              <a:ext uri="{FF2B5EF4-FFF2-40B4-BE49-F238E27FC236}">
                <a16:creationId xmlns:a16="http://schemas.microsoft.com/office/drawing/2014/main" id="{D267F0C3-F0A8-4437-BEB2-EB5B6A79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252-2">
            <a:extLst xmlns:a="http://schemas.openxmlformats.org/drawingml/2006/main">
              <a:ext uri="{FF2B5EF4-FFF2-40B4-BE49-F238E27FC236}">
                <a16:creationId xmlns:a16="http://schemas.microsoft.com/office/drawing/2014/main" id="{0DDAEDDC-BC56-426D-A24B-C1E9C19E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577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校验并提交状态/事件</a:t>
            </a:r>
          </a:p>
        </p:txBody>
      </p:sp>
      <p:sp>
        <p:nvSpPr>
          <p:cNvPr id="16" name="bullet-dot-252-3">
            <a:extLst xmlns:a="http://schemas.openxmlformats.org/drawingml/2006/main">
              <a:ext uri="{FF2B5EF4-FFF2-40B4-BE49-F238E27FC236}">
                <a16:creationId xmlns:a16="http://schemas.microsoft.com/office/drawing/2014/main" id="{645B1400-1F8C-4121-ADD5-B0DB4E4D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52-3">
            <a:extLst xmlns:a="http://schemas.openxmlformats.org/drawingml/2006/main">
              <a:ext uri="{FF2B5EF4-FFF2-40B4-BE49-F238E27FC236}">
                <a16:creationId xmlns:a16="http://schemas.microsoft.com/office/drawing/2014/main" id="{A4AF5612-1D3C-472A-98AE-F2FB8432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054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根据已提交结果生成叙事</a:t>
            </a:r>
          </a:p>
        </p:txBody>
      </p:sp>
      <p:sp>
        <p:nvSpPr>
          <p:cNvPr id="18" name="challenge-result">
            <a:extLst xmlns:a="http://schemas.openxmlformats.org/drawingml/2006/main">
              <a:ext uri="{FF2B5EF4-FFF2-40B4-BE49-F238E27FC236}">
                <a16:creationId xmlns:a16="http://schemas.microsoft.com/office/drawing/2014/main" id="{D968AA8E-EB89-4CCE-98A5-EE66E6CF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结果：叙事可以重试，已经发生的事实不会重算。</a:t>
            </a:r>
          </a:p>
        </p:txBody>
      </p:sp>
    </p:spTree>
    <p:extLst>
      <p:ext uri="{BB962C8B-B14F-4D97-AF65-F5344CB8AC3E}">
        <p14:creationId xmlns:p14="http://schemas.microsoft.com/office/powerpoint/2010/main" val="19809721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yebrow-8">
            <a:extLst xmlns:a="http://schemas.openxmlformats.org/drawingml/2006/main">
              <a:ext uri="{FF2B5EF4-FFF2-40B4-BE49-F238E27FC236}">
                <a16:creationId xmlns:a16="http://schemas.microsoft.com/office/drawing/2014/main" id="{2198AA3C-AA86-455D-B29D-65F0F5D4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07  团队与实习反馈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78150C5-3803-40EA-A1E6-B5613E57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项目交付体现了工程协作，也带来了真实成长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6813AAA7-7DC7-4527-AEC3-854EE02E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62F5B4F8-82C8-48FA-8B85-E91612B1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08</a:t>
            </a:r>
          </a:p>
        </p:txBody>
      </p:sp>
      <p:sp>
        <p:nvSpPr>
          <p:cNvPr id="5" name="team-title">
            <a:extLst xmlns:a="http://schemas.openxmlformats.org/drawingml/2006/main">
              <a:ext uri="{FF2B5EF4-FFF2-40B4-BE49-F238E27FC236}">
                <a16:creationId xmlns:a16="http://schemas.microsoft.com/office/drawing/2014/main" id="{0DBDD781-62E1-45E8-AC5E-71460CC6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成员分工</a:t>
            </a:r>
          </a:p>
        </p:txBody>
      </p:sp>
      <p:sp>
        <p:nvSpPr>
          <p:cNvPr id="6" name="team-row-0">
            <a:extLst xmlns:a="http://schemas.openxmlformats.org/drawingml/2006/main">
              <a:ext uri="{FF2B5EF4-FFF2-40B4-BE49-F238E27FC236}">
                <a16:creationId xmlns:a16="http://schemas.microsoft.com/office/drawing/2014/main" id="{1C4A33DF-4684-4F24-ACAC-5DC2A98C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am-text-0">
            <a:extLst xmlns:a="http://schemas.openxmlformats.org/drawingml/2006/main">
              <a:ext uri="{FF2B5EF4-FFF2-40B4-BE49-F238E27FC236}">
                <a16:creationId xmlns:a16="http://schemas.microsoft.com/office/drawing/2014/main" id="{CFACC960-0E48-4CD7-B4A2-4DF1ABBA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480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【待替换：成员1】—【职责/成果】</a:t>
            </a:r>
          </a:p>
        </p:txBody>
      </p:sp>
      <p:sp>
        <p:nvSpPr>
          <p:cNvPr id="8" name="team-row-1">
            <a:extLst xmlns:a="http://schemas.openxmlformats.org/drawingml/2006/main">
              <a:ext uri="{FF2B5EF4-FFF2-40B4-BE49-F238E27FC236}">
                <a16:creationId xmlns:a16="http://schemas.microsoft.com/office/drawing/2014/main" id="{5CD24176-C8E7-4476-AE59-69BD3669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290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am-text-1">
            <a:extLst xmlns:a="http://schemas.openxmlformats.org/drawingml/2006/main">
              <a:ext uri="{FF2B5EF4-FFF2-40B4-BE49-F238E27FC236}">
                <a16:creationId xmlns:a16="http://schemas.microsoft.com/office/drawing/2014/main" id="{D242624D-8289-4D4C-8E06-009F5227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719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【待替换：成员2】—【职责/成果】</a:t>
            </a:r>
          </a:p>
        </p:txBody>
      </p:sp>
      <p:sp>
        <p:nvSpPr>
          <p:cNvPr id="10" name="team-row-2">
            <a:extLst xmlns:a="http://schemas.openxmlformats.org/drawingml/2006/main">
              <a:ext uri="{FF2B5EF4-FFF2-40B4-BE49-F238E27FC236}">
                <a16:creationId xmlns:a16="http://schemas.microsoft.com/office/drawing/2014/main" id="{E280E2C0-22D9-4EE9-A621-885D0291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529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am-text-2">
            <a:extLst xmlns:a="http://schemas.openxmlformats.org/drawingml/2006/main">
              <a:ext uri="{FF2B5EF4-FFF2-40B4-BE49-F238E27FC236}">
                <a16:creationId xmlns:a16="http://schemas.microsoft.com/office/drawing/2014/main" id="{8521C538-451F-4D29-A470-D3FBD29E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958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【待替换：成员3】—【职责/成果】</a:t>
            </a:r>
          </a:p>
        </p:txBody>
      </p:sp>
      <p:sp>
        <p:nvSpPr>
          <p:cNvPr id="12" name="learn-title">
            <a:extLst xmlns:a="http://schemas.openxmlformats.org/drawingml/2006/main">
              <a:ext uri="{FF2B5EF4-FFF2-40B4-BE49-F238E27FC236}">
                <a16:creationId xmlns:a16="http://schemas.microsoft.com/office/drawing/2014/main" id="{8C959BC0-8117-4231-8D7E-EBF51958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实习收获</a:t>
            </a:r>
          </a:p>
        </p:txBody>
      </p:sp>
      <p:sp>
        <p:nvSpPr>
          <p:cNvPr id="13" name="bullet-dot-250-0">
            <a:extLst xmlns:a="http://schemas.openxmlformats.org/drawingml/2006/main">
              <a:ext uri="{FF2B5EF4-FFF2-40B4-BE49-F238E27FC236}">
                <a16:creationId xmlns:a16="http://schemas.microsoft.com/office/drawing/2014/main" id="{E749A47E-46E6-4209-AF5F-A52E31AB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28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250-0">
            <a:extLst xmlns:a="http://schemas.openxmlformats.org/drawingml/2006/main">
              <a:ext uri="{FF2B5EF4-FFF2-40B4-BE49-F238E27FC236}">
                <a16:creationId xmlns:a16="http://schemas.microsoft.com/office/drawing/2014/main" id="{BBD4628A-4C90-42D1-B2AB-87F83EC1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从需求拆解到可验证交付</a:t>
            </a:r>
          </a:p>
        </p:txBody>
      </p:sp>
      <p:sp>
        <p:nvSpPr>
          <p:cNvPr id="15" name="bullet-dot-250-1">
            <a:extLst xmlns:a="http://schemas.openxmlformats.org/drawingml/2006/main">
              <a:ext uri="{FF2B5EF4-FFF2-40B4-BE49-F238E27FC236}">
                <a16:creationId xmlns:a16="http://schemas.microsoft.com/office/drawing/2014/main" id="{0FF91895-A33A-4AE1-A740-33D00B9C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95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250-1">
            <a:extLst xmlns:a="http://schemas.openxmlformats.org/drawingml/2006/main">
              <a:ext uri="{FF2B5EF4-FFF2-40B4-BE49-F238E27FC236}">
                <a16:creationId xmlns:a16="http://schemas.microsoft.com/office/drawing/2014/main" id="{CB7AB3E0-B9E5-4570-BAE6-26DA6478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10000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理解 AI 与确定性系统的边界</a:t>
            </a:r>
          </a:p>
        </p:txBody>
      </p:sp>
      <p:sp>
        <p:nvSpPr>
          <p:cNvPr id="17" name="bullet-dot-250-2">
            <a:extLst xmlns:a="http://schemas.openxmlformats.org/drawingml/2006/main">
              <a:ext uri="{FF2B5EF4-FFF2-40B4-BE49-F238E27FC236}">
                <a16:creationId xmlns:a16="http://schemas.microsoft.com/office/drawing/2014/main" id="{042F66C6-B530-4B72-9E7B-F11396DB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62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250-2">
            <a:extLst xmlns:a="http://schemas.openxmlformats.org/drawingml/2006/main">
              <a:ext uri="{FF2B5EF4-FFF2-40B4-BE49-F238E27FC236}">
                <a16:creationId xmlns:a16="http://schemas.microsoft.com/office/drawing/2014/main" id="{82D96B6D-6C74-4C7C-A735-2D61F0EE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76750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掌握 Electron、React、SQLite 工程链路</a:t>
            </a:r>
          </a:p>
        </p:txBody>
      </p:sp>
      <p:sp>
        <p:nvSpPr>
          <p:cNvPr id="19" name="bullet-dot-250-3">
            <a:extLst xmlns:a="http://schemas.openxmlformats.org/drawingml/2006/main">
              <a:ext uri="{FF2B5EF4-FFF2-40B4-BE49-F238E27FC236}">
                <a16:creationId xmlns:a16="http://schemas.microsoft.com/office/drawing/2014/main" id="{DBE0CE8D-D31F-461D-9061-2AF8EBC7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229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250-3">
            <a:extLst xmlns:a="http://schemas.openxmlformats.org/drawingml/2006/main">
              <a:ext uri="{FF2B5EF4-FFF2-40B4-BE49-F238E27FC236}">
                <a16:creationId xmlns:a16="http://schemas.microsoft.com/office/drawing/2014/main" id="{FF7F64DA-C0AC-43C0-8B8D-4CCAA6DC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43500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通过测试、复盘和协作持续迭代</a:t>
            </a:r>
          </a:p>
        </p:txBody>
      </p:sp>
      <p:sp>
        <p:nvSpPr>
          <p:cNvPr id="21" name="team-note">
            <a:extLst xmlns:a="http://schemas.openxmlformats.org/drawingml/2006/main">
              <a:ext uri="{FF2B5EF4-FFF2-40B4-BE49-F238E27FC236}">
                <a16:creationId xmlns:a16="http://schemas.microsoft.com/office/drawing/2014/main" id="{E95F9888-3E7C-4267-ADFE-1D361159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1912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【待替换：补充 1 个最具体的团队协作案例或个人成长案例】</a:t>
            </a:r>
          </a:p>
        </p:txBody>
      </p:sp>
    </p:spTree>
    <p:extLst>
      <p:ext uri="{BB962C8B-B14F-4D97-AF65-F5344CB8AC3E}">
        <p14:creationId xmlns:p14="http://schemas.microsoft.com/office/powerpoint/2010/main" val="11603131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" name="Rectangle 1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72D72F79-CCA5-4D61-82D2-3D3E18CD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352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</a:defRPr>
            </a:pPr>
            <a:r>
              <a:rPr sz="1050" b="1">
                <a:solidFill>
                  <a:srgbClr val="6DCBF4"/>
                </a:solidFill>
              </a:rPr>
              <a:t>AI TRPG ENGINE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1887BD95-7A65-4289-B15B-D4338BCC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71700"/>
            <a:ext cx="819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让 AI 成为主持人，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让程序守住世界的事实</a:t>
            </a:r>
          </a:p>
        </p:txBody>
      </p:sp>
      <p:sp>
        <p:nvSpPr>
          <p:cNvPr id="3" name="close-summary">
            <a:extLst xmlns:a="http://schemas.openxmlformats.org/drawingml/2006/main">
              <a:ext uri="{FF2B5EF4-FFF2-40B4-BE49-F238E27FC236}">
                <a16:creationId xmlns:a16="http://schemas.microsoft.com/office/drawing/2014/main" id="{2D1888F5-C118-4887-8770-2211558F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当前成果：完整试玩闭环 · 本地权威状态 · 可替换模型 · 可恢复历史</a:t>
            </a:r>
          </a:p>
        </p:txBody>
      </p:sp>
      <p:sp>
        <p:nvSpPr>
          <p:cNvPr id="4" name="close-future">
            <a:extLst xmlns:a="http://schemas.openxmlformats.org/drawingml/2006/main">
              <a:ext uri="{FF2B5EF4-FFF2-40B4-BE49-F238E27FC236}">
                <a16:creationId xmlns:a16="http://schemas.microsoft.com/office/drawing/2014/main" id="{3543F493-54BF-4B40-AB7F-365EB9E6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57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CBF4"/>
                </a:solidFill>
              </a:defRPr>
            </a:pPr>
            <a:r>
              <a:rPr sz="1575" b="0">
                <a:solidFill>
                  <a:srgbClr val="6DCBF4"/>
                </a:solidFill>
              </a:rPr>
              <a:t>下一步：增强长期记忆与内容工具，并逐步探索多人协作</a:t>
            </a:r>
          </a:p>
        </p:txBody>
      </p:sp>
      <p:sp>
        <p:nvSpPr>
          <p:cNvPr id="5" name="close-rule">
            <a:extLst xmlns:a="http://schemas.openxmlformats.org/drawingml/2006/main">
              <a:ext uri="{FF2B5EF4-FFF2-40B4-BE49-F238E27FC236}">
                <a16:creationId xmlns:a16="http://schemas.microsoft.com/office/drawing/2014/main" id="{A6A3239F-4B4C-4E5E-A7E3-F5A7F813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15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qa">
            <a:extLst xmlns:a="http://schemas.openxmlformats.org/drawingml/2006/main">
              <a:ext uri="{FF2B5EF4-FFF2-40B4-BE49-F238E27FC236}">
                <a16:creationId xmlns:a16="http://schemas.microsoft.com/office/drawing/2014/main" id="{EB57BDAA-2713-4EF8-95EE-614F0332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769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7" name="close-thanks">
            <a:extLst xmlns:a="http://schemas.openxmlformats.org/drawingml/2006/main">
              <a:ext uri="{FF2B5EF4-FFF2-40B4-BE49-F238E27FC236}">
                <a16:creationId xmlns:a16="http://schemas.microsoft.com/office/drawing/2014/main" id="{CDCEBA9E-F208-4649-8D9D-68F68D43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865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感谢各位老师指导</a:t>
            </a:r>
          </a:p>
        </p:txBody>
      </p:sp>
    </p:spTree>
    <p:extLst>
      <p:ext uri="{BB962C8B-B14F-4D97-AF65-F5344CB8AC3E}">
        <p14:creationId xmlns:p14="http://schemas.microsoft.com/office/powerpoint/2010/main" val="1458068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2026-08-25T03:42:04.0180000Z</dcterms:created>
  <dcterms:modified xsi:type="dcterms:W3CDTF">2026-08-25T03:42:04.0180000Z</dcterms:modified>
</coreProperties>
</file>