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ver-field">
            <a:extLst>
              <a:ext uri="{FF2B5EF4-FFF2-40B4-BE49-F238E27FC236}">
                <a16:creationId xmlns:a16="http://schemas.microsoft.com/office/drawing/2014/main" id="{10D129F2-8E9F-4B63-9F41-BFA4C571840A}"/>
              </a:ext>
            </a:extLst>
          </p:cNvPr>
          <p:cNvSpPr>
            <a:spLocks noGrp="1"/>
          </p:cNvSpPr>
          <p:nvPr/>
        </p:nvSpPr>
        <p:spPr>
          <a:xfrm>
            <a:off x="7429500" y="0"/>
            <a:ext cx="4762500" cy="6858000"/>
          </a:xfrm>
          <a:prstGeom prst="rect">
            <a:avLst/>
          </a:prstGeom>
          <a:solidFill>
            <a:srgbClr val="EAF4FF"/>
          </a:solidFill>
          <a:ln w="0">
            <a:noFill/>
            <a:prstDash val="solid"/>
          </a:ln>
        </p:spPr>
      </p:sp>
      <p:sp>
        <p:nvSpPr>
          <p:cNvPr id="2" name="cover-bar">
            <a:extLst>
              <a:ext uri="{FF2B5EF4-FFF2-40B4-BE49-F238E27FC236}">
                <a16:creationId xmlns:a16="http://schemas.microsoft.com/office/drawing/2014/main" id="{75C1DEAC-8014-4F5A-8CBE-1D75D63832EA}"/>
              </a:ext>
            </a:extLst>
          </p:cNvPr>
          <p:cNvSpPr>
            <a:spLocks noGrp="1"/>
          </p:cNvSpPr>
          <p:nvPr/>
        </p:nvSpPr>
        <p:spPr>
          <a:xfrm>
            <a:off x="7429500" y="0"/>
            <a:ext cx="171450" cy="68580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3" name="cover-kicker">
            <a:extLst>
              <a:ext uri="{FF2B5EF4-FFF2-40B4-BE49-F238E27FC236}">
                <a16:creationId xmlns:a16="http://schemas.microsoft.com/office/drawing/2014/main" id="{57E6ACB2-77F7-4643-B66A-3A15471EE74F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毕业实习项目答辩</a:t>
            </a:r>
          </a:p>
        </p:txBody>
      </p:sp>
      <p:sp>
        <p:nvSpPr>
          <p:cNvPr id="4" name="cover-title">
            <a:extLst>
              <a:ext uri="{FF2B5EF4-FFF2-40B4-BE49-F238E27FC236}">
                <a16:creationId xmlns:a16="http://schemas.microsoft.com/office/drawing/2014/main" id="{96727170-9E8B-4FA4-B64A-BC15D93E387C}"/>
              </a:ext>
            </a:extLst>
          </p:cNvPr>
          <p:cNvSpPr>
            <a:spLocks noGrp="1"/>
          </p:cNvSpPr>
          <p:nvPr/>
        </p:nvSpPr>
        <p:spPr>
          <a:xfrm>
            <a:off x="685800" y="1581150"/>
            <a:ext cx="6096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4050" b="1">
                <a:solidFill>
                  <a:srgbClr val="17324D"/>
                </a:solidFill>
              </a:defRPr>
            </a:pPr>
            <a:r>
              <a:rPr sz="4050" b="1">
                <a:solidFill>
                  <a:srgbClr val="17324D"/>
                </a:solidFill>
              </a:rPr>
              <a:t>AI TRPG Engine</a:t>
            </a:r>
          </a:p>
        </p:txBody>
      </p:sp>
      <p:sp>
        <p:nvSpPr>
          <p:cNvPr id="5" name="cover-subtitle">
            <a:extLst>
              <a:ext uri="{FF2B5EF4-FFF2-40B4-BE49-F238E27FC236}">
                <a16:creationId xmlns:a16="http://schemas.microsoft.com/office/drawing/2014/main" id="{2B69E85B-AB17-4C7B-870C-9B99B8124C53}"/>
              </a:ext>
            </a:extLst>
          </p:cNvPr>
          <p:cNvSpPr>
            <a:spLocks noGrp="1"/>
          </p:cNvSpPr>
          <p:nvPr/>
        </p:nvSpPr>
        <p:spPr>
          <a:xfrm>
            <a:off x="685800" y="2667000"/>
            <a:ext cx="590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0">
                <a:solidFill>
                  <a:srgbClr val="5B6573"/>
                </a:solidFill>
              </a:defRPr>
            </a:pPr>
            <a:r>
              <a:rPr sz="1950" b="0">
                <a:solidFill>
                  <a:srgbClr val="5B6573"/>
                </a:solidFill>
              </a:rPr>
              <a:t>本地优先的 AI 单人跑团桌面引擎</a:t>
            </a:r>
          </a:p>
        </p:txBody>
      </p:sp>
      <p:sp>
        <p:nvSpPr>
          <p:cNvPr id="6" name="cover-value">
            <a:extLst>
              <a:ext uri="{FF2B5EF4-FFF2-40B4-BE49-F238E27FC236}">
                <a16:creationId xmlns:a16="http://schemas.microsoft.com/office/drawing/2014/main" id="{584099C1-6C7B-40BD-AD27-F6FA87A16883}"/>
              </a:ext>
            </a:extLst>
          </p:cNvPr>
          <p:cNvSpPr>
            <a:spLocks noGrp="1"/>
          </p:cNvSpPr>
          <p:nvPr/>
        </p:nvSpPr>
        <p:spPr>
          <a:xfrm>
            <a:off x="685800" y="3562350"/>
            <a:ext cx="5715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01820"/>
                </a:solidFill>
              </a:defRPr>
            </a:pPr>
            <a:r>
              <a:rPr sz="1650" b="1">
                <a:solidFill>
                  <a:srgbClr val="101820"/>
                </a:solidFill>
              </a:rPr>
              <a:t>AI 负责理解与叙事，程序负责规则与事实</a:t>
            </a:r>
          </a:p>
        </p:txBody>
      </p:sp>
      <p:sp>
        <p:nvSpPr>
          <p:cNvPr id="7" name="cover-meta">
            <a:extLst>
              <a:ext uri="{FF2B5EF4-FFF2-40B4-BE49-F238E27FC236}">
                <a16:creationId xmlns:a16="http://schemas.microsoft.com/office/drawing/2014/main" id="{18F01205-A6F1-4297-ACAE-C04EEACD1039}"/>
              </a:ext>
            </a:extLst>
          </p:cNvPr>
          <p:cNvSpPr>
            <a:spLocks noGrp="1"/>
          </p:cNvSpPr>
          <p:nvPr/>
        </p:nvSpPr>
        <p:spPr>
          <a:xfrm>
            <a:off x="685800" y="4857750"/>
            <a:ext cx="5715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C00000"/>
                </a:solidFill>
              </a:defRPr>
            </a:pPr>
            <a:r>
              <a:rPr lang="zh-CN" altLang="en-US" sz="1350" b="0" dirty="0">
                <a:solidFill>
                  <a:srgbClr val="C00000"/>
                </a:solidFill>
              </a:rPr>
              <a:t>制作人： 潘力硕</a:t>
            </a:r>
            <a:br>
              <a:rPr lang="en-US" altLang="zh-CN" sz="1350" b="0" dirty="0">
                <a:solidFill>
                  <a:srgbClr val="C00000"/>
                </a:solidFill>
              </a:rPr>
            </a:br>
            <a:r>
              <a:rPr lang="zh-CN" altLang="en-US" sz="1350" b="0" dirty="0">
                <a:solidFill>
                  <a:srgbClr val="C00000"/>
                </a:solidFill>
              </a:rPr>
              <a:t>学校：纽卡斯尔大学</a:t>
            </a:r>
            <a:br>
              <a:rPr lang="en-US" altLang="zh-CN" sz="1350" b="0" dirty="0">
                <a:solidFill>
                  <a:srgbClr val="C00000"/>
                </a:solidFill>
              </a:rPr>
            </a:br>
            <a:r>
              <a:rPr lang="zh-CN" altLang="en-US" sz="1350" b="0" dirty="0">
                <a:solidFill>
                  <a:srgbClr val="C00000"/>
                </a:solidFill>
              </a:rPr>
              <a:t>专业：图形学与游戏开发</a:t>
            </a:r>
            <a:endParaRPr sz="1350" b="0" dirty="0">
              <a:solidFill>
                <a:srgbClr val="C00000"/>
              </a:solidFill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810500" y="2078458"/>
            <a:ext cx="3810000" cy="2301035"/>
          </a:xfrm>
          <a:prstGeom prst="rect">
            <a:avLst/>
          </a:prstGeom>
        </p:spPr>
      </p:pic>
      <p:sp>
        <p:nvSpPr>
          <p:cNvPr id="9" name="cover-product-border">
            <a:extLst>
              <a:ext uri="{FF2B5EF4-FFF2-40B4-BE49-F238E27FC236}">
                <a16:creationId xmlns:a16="http://schemas.microsoft.com/office/drawing/2014/main" id="{2BC8F7B1-4A00-47C2-842B-29BDC65BEC6B}"/>
              </a:ext>
            </a:extLst>
          </p:cNvPr>
          <p:cNvSpPr>
            <a:spLocks noGrp="1"/>
          </p:cNvSpPr>
          <p:nvPr/>
        </p:nvSpPr>
        <p:spPr>
          <a:xfrm>
            <a:off x="7810500" y="2076450"/>
            <a:ext cx="3810000" cy="2305050"/>
          </a:xfrm>
          <a:prstGeom prst="rect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10" name="cover-product-caption">
            <a:extLst>
              <a:ext uri="{FF2B5EF4-FFF2-40B4-BE49-F238E27FC236}">
                <a16:creationId xmlns:a16="http://schemas.microsoft.com/office/drawing/2014/main" id="{EEAED6CD-EA15-4CBB-8A0A-D4B900BF27CA}"/>
              </a:ext>
            </a:extLst>
          </p:cNvPr>
          <p:cNvSpPr>
            <a:spLocks noGrp="1"/>
          </p:cNvSpPr>
          <p:nvPr/>
        </p:nvSpPr>
        <p:spPr>
          <a:xfrm>
            <a:off x="7810500" y="4629150"/>
            <a:ext cx="3810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V0.1 真实运行界面</a:t>
            </a:r>
          </a:p>
        </p:txBody>
      </p:sp>
      <p:sp>
        <p:nvSpPr>
          <p:cNvPr id="11" name="cover-product-note">
            <a:extLst>
              <a:ext uri="{FF2B5EF4-FFF2-40B4-BE49-F238E27FC236}">
                <a16:creationId xmlns:a16="http://schemas.microsoft.com/office/drawing/2014/main" id="{422DF226-8909-4EE0-89EA-A8BF2254B843}"/>
              </a:ext>
            </a:extLst>
          </p:cNvPr>
          <p:cNvSpPr>
            <a:spLocks noGrp="1"/>
          </p:cNvSpPr>
          <p:nvPr/>
        </p:nvSpPr>
        <p:spPr>
          <a:xfrm>
            <a:off x="7810500" y="5029200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0">
                <a:solidFill>
                  <a:srgbClr val="5B6573"/>
                </a:solidFill>
              </a:defRPr>
            </a:pPr>
            <a:r>
              <a:rPr sz="1125" b="0">
                <a:solidFill>
                  <a:srgbClr val="5B6573"/>
                </a:solidFill>
              </a:rPr>
              <a:t>自然语言行动 · 权威状态 · 时间线恢复</a:t>
            </a:r>
          </a:p>
        </p:txBody>
      </p:sp>
    </p:spTree>
    <p:extLst>
      <p:ext uri="{BB962C8B-B14F-4D97-AF65-F5344CB8AC3E}">
        <p14:creationId xmlns:p14="http://schemas.microsoft.com/office/powerpoint/2010/main" val="1434885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yebrow-2">
            <a:extLst>
              <a:ext uri="{FF2B5EF4-FFF2-40B4-BE49-F238E27FC236}">
                <a16:creationId xmlns:a16="http://schemas.microsoft.com/office/drawing/2014/main" id="{9FFABF64-C666-43D3-A436-ABEBA5289E80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571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01  产品场景</a:t>
            </a:r>
          </a:p>
        </p:txBody>
      </p:sp>
      <p:sp>
        <p:nvSpPr>
          <p:cNvPr id="2" name="title-2">
            <a:extLst>
              <a:ext uri="{FF2B5EF4-FFF2-40B4-BE49-F238E27FC236}">
                <a16:creationId xmlns:a16="http://schemas.microsoft.com/office/drawing/2014/main" id="{415658B1-DEBC-4321-8519-EB1EAED7AC0D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我们要解决的不是“聊天”，而是一场能持续的游戏</a:t>
            </a:r>
          </a:p>
        </p:txBody>
      </p:sp>
      <p:sp>
        <p:nvSpPr>
          <p:cNvPr id="3" name="rule-2">
            <a:extLst>
              <a:ext uri="{FF2B5EF4-FFF2-40B4-BE49-F238E27FC236}">
                <a16:creationId xmlns:a16="http://schemas.microsoft.com/office/drawing/2014/main" id="{403F8D68-9070-43A9-AB0C-1D4A662911A8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page-2">
            <a:extLst>
              <a:ext uri="{FF2B5EF4-FFF2-40B4-BE49-F238E27FC236}">
                <a16:creationId xmlns:a16="http://schemas.microsoft.com/office/drawing/2014/main" id="{86D9CF70-CD5B-422D-8FBC-96450FD20898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02</a:t>
            </a:r>
          </a:p>
        </p:txBody>
      </p:sp>
      <p:sp>
        <p:nvSpPr>
          <p:cNvPr id="5" name="box-现实跑团">
            <a:extLst>
              <a:ext uri="{FF2B5EF4-FFF2-40B4-BE49-F238E27FC236}">
                <a16:creationId xmlns:a16="http://schemas.microsoft.com/office/drawing/2014/main" id="{CBF5DAE6-7F9B-4C3A-9219-51E85ADEB96C}"/>
              </a:ext>
            </a:extLst>
          </p:cNvPr>
          <p:cNvSpPr>
            <a:spLocks noGrp="1"/>
          </p:cNvSpPr>
          <p:nvPr/>
        </p:nvSpPr>
        <p:spPr>
          <a:xfrm>
            <a:off x="685800" y="1866900"/>
            <a:ext cx="3238500" cy="200025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6" name="box-accent-现实跑团">
            <a:extLst>
              <a:ext uri="{FF2B5EF4-FFF2-40B4-BE49-F238E27FC236}">
                <a16:creationId xmlns:a16="http://schemas.microsoft.com/office/drawing/2014/main" id="{2083BEDD-C14E-4D3A-A6E0-9E2B320DE208}"/>
              </a:ext>
            </a:extLst>
          </p:cNvPr>
          <p:cNvSpPr>
            <a:spLocks noGrp="1"/>
          </p:cNvSpPr>
          <p:nvPr/>
        </p:nvSpPr>
        <p:spPr>
          <a:xfrm>
            <a:off x="685800" y="1866900"/>
            <a:ext cx="66675" cy="20002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7" name="box-title-现实跑团">
            <a:extLst>
              <a:ext uri="{FF2B5EF4-FFF2-40B4-BE49-F238E27FC236}">
                <a16:creationId xmlns:a16="http://schemas.microsoft.com/office/drawing/2014/main" id="{A72A7692-22C2-43F4-A9D8-6220F840D71B}"/>
              </a:ext>
            </a:extLst>
          </p:cNvPr>
          <p:cNvSpPr>
            <a:spLocks noGrp="1"/>
          </p:cNvSpPr>
          <p:nvPr/>
        </p:nvSpPr>
        <p:spPr>
          <a:xfrm>
            <a:off x="914400" y="20383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现实跑团</a:t>
            </a:r>
          </a:p>
        </p:txBody>
      </p:sp>
      <p:sp>
        <p:nvSpPr>
          <p:cNvPr id="8" name="box-body-现实跑团">
            <a:extLst>
              <a:ext uri="{FF2B5EF4-FFF2-40B4-BE49-F238E27FC236}">
                <a16:creationId xmlns:a16="http://schemas.microsoft.com/office/drawing/2014/main" id="{A320D27E-D490-45CF-9506-6986B5C95D08}"/>
              </a:ext>
            </a:extLst>
          </p:cNvPr>
          <p:cNvSpPr>
            <a:spLocks noGrp="1"/>
          </p:cNvSpPr>
          <p:nvPr/>
        </p:nvSpPr>
        <p:spPr>
          <a:xfrm>
            <a:off x="914400" y="2419350"/>
            <a:ext cx="285750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需要主持人、玩家和连续时间安排，组织成本高。</a:t>
            </a:r>
          </a:p>
        </p:txBody>
      </p:sp>
      <p:sp>
        <p:nvSpPr>
          <p:cNvPr id="9" name="box-普通 AI 对话">
            <a:extLst>
              <a:ext uri="{FF2B5EF4-FFF2-40B4-BE49-F238E27FC236}">
                <a16:creationId xmlns:a16="http://schemas.microsoft.com/office/drawing/2014/main" id="{2150FFD8-4D70-47D2-AF9B-FC0E9659AFAE}"/>
              </a:ext>
            </a:extLst>
          </p:cNvPr>
          <p:cNvSpPr>
            <a:spLocks noGrp="1"/>
          </p:cNvSpPr>
          <p:nvPr/>
        </p:nvSpPr>
        <p:spPr>
          <a:xfrm>
            <a:off x="4248150" y="1866900"/>
            <a:ext cx="3238500" cy="200025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10" name="box-accent-普通 AI 对话">
            <a:extLst>
              <a:ext uri="{FF2B5EF4-FFF2-40B4-BE49-F238E27FC236}">
                <a16:creationId xmlns:a16="http://schemas.microsoft.com/office/drawing/2014/main" id="{CB38D902-EA71-41B4-AAD7-64D2B4700F27}"/>
              </a:ext>
            </a:extLst>
          </p:cNvPr>
          <p:cNvSpPr>
            <a:spLocks noGrp="1"/>
          </p:cNvSpPr>
          <p:nvPr/>
        </p:nvSpPr>
        <p:spPr>
          <a:xfrm>
            <a:off x="4248150" y="1866900"/>
            <a:ext cx="66675" cy="2000250"/>
          </a:xfrm>
          <a:prstGeom prst="rect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11" name="box-title-普通 AI 对话">
            <a:extLst>
              <a:ext uri="{FF2B5EF4-FFF2-40B4-BE49-F238E27FC236}">
                <a16:creationId xmlns:a16="http://schemas.microsoft.com/office/drawing/2014/main" id="{F3E47B9F-19A3-4A24-9675-50CA18AA1941}"/>
              </a:ext>
            </a:extLst>
          </p:cNvPr>
          <p:cNvSpPr>
            <a:spLocks noGrp="1"/>
          </p:cNvSpPr>
          <p:nvPr/>
        </p:nvSpPr>
        <p:spPr>
          <a:xfrm>
            <a:off x="4476750" y="20383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普通 AI 对话</a:t>
            </a:r>
          </a:p>
        </p:txBody>
      </p:sp>
      <p:sp>
        <p:nvSpPr>
          <p:cNvPr id="12" name="box-body-普通 AI 对话">
            <a:extLst>
              <a:ext uri="{FF2B5EF4-FFF2-40B4-BE49-F238E27FC236}">
                <a16:creationId xmlns:a16="http://schemas.microsoft.com/office/drawing/2014/main" id="{0DFE09B3-EB15-4025-8FC3-E12B50F0BA73}"/>
              </a:ext>
            </a:extLst>
          </p:cNvPr>
          <p:cNvSpPr>
            <a:spLocks noGrp="1"/>
          </p:cNvSpPr>
          <p:nvPr/>
        </p:nvSpPr>
        <p:spPr>
          <a:xfrm>
            <a:off x="4476750" y="2419350"/>
            <a:ext cx="285750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叙事自由，但关键人物、道具和既有结果容易被遗忘或改写。</a:t>
            </a:r>
          </a:p>
        </p:txBody>
      </p:sp>
      <p:sp>
        <p:nvSpPr>
          <p:cNvPr id="13" name="box-AI TRPG Engine">
            <a:extLst>
              <a:ext uri="{FF2B5EF4-FFF2-40B4-BE49-F238E27FC236}">
                <a16:creationId xmlns:a16="http://schemas.microsoft.com/office/drawing/2014/main" id="{689DA048-3950-4501-A211-56FF5E76E658}"/>
              </a:ext>
            </a:extLst>
          </p:cNvPr>
          <p:cNvSpPr>
            <a:spLocks noGrp="1"/>
          </p:cNvSpPr>
          <p:nvPr/>
        </p:nvSpPr>
        <p:spPr>
          <a:xfrm>
            <a:off x="7810500" y="1866900"/>
            <a:ext cx="3695700" cy="200025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14" name="box-accent-AI TRPG Engine">
            <a:extLst>
              <a:ext uri="{FF2B5EF4-FFF2-40B4-BE49-F238E27FC236}">
                <a16:creationId xmlns:a16="http://schemas.microsoft.com/office/drawing/2014/main" id="{D1C0F2D7-7B76-4E02-9E1B-6BDEFEB4486D}"/>
              </a:ext>
            </a:extLst>
          </p:cNvPr>
          <p:cNvSpPr>
            <a:spLocks noGrp="1"/>
          </p:cNvSpPr>
          <p:nvPr/>
        </p:nvSpPr>
        <p:spPr>
          <a:xfrm>
            <a:off x="7810500" y="1866900"/>
            <a:ext cx="66675" cy="20002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5" name="box-title-AI TRPG Engine">
            <a:extLst>
              <a:ext uri="{FF2B5EF4-FFF2-40B4-BE49-F238E27FC236}">
                <a16:creationId xmlns:a16="http://schemas.microsoft.com/office/drawing/2014/main" id="{BBE4131A-7AF7-43BE-800D-012F33152B9C}"/>
              </a:ext>
            </a:extLst>
          </p:cNvPr>
          <p:cNvSpPr>
            <a:spLocks noGrp="1"/>
          </p:cNvSpPr>
          <p:nvPr/>
        </p:nvSpPr>
        <p:spPr>
          <a:xfrm>
            <a:off x="8039100" y="2038350"/>
            <a:ext cx="3314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AI TRPG Engine</a:t>
            </a:r>
          </a:p>
        </p:txBody>
      </p:sp>
      <p:sp>
        <p:nvSpPr>
          <p:cNvPr id="16" name="box-body-AI TRPG Engine">
            <a:extLst>
              <a:ext uri="{FF2B5EF4-FFF2-40B4-BE49-F238E27FC236}">
                <a16:creationId xmlns:a16="http://schemas.microsoft.com/office/drawing/2014/main" id="{6248C1C5-9263-4575-8BD9-0EC5C9949CBC}"/>
              </a:ext>
            </a:extLst>
          </p:cNvPr>
          <p:cNvSpPr>
            <a:spLocks noGrp="1"/>
          </p:cNvSpPr>
          <p:nvPr/>
        </p:nvSpPr>
        <p:spPr>
          <a:xfrm>
            <a:off x="8039100" y="2419350"/>
            <a:ext cx="331470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自然语言自由行动，同时用规则、状态和事件维护长期一致性。</a:t>
            </a:r>
          </a:p>
        </p:txBody>
      </p:sp>
      <p:sp>
        <p:nvSpPr>
          <p:cNvPr id="17" name="value">
            <a:extLst>
              <a:ext uri="{FF2B5EF4-FFF2-40B4-BE49-F238E27FC236}">
                <a16:creationId xmlns:a16="http://schemas.microsoft.com/office/drawing/2014/main" id="{53F9F0C5-1A80-4BE0-9B23-A9D02AFB11CF}"/>
              </a:ext>
            </a:extLst>
          </p:cNvPr>
          <p:cNvSpPr>
            <a:spLocks noGrp="1"/>
          </p:cNvSpPr>
          <p:nvPr/>
        </p:nvSpPr>
        <p:spPr>
          <a:xfrm>
            <a:off x="685800" y="4552950"/>
            <a:ext cx="180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一句话价值</a:t>
            </a:r>
          </a:p>
        </p:txBody>
      </p:sp>
      <p:sp>
        <p:nvSpPr>
          <p:cNvPr id="18" name="value-statement">
            <a:extLst>
              <a:ext uri="{FF2B5EF4-FFF2-40B4-BE49-F238E27FC236}">
                <a16:creationId xmlns:a16="http://schemas.microsoft.com/office/drawing/2014/main" id="{98F09926-37FB-4CD8-A01C-7D4C69928521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981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250" b="1">
                <a:solidFill>
                  <a:srgbClr val="17324D"/>
                </a:solidFill>
              </a:defRPr>
            </a:pPr>
            <a:r>
              <a:rPr sz="2250" b="1">
                <a:solidFill>
                  <a:srgbClr val="17324D"/>
                </a:solidFill>
              </a:rPr>
              <a:t>让玩家随时进入一场可保存、可追溯、可恢复的单人跑团。</a:t>
            </a:r>
          </a:p>
        </p:txBody>
      </p:sp>
    </p:spTree>
    <p:extLst>
      <p:ext uri="{BB962C8B-B14F-4D97-AF65-F5344CB8AC3E}">
        <p14:creationId xmlns:p14="http://schemas.microsoft.com/office/powerpoint/2010/main" val="2110898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yebrow-3">
            <a:extLst>
              <a:ext uri="{FF2B5EF4-FFF2-40B4-BE49-F238E27FC236}">
                <a16:creationId xmlns:a16="http://schemas.microsoft.com/office/drawing/2014/main" id="{34DC3B7D-9C5E-4CDA-9C26-AB8D53D2A7E2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571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02  产品架构</a:t>
            </a:r>
          </a:p>
        </p:txBody>
      </p:sp>
      <p:sp>
        <p:nvSpPr>
          <p:cNvPr id="2" name="title-3">
            <a:extLst>
              <a:ext uri="{FF2B5EF4-FFF2-40B4-BE49-F238E27FC236}">
                <a16:creationId xmlns:a16="http://schemas.microsoft.com/office/drawing/2014/main" id="{4ECC9DFD-CE7A-461C-BA29-4A14F16DB5F6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AI 负责叙事，确定性内核决定什么真正发生</a:t>
            </a:r>
          </a:p>
        </p:txBody>
      </p:sp>
      <p:sp>
        <p:nvSpPr>
          <p:cNvPr id="3" name="rule-3">
            <a:extLst>
              <a:ext uri="{FF2B5EF4-FFF2-40B4-BE49-F238E27FC236}">
                <a16:creationId xmlns:a16="http://schemas.microsoft.com/office/drawing/2014/main" id="{208666C4-BA3E-4B5C-949D-6D42BDD92E7D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page-3">
            <a:extLst>
              <a:ext uri="{FF2B5EF4-FFF2-40B4-BE49-F238E27FC236}">
                <a16:creationId xmlns:a16="http://schemas.microsoft.com/office/drawing/2014/main" id="{DE3DFDDC-865F-45BC-AE40-85ECE2C17913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03</a:t>
            </a:r>
          </a:p>
        </p:txBody>
      </p:sp>
      <p:sp>
        <p:nvSpPr>
          <p:cNvPr id="5" name="layer-0">
            <a:extLst>
              <a:ext uri="{FF2B5EF4-FFF2-40B4-BE49-F238E27FC236}">
                <a16:creationId xmlns:a16="http://schemas.microsoft.com/office/drawing/2014/main" id="{C4F457ED-51EF-400A-BD81-16E1E37E1583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429500" cy="723900"/>
          </a:xfrm>
          <a:prstGeom prst="rect">
            <a:avLst/>
          </a:prstGeom>
          <a:solidFill>
            <a:srgbClr val="EAF4FF"/>
          </a:solidFill>
          <a:ln w="0">
            <a:noFill/>
            <a:prstDash val="solid"/>
          </a:ln>
        </p:spPr>
      </p:sp>
      <p:sp>
        <p:nvSpPr>
          <p:cNvPr id="6" name="layer-title-0">
            <a:extLst>
              <a:ext uri="{FF2B5EF4-FFF2-40B4-BE49-F238E27FC236}">
                <a16:creationId xmlns:a16="http://schemas.microsoft.com/office/drawing/2014/main" id="{914328AC-35B9-4494-A1AF-456A49B868A0}"/>
              </a:ext>
            </a:extLst>
          </p:cNvPr>
          <p:cNvSpPr>
            <a:spLocks noGrp="1"/>
          </p:cNvSpPr>
          <p:nvPr/>
        </p:nvSpPr>
        <p:spPr>
          <a:xfrm>
            <a:off x="933450" y="1952625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玩家交互层</a:t>
            </a:r>
          </a:p>
        </p:txBody>
      </p:sp>
      <p:sp>
        <p:nvSpPr>
          <p:cNvPr id="7" name="layer-body-0">
            <a:extLst>
              <a:ext uri="{FF2B5EF4-FFF2-40B4-BE49-F238E27FC236}">
                <a16:creationId xmlns:a16="http://schemas.microsoft.com/office/drawing/2014/main" id="{5BB17DCF-D38F-4F77-9782-E9D188F7153C}"/>
              </a:ext>
            </a:extLst>
          </p:cNvPr>
          <p:cNvSpPr>
            <a:spLocks noGrp="1"/>
          </p:cNvSpPr>
          <p:nvPr/>
        </p:nvSpPr>
        <p:spPr>
          <a:xfrm>
            <a:off x="3143250" y="1971675"/>
            <a:ext cx="4667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101820"/>
                </a:solidFill>
              </a:defRPr>
            </a:pPr>
            <a:r>
              <a:rPr sz="1350" b="0">
                <a:solidFill>
                  <a:srgbClr val="101820"/>
                </a:solidFill>
              </a:rPr>
              <a:t>React 界面 · 人物卡 · 叙事 · 时间线</a:t>
            </a:r>
          </a:p>
        </p:txBody>
      </p:sp>
      <p:sp>
        <p:nvSpPr>
          <p:cNvPr id="8" name="layer-1">
            <a:extLst>
              <a:ext uri="{FF2B5EF4-FFF2-40B4-BE49-F238E27FC236}">
                <a16:creationId xmlns:a16="http://schemas.microsoft.com/office/drawing/2014/main" id="{AB0EBF86-ECCF-4CAE-A922-952432A8A0E5}"/>
              </a:ext>
            </a:extLst>
          </p:cNvPr>
          <p:cNvSpPr>
            <a:spLocks noGrp="1"/>
          </p:cNvSpPr>
          <p:nvPr/>
        </p:nvSpPr>
        <p:spPr>
          <a:xfrm>
            <a:off x="685800" y="2762250"/>
            <a:ext cx="7429500" cy="723900"/>
          </a:xfrm>
          <a:prstGeom prst="rect">
            <a:avLst/>
          </a:prstGeom>
          <a:solidFill>
            <a:srgbClr val="E4F7FF"/>
          </a:solidFill>
          <a:ln w="0">
            <a:noFill/>
            <a:prstDash val="solid"/>
          </a:ln>
        </p:spPr>
      </p:sp>
      <p:sp>
        <p:nvSpPr>
          <p:cNvPr id="9" name="layer-title-1">
            <a:extLst>
              <a:ext uri="{FF2B5EF4-FFF2-40B4-BE49-F238E27FC236}">
                <a16:creationId xmlns:a16="http://schemas.microsoft.com/office/drawing/2014/main" id="{36A8CE72-C6B4-49AB-9ED3-93C6D0435D5D}"/>
              </a:ext>
            </a:extLst>
          </p:cNvPr>
          <p:cNvSpPr>
            <a:spLocks noGrp="1"/>
          </p:cNvSpPr>
          <p:nvPr/>
        </p:nvSpPr>
        <p:spPr>
          <a:xfrm>
            <a:off x="933450" y="2905125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桌面与 AI 协调层</a:t>
            </a:r>
          </a:p>
        </p:txBody>
      </p:sp>
      <p:sp>
        <p:nvSpPr>
          <p:cNvPr id="10" name="layer-body-1">
            <a:extLst>
              <a:ext uri="{FF2B5EF4-FFF2-40B4-BE49-F238E27FC236}">
                <a16:creationId xmlns:a16="http://schemas.microsoft.com/office/drawing/2014/main" id="{758852FC-E993-421D-9F9B-5BD95C60C035}"/>
              </a:ext>
            </a:extLst>
          </p:cNvPr>
          <p:cNvSpPr>
            <a:spLocks noGrp="1"/>
          </p:cNvSpPr>
          <p:nvPr/>
        </p:nvSpPr>
        <p:spPr>
          <a:xfrm>
            <a:off x="3143250" y="2924175"/>
            <a:ext cx="4667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101820"/>
                </a:solidFill>
              </a:defRPr>
            </a:pPr>
            <a:r>
              <a:rPr sz="1350" b="0">
                <a:solidFill>
                  <a:srgbClr val="101820"/>
                </a:solidFill>
              </a:rPr>
              <a:t>Electron Main / Preload · Keeper · Model Gateway</a:t>
            </a:r>
          </a:p>
        </p:txBody>
      </p:sp>
      <p:sp>
        <p:nvSpPr>
          <p:cNvPr id="11" name="layer-2">
            <a:extLst>
              <a:ext uri="{FF2B5EF4-FFF2-40B4-BE49-F238E27FC236}">
                <a16:creationId xmlns:a16="http://schemas.microsoft.com/office/drawing/2014/main" id="{0EDA0B20-8AF7-42AD-9B82-B3CBBD11D0A4}"/>
              </a:ext>
            </a:extLst>
          </p:cNvPr>
          <p:cNvSpPr>
            <a:spLocks noGrp="1"/>
          </p:cNvSpPr>
          <p:nvPr/>
        </p:nvSpPr>
        <p:spPr>
          <a:xfrm>
            <a:off x="685800" y="3714750"/>
            <a:ext cx="7429500" cy="723900"/>
          </a:xfrm>
          <a:prstGeom prst="rect">
            <a:avLst/>
          </a:prstGeom>
          <a:solidFill>
            <a:srgbClr val="D9ECFF"/>
          </a:solidFill>
          <a:ln w="0">
            <a:noFill/>
            <a:prstDash val="solid"/>
          </a:ln>
        </p:spPr>
      </p:sp>
      <p:sp>
        <p:nvSpPr>
          <p:cNvPr id="12" name="layer-title-2">
            <a:extLst>
              <a:ext uri="{FF2B5EF4-FFF2-40B4-BE49-F238E27FC236}">
                <a16:creationId xmlns:a16="http://schemas.microsoft.com/office/drawing/2014/main" id="{1868F7A8-51A4-45B1-9D1B-748DE501ECB7}"/>
              </a:ext>
            </a:extLst>
          </p:cNvPr>
          <p:cNvSpPr>
            <a:spLocks noGrp="1"/>
          </p:cNvSpPr>
          <p:nvPr/>
        </p:nvSpPr>
        <p:spPr>
          <a:xfrm>
            <a:off x="933450" y="3857625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确定性运行时</a:t>
            </a:r>
          </a:p>
        </p:txBody>
      </p:sp>
      <p:sp>
        <p:nvSpPr>
          <p:cNvPr id="13" name="layer-body-2">
            <a:extLst>
              <a:ext uri="{FF2B5EF4-FFF2-40B4-BE49-F238E27FC236}">
                <a16:creationId xmlns:a16="http://schemas.microsoft.com/office/drawing/2014/main" id="{8E696B65-10E0-425C-AA4F-26F3A576036E}"/>
              </a:ext>
            </a:extLst>
          </p:cNvPr>
          <p:cNvSpPr>
            <a:spLocks noGrp="1"/>
          </p:cNvSpPr>
          <p:nvPr/>
        </p:nvSpPr>
        <p:spPr>
          <a:xfrm>
            <a:off x="3143250" y="3876675"/>
            <a:ext cx="4667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101820"/>
                </a:solidFill>
              </a:defRPr>
            </a:pPr>
            <a:r>
              <a:rPr sz="1350" b="0">
                <a:solidFill>
                  <a:srgbClr val="101820"/>
                </a:solidFill>
              </a:rPr>
              <a:t>Turn Router · Rules · RNG · Validator · Events</a:t>
            </a:r>
          </a:p>
        </p:txBody>
      </p:sp>
      <p:sp>
        <p:nvSpPr>
          <p:cNvPr id="14" name="layer-3">
            <a:extLst>
              <a:ext uri="{FF2B5EF4-FFF2-40B4-BE49-F238E27FC236}">
                <a16:creationId xmlns:a16="http://schemas.microsoft.com/office/drawing/2014/main" id="{007D17DE-9D8E-4773-8980-F9F45EBD0D5D}"/>
              </a:ext>
            </a:extLst>
          </p:cNvPr>
          <p:cNvSpPr>
            <a:spLocks noGrp="1"/>
          </p:cNvSpPr>
          <p:nvPr/>
        </p:nvSpPr>
        <p:spPr>
          <a:xfrm>
            <a:off x="685800" y="4667250"/>
            <a:ext cx="7429500" cy="723900"/>
          </a:xfrm>
          <a:prstGeom prst="rect">
            <a:avLst/>
          </a:prstGeom>
          <a:solidFill>
            <a:srgbClr val="CBE3FF"/>
          </a:solidFill>
          <a:ln w="0">
            <a:noFill/>
            <a:prstDash val="solid"/>
          </a:ln>
        </p:spPr>
      </p:sp>
      <p:sp>
        <p:nvSpPr>
          <p:cNvPr id="15" name="layer-title-3">
            <a:extLst>
              <a:ext uri="{FF2B5EF4-FFF2-40B4-BE49-F238E27FC236}">
                <a16:creationId xmlns:a16="http://schemas.microsoft.com/office/drawing/2014/main" id="{1A44DFEE-5BE3-4D40-A5A2-8FAA64B84B6F}"/>
              </a:ext>
            </a:extLst>
          </p:cNvPr>
          <p:cNvSpPr>
            <a:spLocks noGrp="1"/>
          </p:cNvSpPr>
          <p:nvPr/>
        </p:nvSpPr>
        <p:spPr>
          <a:xfrm>
            <a:off x="933450" y="4810125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本地数据层</a:t>
            </a:r>
          </a:p>
        </p:txBody>
      </p:sp>
      <p:sp>
        <p:nvSpPr>
          <p:cNvPr id="16" name="layer-body-3">
            <a:extLst>
              <a:ext uri="{FF2B5EF4-FFF2-40B4-BE49-F238E27FC236}">
                <a16:creationId xmlns:a16="http://schemas.microsoft.com/office/drawing/2014/main" id="{D98C12C0-656B-4A97-9EFC-243DE52534D1}"/>
              </a:ext>
            </a:extLst>
          </p:cNvPr>
          <p:cNvSpPr>
            <a:spLocks noGrp="1"/>
          </p:cNvSpPr>
          <p:nvPr/>
        </p:nvSpPr>
        <p:spPr>
          <a:xfrm>
            <a:off x="3143250" y="4829175"/>
            <a:ext cx="4667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101820"/>
                </a:solidFill>
              </a:defRPr>
            </a:pPr>
            <a:r>
              <a:rPr sz="1350" b="0">
                <a:solidFill>
                  <a:srgbClr val="101820"/>
                </a:solidFill>
              </a:rPr>
              <a:t>SQLite · Current State · Immutable Event Log · Checkpoint</a:t>
            </a:r>
          </a:p>
        </p:txBody>
      </p:sp>
      <p:sp>
        <p:nvSpPr>
          <p:cNvPr id="17" name="arch-rule">
            <a:extLst>
              <a:ext uri="{FF2B5EF4-FFF2-40B4-BE49-F238E27FC236}">
                <a16:creationId xmlns:a16="http://schemas.microsoft.com/office/drawing/2014/main" id="{B29E1E92-760A-4BCB-AEC2-CC90EB70422A}"/>
              </a:ext>
            </a:extLst>
          </p:cNvPr>
          <p:cNvSpPr>
            <a:spLocks noGrp="1"/>
          </p:cNvSpPr>
          <p:nvPr/>
        </p:nvSpPr>
        <p:spPr>
          <a:xfrm>
            <a:off x="8705850" y="186690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核心边界</a:t>
            </a:r>
          </a:p>
        </p:txBody>
      </p:sp>
      <p:sp>
        <p:nvSpPr>
          <p:cNvPr id="18" name="bullet-dot-252-0">
            <a:extLst>
              <a:ext uri="{FF2B5EF4-FFF2-40B4-BE49-F238E27FC236}">
                <a16:creationId xmlns:a16="http://schemas.microsoft.com/office/drawing/2014/main" id="{4B1B7183-E7E1-453D-B6D8-F77D032D8E07}"/>
              </a:ext>
            </a:extLst>
          </p:cNvPr>
          <p:cNvSpPr>
            <a:spLocks noGrp="1"/>
          </p:cNvSpPr>
          <p:nvPr/>
        </p:nvSpPr>
        <p:spPr>
          <a:xfrm>
            <a:off x="8705850" y="2486025"/>
            <a:ext cx="114300" cy="11430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9" name="bullet-252-0">
            <a:extLst>
              <a:ext uri="{FF2B5EF4-FFF2-40B4-BE49-F238E27FC236}">
                <a16:creationId xmlns:a16="http://schemas.microsoft.com/office/drawing/2014/main" id="{20552768-D917-49A2-8EE3-4A423A510A35}"/>
              </a:ext>
            </a:extLst>
          </p:cNvPr>
          <p:cNvSpPr>
            <a:spLocks noGrp="1"/>
          </p:cNvSpPr>
          <p:nvPr/>
        </p:nvSpPr>
        <p:spPr>
          <a:xfrm>
            <a:off x="8972550" y="2400300"/>
            <a:ext cx="24003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AI 只生成候选和叙事</a:t>
            </a:r>
          </a:p>
        </p:txBody>
      </p:sp>
      <p:sp>
        <p:nvSpPr>
          <p:cNvPr id="20" name="bullet-dot-252-1">
            <a:extLst>
              <a:ext uri="{FF2B5EF4-FFF2-40B4-BE49-F238E27FC236}">
                <a16:creationId xmlns:a16="http://schemas.microsoft.com/office/drawing/2014/main" id="{C0F63ACC-3456-4AC0-AAC1-3FF5DD9E801F}"/>
              </a:ext>
            </a:extLst>
          </p:cNvPr>
          <p:cNvSpPr>
            <a:spLocks noGrp="1"/>
          </p:cNvSpPr>
          <p:nvPr/>
        </p:nvSpPr>
        <p:spPr>
          <a:xfrm>
            <a:off x="8705850" y="3171825"/>
            <a:ext cx="114300" cy="114300"/>
          </a:xfrm>
          <a:prstGeom prst="ellipse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21" name="bullet-252-1">
            <a:extLst>
              <a:ext uri="{FF2B5EF4-FFF2-40B4-BE49-F238E27FC236}">
                <a16:creationId xmlns:a16="http://schemas.microsoft.com/office/drawing/2014/main" id="{BD615C1C-17D5-4B57-86B9-FEBB652EF98C}"/>
              </a:ext>
            </a:extLst>
          </p:cNvPr>
          <p:cNvSpPr>
            <a:spLocks noGrp="1"/>
          </p:cNvSpPr>
          <p:nvPr/>
        </p:nvSpPr>
        <p:spPr>
          <a:xfrm>
            <a:off x="8972550" y="3086100"/>
            <a:ext cx="24003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程序校验并原子提交</a:t>
            </a:r>
          </a:p>
        </p:txBody>
      </p:sp>
      <p:sp>
        <p:nvSpPr>
          <p:cNvPr id="22" name="bullet-dot-252-2">
            <a:extLst>
              <a:ext uri="{FF2B5EF4-FFF2-40B4-BE49-F238E27FC236}">
                <a16:creationId xmlns:a16="http://schemas.microsoft.com/office/drawing/2014/main" id="{44FD790C-F538-40CC-877E-E554E290645E}"/>
              </a:ext>
            </a:extLst>
          </p:cNvPr>
          <p:cNvSpPr>
            <a:spLocks noGrp="1"/>
          </p:cNvSpPr>
          <p:nvPr/>
        </p:nvSpPr>
        <p:spPr>
          <a:xfrm>
            <a:off x="8705850" y="3857625"/>
            <a:ext cx="114300" cy="114300"/>
          </a:xfrm>
          <a:prstGeom prst="ellipse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23" name="bullet-252-2">
            <a:extLst>
              <a:ext uri="{FF2B5EF4-FFF2-40B4-BE49-F238E27FC236}">
                <a16:creationId xmlns:a16="http://schemas.microsoft.com/office/drawing/2014/main" id="{5EEC9FD7-43BB-4A54-AC45-0231E93FD05A}"/>
              </a:ext>
            </a:extLst>
          </p:cNvPr>
          <p:cNvSpPr>
            <a:spLocks noGrp="1"/>
          </p:cNvSpPr>
          <p:nvPr/>
        </p:nvSpPr>
        <p:spPr>
          <a:xfrm>
            <a:off x="8972550" y="3771900"/>
            <a:ext cx="24003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Renderer 不直连 SQLite</a:t>
            </a:r>
          </a:p>
        </p:txBody>
      </p:sp>
      <p:sp>
        <p:nvSpPr>
          <p:cNvPr id="24" name="bullet-dot-252-3">
            <a:extLst>
              <a:ext uri="{FF2B5EF4-FFF2-40B4-BE49-F238E27FC236}">
                <a16:creationId xmlns:a16="http://schemas.microsoft.com/office/drawing/2014/main" id="{4586D0A6-4790-41EF-AD64-0B95CACA1E96}"/>
              </a:ext>
            </a:extLst>
          </p:cNvPr>
          <p:cNvSpPr>
            <a:spLocks noGrp="1"/>
          </p:cNvSpPr>
          <p:nvPr/>
        </p:nvSpPr>
        <p:spPr>
          <a:xfrm>
            <a:off x="8705850" y="4543425"/>
            <a:ext cx="114300" cy="114300"/>
          </a:xfrm>
          <a:prstGeom prst="ellipse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25" name="bullet-252-3">
            <a:extLst>
              <a:ext uri="{FF2B5EF4-FFF2-40B4-BE49-F238E27FC236}">
                <a16:creationId xmlns:a16="http://schemas.microsoft.com/office/drawing/2014/main" id="{6CDF460A-FCCC-4645-8A69-5F1447C1C8F7}"/>
              </a:ext>
            </a:extLst>
          </p:cNvPr>
          <p:cNvSpPr>
            <a:spLocks noGrp="1"/>
          </p:cNvSpPr>
          <p:nvPr/>
        </p:nvSpPr>
        <p:spPr>
          <a:xfrm>
            <a:off x="8972550" y="4457700"/>
            <a:ext cx="24003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模型可以替换或降级</a:t>
            </a:r>
          </a:p>
        </p:txBody>
      </p:sp>
    </p:spTree>
    <p:extLst>
      <p:ext uri="{BB962C8B-B14F-4D97-AF65-F5344CB8AC3E}">
        <p14:creationId xmlns:p14="http://schemas.microsoft.com/office/powerpoint/2010/main" val="1247496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yebrow-4">
            <a:extLst>
              <a:ext uri="{FF2B5EF4-FFF2-40B4-BE49-F238E27FC236}">
                <a16:creationId xmlns:a16="http://schemas.microsoft.com/office/drawing/2014/main" id="{4D3B81F9-2A1F-41FD-B5E0-A4350126AF98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571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03  核心功能</a:t>
            </a:r>
          </a:p>
        </p:txBody>
      </p:sp>
      <p:sp>
        <p:nvSpPr>
          <p:cNvPr id="2" name="title-4">
            <a:extLst>
              <a:ext uri="{FF2B5EF4-FFF2-40B4-BE49-F238E27FC236}">
                <a16:creationId xmlns:a16="http://schemas.microsoft.com/office/drawing/2014/main" id="{A331C234-B60B-4E9B-8DC4-7E4284F2EB21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四项核心能力组成完整的单人跑团闭环</a:t>
            </a:r>
          </a:p>
        </p:txBody>
      </p:sp>
      <p:sp>
        <p:nvSpPr>
          <p:cNvPr id="3" name="rule-4">
            <a:extLst>
              <a:ext uri="{FF2B5EF4-FFF2-40B4-BE49-F238E27FC236}">
                <a16:creationId xmlns:a16="http://schemas.microsoft.com/office/drawing/2014/main" id="{A28EFE49-5CC8-4B69-AF62-80B912A575F2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page-4">
            <a:extLst>
              <a:ext uri="{FF2B5EF4-FFF2-40B4-BE49-F238E27FC236}">
                <a16:creationId xmlns:a16="http://schemas.microsoft.com/office/drawing/2014/main" id="{FEB31278-EB94-4D05-B8F5-30E07233FD38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04</a:t>
            </a:r>
          </a:p>
        </p:txBody>
      </p:sp>
      <p:sp>
        <p:nvSpPr>
          <p:cNvPr id="5" name="box-01  创建角色">
            <a:extLst>
              <a:ext uri="{FF2B5EF4-FFF2-40B4-BE49-F238E27FC236}">
                <a16:creationId xmlns:a16="http://schemas.microsoft.com/office/drawing/2014/main" id="{5F8932C4-42DD-4B00-AD9D-207E49D6CD24}"/>
              </a:ext>
            </a:extLst>
          </p:cNvPr>
          <p:cNvSpPr>
            <a:spLocks noGrp="1"/>
          </p:cNvSpPr>
          <p:nvPr/>
        </p:nvSpPr>
        <p:spPr>
          <a:xfrm>
            <a:off x="685800" y="1828800"/>
            <a:ext cx="5048250" cy="161925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6" name="box-accent-01  创建角色">
            <a:extLst>
              <a:ext uri="{FF2B5EF4-FFF2-40B4-BE49-F238E27FC236}">
                <a16:creationId xmlns:a16="http://schemas.microsoft.com/office/drawing/2014/main" id="{77394244-4883-4457-8617-D99FC7CA02D5}"/>
              </a:ext>
            </a:extLst>
          </p:cNvPr>
          <p:cNvSpPr>
            <a:spLocks noGrp="1"/>
          </p:cNvSpPr>
          <p:nvPr/>
        </p:nvSpPr>
        <p:spPr>
          <a:xfrm>
            <a:off x="685800" y="1828800"/>
            <a:ext cx="66675" cy="16192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7" name="box-title-01  创建角色">
            <a:extLst>
              <a:ext uri="{FF2B5EF4-FFF2-40B4-BE49-F238E27FC236}">
                <a16:creationId xmlns:a16="http://schemas.microsoft.com/office/drawing/2014/main" id="{DDECCF27-016E-46B9-941B-8549E4A23474}"/>
              </a:ext>
            </a:extLst>
          </p:cNvPr>
          <p:cNvSpPr>
            <a:spLocks noGrp="1"/>
          </p:cNvSpPr>
          <p:nvPr/>
        </p:nvSpPr>
        <p:spPr>
          <a:xfrm>
            <a:off x="914400" y="2000250"/>
            <a:ext cx="4667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01  创建角色</a:t>
            </a:r>
          </a:p>
        </p:txBody>
      </p:sp>
      <p:sp>
        <p:nvSpPr>
          <p:cNvPr id="8" name="box-body-01  创建角色">
            <a:extLst>
              <a:ext uri="{FF2B5EF4-FFF2-40B4-BE49-F238E27FC236}">
                <a16:creationId xmlns:a16="http://schemas.microsoft.com/office/drawing/2014/main" id="{D4FE0BAB-B09F-45F9-BDC9-4B6ED49EC958}"/>
              </a:ext>
            </a:extLst>
          </p:cNvPr>
          <p:cNvSpPr>
            <a:spLocks noGrp="1"/>
          </p:cNvSpPr>
          <p:nvPr/>
        </p:nvSpPr>
        <p:spPr>
          <a:xfrm>
            <a:off x="914400" y="2381250"/>
            <a:ext cx="4667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属性分配、正式人物卡、稳定实体身份</a:t>
            </a:r>
          </a:p>
        </p:txBody>
      </p:sp>
      <p:sp>
        <p:nvSpPr>
          <p:cNvPr id="9" name="box-02  自由行动">
            <a:extLst>
              <a:ext uri="{FF2B5EF4-FFF2-40B4-BE49-F238E27FC236}">
                <a16:creationId xmlns:a16="http://schemas.microsoft.com/office/drawing/2014/main" id="{6A8E5B5C-4CEF-45ED-A591-D9516B3E9E30}"/>
              </a:ext>
            </a:extLst>
          </p:cNvPr>
          <p:cNvSpPr>
            <a:spLocks noGrp="1"/>
          </p:cNvSpPr>
          <p:nvPr/>
        </p:nvSpPr>
        <p:spPr>
          <a:xfrm>
            <a:off x="6000750" y="1828800"/>
            <a:ext cx="5505450" cy="161925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10" name="box-accent-02  自由行动">
            <a:extLst>
              <a:ext uri="{FF2B5EF4-FFF2-40B4-BE49-F238E27FC236}">
                <a16:creationId xmlns:a16="http://schemas.microsoft.com/office/drawing/2014/main" id="{0D0927CE-161B-4627-8EE7-CEE4D8B5E23A}"/>
              </a:ext>
            </a:extLst>
          </p:cNvPr>
          <p:cNvSpPr>
            <a:spLocks noGrp="1"/>
          </p:cNvSpPr>
          <p:nvPr/>
        </p:nvSpPr>
        <p:spPr>
          <a:xfrm>
            <a:off x="6000750" y="1828800"/>
            <a:ext cx="66675" cy="1619250"/>
          </a:xfrm>
          <a:prstGeom prst="rect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11" name="box-title-02  自由行动">
            <a:extLst>
              <a:ext uri="{FF2B5EF4-FFF2-40B4-BE49-F238E27FC236}">
                <a16:creationId xmlns:a16="http://schemas.microsoft.com/office/drawing/2014/main" id="{0EE45588-CE82-42A8-B49E-2932D21DA7CD}"/>
              </a:ext>
            </a:extLst>
          </p:cNvPr>
          <p:cNvSpPr>
            <a:spLocks noGrp="1"/>
          </p:cNvSpPr>
          <p:nvPr/>
        </p:nvSpPr>
        <p:spPr>
          <a:xfrm>
            <a:off x="6229350" y="2000250"/>
            <a:ext cx="5124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02  自由行动</a:t>
            </a:r>
          </a:p>
        </p:txBody>
      </p:sp>
      <p:sp>
        <p:nvSpPr>
          <p:cNvPr id="12" name="box-body-02  自由行动">
            <a:extLst>
              <a:ext uri="{FF2B5EF4-FFF2-40B4-BE49-F238E27FC236}">
                <a16:creationId xmlns:a16="http://schemas.microsoft.com/office/drawing/2014/main" id="{922C6D67-672D-4249-9FBC-9A03DE315472}"/>
              </a:ext>
            </a:extLst>
          </p:cNvPr>
          <p:cNvSpPr>
            <a:spLocks noGrp="1"/>
          </p:cNvSpPr>
          <p:nvPr/>
        </p:nvSpPr>
        <p:spPr>
          <a:xfrm>
            <a:off x="6229350" y="2381250"/>
            <a:ext cx="51244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玩家用自然语言调查、交谈、移动或尝试</a:t>
            </a:r>
          </a:p>
        </p:txBody>
      </p:sp>
      <p:sp>
        <p:nvSpPr>
          <p:cNvPr id="13" name="box-03  检定与叙事">
            <a:extLst>
              <a:ext uri="{FF2B5EF4-FFF2-40B4-BE49-F238E27FC236}">
                <a16:creationId xmlns:a16="http://schemas.microsoft.com/office/drawing/2014/main" id="{6359D35D-EC70-4E5E-9B76-D011BECDD5DD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5048250" cy="161925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14" name="box-accent-03  检定与叙事">
            <a:extLst>
              <a:ext uri="{FF2B5EF4-FFF2-40B4-BE49-F238E27FC236}">
                <a16:creationId xmlns:a16="http://schemas.microsoft.com/office/drawing/2014/main" id="{03D202E3-A6D3-4CB7-B742-74F791B90384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66675" cy="1619250"/>
          </a:xfrm>
          <a:prstGeom prst="rect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15" name="box-title-03  检定与叙事">
            <a:extLst>
              <a:ext uri="{FF2B5EF4-FFF2-40B4-BE49-F238E27FC236}">
                <a16:creationId xmlns:a16="http://schemas.microsoft.com/office/drawing/2014/main" id="{16C9A65D-45B3-41E2-AFD1-61F2BE5D6645}"/>
              </a:ext>
            </a:extLst>
          </p:cNvPr>
          <p:cNvSpPr>
            <a:spLocks noGrp="1"/>
          </p:cNvSpPr>
          <p:nvPr/>
        </p:nvSpPr>
        <p:spPr>
          <a:xfrm>
            <a:off x="914400" y="3905250"/>
            <a:ext cx="4667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03  检定与叙事</a:t>
            </a:r>
          </a:p>
        </p:txBody>
      </p:sp>
      <p:sp>
        <p:nvSpPr>
          <p:cNvPr id="16" name="box-body-03  检定与叙事">
            <a:extLst>
              <a:ext uri="{FF2B5EF4-FFF2-40B4-BE49-F238E27FC236}">
                <a16:creationId xmlns:a16="http://schemas.microsoft.com/office/drawing/2014/main" id="{1290A8A1-5471-4EDD-B96A-A0F1352206AF}"/>
              </a:ext>
            </a:extLst>
          </p:cNvPr>
          <p:cNvSpPr>
            <a:spLocks noGrp="1"/>
          </p:cNvSpPr>
          <p:nvPr/>
        </p:nvSpPr>
        <p:spPr>
          <a:xfrm>
            <a:off x="914400" y="4286250"/>
            <a:ext cx="4667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系统先裁定并提交，再由 AI 生成主持人反馈</a:t>
            </a:r>
          </a:p>
        </p:txBody>
      </p:sp>
      <p:sp>
        <p:nvSpPr>
          <p:cNvPr id="17" name="box-04  保存与恢复">
            <a:extLst>
              <a:ext uri="{FF2B5EF4-FFF2-40B4-BE49-F238E27FC236}">
                <a16:creationId xmlns:a16="http://schemas.microsoft.com/office/drawing/2014/main" id="{C35220A2-6E62-4C29-9D9C-C4EF4E9D3C7C}"/>
              </a:ext>
            </a:extLst>
          </p:cNvPr>
          <p:cNvSpPr>
            <a:spLocks noGrp="1"/>
          </p:cNvSpPr>
          <p:nvPr/>
        </p:nvSpPr>
        <p:spPr>
          <a:xfrm>
            <a:off x="6000750" y="3733800"/>
            <a:ext cx="5505450" cy="161925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18" name="box-accent-04  保存与恢复">
            <a:extLst>
              <a:ext uri="{FF2B5EF4-FFF2-40B4-BE49-F238E27FC236}">
                <a16:creationId xmlns:a16="http://schemas.microsoft.com/office/drawing/2014/main" id="{46447923-67CD-40E8-BF4A-60A8C960DE24}"/>
              </a:ext>
            </a:extLst>
          </p:cNvPr>
          <p:cNvSpPr>
            <a:spLocks noGrp="1"/>
          </p:cNvSpPr>
          <p:nvPr/>
        </p:nvSpPr>
        <p:spPr>
          <a:xfrm>
            <a:off x="6000750" y="3733800"/>
            <a:ext cx="66675" cy="16192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9" name="box-title-04  保存与恢复">
            <a:extLst>
              <a:ext uri="{FF2B5EF4-FFF2-40B4-BE49-F238E27FC236}">
                <a16:creationId xmlns:a16="http://schemas.microsoft.com/office/drawing/2014/main" id="{CBFDF1FD-6893-4975-9022-318CFE7B941F}"/>
              </a:ext>
            </a:extLst>
          </p:cNvPr>
          <p:cNvSpPr>
            <a:spLocks noGrp="1"/>
          </p:cNvSpPr>
          <p:nvPr/>
        </p:nvSpPr>
        <p:spPr>
          <a:xfrm>
            <a:off x="6229350" y="3905250"/>
            <a:ext cx="5124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04  保存与恢复</a:t>
            </a:r>
          </a:p>
        </p:txBody>
      </p:sp>
      <p:sp>
        <p:nvSpPr>
          <p:cNvPr id="20" name="box-body-04  保存与恢复">
            <a:extLst>
              <a:ext uri="{FF2B5EF4-FFF2-40B4-BE49-F238E27FC236}">
                <a16:creationId xmlns:a16="http://schemas.microsoft.com/office/drawing/2014/main" id="{BD23357F-999D-4CC7-AA74-2B4F8A4A9AA8}"/>
              </a:ext>
            </a:extLst>
          </p:cNvPr>
          <p:cNvSpPr>
            <a:spLocks noGrp="1"/>
          </p:cNvSpPr>
          <p:nvPr/>
        </p:nvSpPr>
        <p:spPr>
          <a:xfrm>
            <a:off x="6229350" y="4286250"/>
            <a:ext cx="51244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时间线、检查点、分支副本和战役备份</a:t>
            </a:r>
          </a:p>
        </p:txBody>
      </p:sp>
      <p:sp>
        <p:nvSpPr>
          <p:cNvPr id="21" name="feature-note">
            <a:extLst>
              <a:ext uri="{FF2B5EF4-FFF2-40B4-BE49-F238E27FC236}">
                <a16:creationId xmlns:a16="http://schemas.microsoft.com/office/drawing/2014/main" id="{7D90D798-876D-4D3F-B734-D8DC61FEE546}"/>
              </a:ext>
            </a:extLst>
          </p:cNvPr>
          <p:cNvSpPr>
            <a:spLocks noGrp="1"/>
          </p:cNvSpPr>
          <p:nvPr/>
        </p:nvSpPr>
        <p:spPr>
          <a:xfrm>
            <a:off x="685800" y="5753100"/>
            <a:ext cx="10820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可接入本地模型或用户自己的云端模型密钥</a:t>
            </a:r>
          </a:p>
        </p:txBody>
      </p:sp>
    </p:spTree>
    <p:extLst>
      <p:ext uri="{BB962C8B-B14F-4D97-AF65-F5344CB8AC3E}">
        <p14:creationId xmlns:p14="http://schemas.microsoft.com/office/powerpoint/2010/main" val="793171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eyebrow-5">
            <a:extLst>
              <a:ext uri="{FF2B5EF4-FFF2-40B4-BE49-F238E27FC236}">
                <a16:creationId xmlns:a16="http://schemas.microsoft.com/office/drawing/2014/main" id="{33458EFA-98E4-451F-8BCE-F35D1351E11D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571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04  数据库与 API</a:t>
            </a:r>
          </a:p>
        </p:txBody>
      </p:sp>
      <p:sp>
        <p:nvSpPr>
          <p:cNvPr id="2" name="title-5">
            <a:extLst>
              <a:ext uri="{FF2B5EF4-FFF2-40B4-BE49-F238E27FC236}">
                <a16:creationId xmlns:a16="http://schemas.microsoft.com/office/drawing/2014/main" id="{F4855A18-0A2F-49BF-80B3-88138F93B36A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状态 + 事件 + 类型化 API，让系统结果可验证</a:t>
            </a:r>
          </a:p>
        </p:txBody>
      </p:sp>
      <p:sp>
        <p:nvSpPr>
          <p:cNvPr id="3" name="rule-5">
            <a:extLst>
              <a:ext uri="{FF2B5EF4-FFF2-40B4-BE49-F238E27FC236}">
                <a16:creationId xmlns:a16="http://schemas.microsoft.com/office/drawing/2014/main" id="{D4B3AF70-347E-4D6E-9490-6C4EF9A3D669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page-5">
            <a:extLst>
              <a:ext uri="{FF2B5EF4-FFF2-40B4-BE49-F238E27FC236}">
                <a16:creationId xmlns:a16="http://schemas.microsoft.com/office/drawing/2014/main" id="{729AD7F2-E2EC-4A0B-B40A-D238A5315323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05</a:t>
            </a:r>
          </a:p>
        </p:txBody>
      </p:sp>
      <p:sp>
        <p:nvSpPr>
          <p:cNvPr id="5" name="data-title">
            <a:extLst>
              <a:ext uri="{FF2B5EF4-FFF2-40B4-BE49-F238E27FC236}">
                <a16:creationId xmlns:a16="http://schemas.microsoft.com/office/drawing/2014/main" id="{5163198D-BC61-4061-93E4-5944DA0262D4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457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SQLite 数据设计</a:t>
            </a:r>
          </a:p>
        </p:txBody>
      </p:sp>
      <p:sp>
        <p:nvSpPr>
          <p:cNvPr id="6" name="bullet-dot-250-0">
            <a:extLst>
              <a:ext uri="{FF2B5EF4-FFF2-40B4-BE49-F238E27FC236}">
                <a16:creationId xmlns:a16="http://schemas.microsoft.com/office/drawing/2014/main" id="{F05E0BA7-050F-4C36-BEA2-E8C76F42B3A4}"/>
              </a:ext>
            </a:extLst>
          </p:cNvPr>
          <p:cNvSpPr>
            <a:spLocks noGrp="1"/>
          </p:cNvSpPr>
          <p:nvPr/>
        </p:nvSpPr>
        <p:spPr>
          <a:xfrm>
            <a:off x="685800" y="2466975"/>
            <a:ext cx="114300" cy="11430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7" name="bullet-250-0">
            <a:extLst>
              <a:ext uri="{FF2B5EF4-FFF2-40B4-BE49-F238E27FC236}">
                <a16:creationId xmlns:a16="http://schemas.microsoft.com/office/drawing/2014/main" id="{1DC144C1-1A95-4E49-A145-EDBD937B04D1}"/>
              </a:ext>
            </a:extLst>
          </p:cNvPr>
          <p:cNvSpPr>
            <a:spLocks noGrp="1"/>
          </p:cNvSpPr>
          <p:nvPr/>
        </p:nvSpPr>
        <p:spPr>
          <a:xfrm>
            <a:off x="952500" y="2381250"/>
            <a:ext cx="4495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Current State：快速读取当前世界</a:t>
            </a:r>
          </a:p>
        </p:txBody>
      </p:sp>
      <p:sp>
        <p:nvSpPr>
          <p:cNvPr id="8" name="bullet-dot-250-1">
            <a:extLst>
              <a:ext uri="{FF2B5EF4-FFF2-40B4-BE49-F238E27FC236}">
                <a16:creationId xmlns:a16="http://schemas.microsoft.com/office/drawing/2014/main" id="{B871349C-D532-48E1-ABC5-F8E0B98C5D77}"/>
              </a:ext>
            </a:extLst>
          </p:cNvPr>
          <p:cNvSpPr>
            <a:spLocks noGrp="1"/>
          </p:cNvSpPr>
          <p:nvPr/>
        </p:nvSpPr>
        <p:spPr>
          <a:xfrm>
            <a:off x="685800" y="3095625"/>
            <a:ext cx="114300" cy="114300"/>
          </a:xfrm>
          <a:prstGeom prst="ellipse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9" name="bullet-250-1">
            <a:extLst>
              <a:ext uri="{FF2B5EF4-FFF2-40B4-BE49-F238E27FC236}">
                <a16:creationId xmlns:a16="http://schemas.microsoft.com/office/drawing/2014/main" id="{A396A88A-B04A-417B-9EED-1FF2A03FA03D}"/>
              </a:ext>
            </a:extLst>
          </p:cNvPr>
          <p:cNvSpPr>
            <a:spLocks noGrp="1"/>
          </p:cNvSpPr>
          <p:nvPr/>
        </p:nvSpPr>
        <p:spPr>
          <a:xfrm>
            <a:off x="952500" y="3009900"/>
            <a:ext cx="4495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Immutable Event Log：追溯变化原因</a:t>
            </a:r>
          </a:p>
        </p:txBody>
      </p:sp>
      <p:sp>
        <p:nvSpPr>
          <p:cNvPr id="10" name="bullet-dot-250-2">
            <a:extLst>
              <a:ext uri="{FF2B5EF4-FFF2-40B4-BE49-F238E27FC236}">
                <a16:creationId xmlns:a16="http://schemas.microsoft.com/office/drawing/2014/main" id="{AE2841DE-096C-4BC9-BC05-56BE40C4AC58}"/>
              </a:ext>
            </a:extLst>
          </p:cNvPr>
          <p:cNvSpPr>
            <a:spLocks noGrp="1"/>
          </p:cNvSpPr>
          <p:nvPr/>
        </p:nvSpPr>
        <p:spPr>
          <a:xfrm>
            <a:off x="685800" y="3724275"/>
            <a:ext cx="114300" cy="114300"/>
          </a:xfrm>
          <a:prstGeom prst="ellipse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11" name="bullet-250-2">
            <a:extLst>
              <a:ext uri="{FF2B5EF4-FFF2-40B4-BE49-F238E27FC236}">
                <a16:creationId xmlns:a16="http://schemas.microsoft.com/office/drawing/2014/main" id="{605B909C-C5B0-47F9-9522-76642D7CA587}"/>
              </a:ext>
            </a:extLst>
          </p:cNvPr>
          <p:cNvSpPr>
            <a:spLocks noGrp="1"/>
          </p:cNvSpPr>
          <p:nvPr/>
        </p:nvSpPr>
        <p:spPr>
          <a:xfrm>
            <a:off x="952500" y="3638550"/>
            <a:ext cx="4495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Checkpoint：恢复副本而不覆盖历史</a:t>
            </a:r>
          </a:p>
        </p:txBody>
      </p:sp>
      <p:sp>
        <p:nvSpPr>
          <p:cNvPr id="12" name="bullet-dot-250-3">
            <a:extLst>
              <a:ext uri="{FF2B5EF4-FFF2-40B4-BE49-F238E27FC236}">
                <a16:creationId xmlns:a16="http://schemas.microsoft.com/office/drawing/2014/main" id="{D2B542F8-C618-4B7B-B55B-CB181AA4D3EC}"/>
              </a:ext>
            </a:extLst>
          </p:cNvPr>
          <p:cNvSpPr>
            <a:spLocks noGrp="1"/>
          </p:cNvSpPr>
          <p:nvPr/>
        </p:nvSpPr>
        <p:spPr>
          <a:xfrm>
            <a:off x="685800" y="4352925"/>
            <a:ext cx="114300" cy="114300"/>
          </a:xfrm>
          <a:prstGeom prst="ellipse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13" name="bullet-250-3">
            <a:extLst>
              <a:ext uri="{FF2B5EF4-FFF2-40B4-BE49-F238E27FC236}">
                <a16:creationId xmlns:a16="http://schemas.microsoft.com/office/drawing/2014/main" id="{8B2FF54B-018B-464B-99C9-A7223F90D84E}"/>
              </a:ext>
            </a:extLst>
          </p:cNvPr>
          <p:cNvSpPr>
            <a:spLocks noGrp="1"/>
          </p:cNvSpPr>
          <p:nvPr/>
        </p:nvSpPr>
        <p:spPr>
          <a:xfrm>
            <a:off x="952500" y="4267200"/>
            <a:ext cx="4495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Credential ID：数据库不保存明文密钥</a:t>
            </a:r>
          </a:p>
        </p:txBody>
      </p:sp>
      <p:sp>
        <p:nvSpPr>
          <p:cNvPr id="14" name="mid-rule">
            <a:extLst>
              <a:ext uri="{FF2B5EF4-FFF2-40B4-BE49-F238E27FC236}">
                <a16:creationId xmlns:a16="http://schemas.microsoft.com/office/drawing/2014/main" id="{79DC864E-711D-4134-A780-7035401B11B2}"/>
              </a:ext>
            </a:extLst>
          </p:cNvPr>
          <p:cNvSpPr>
            <a:spLocks noGrp="1"/>
          </p:cNvSpPr>
          <p:nvPr/>
        </p:nvSpPr>
        <p:spPr>
          <a:xfrm>
            <a:off x="5905500" y="1809750"/>
            <a:ext cx="19050" cy="37147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5" name="api-title">
            <a:extLst>
              <a:ext uri="{FF2B5EF4-FFF2-40B4-BE49-F238E27FC236}">
                <a16:creationId xmlns:a16="http://schemas.microsoft.com/office/drawing/2014/main" id="{CCCE0EC5-2430-43B4-AE2E-9E7DAC0A6F9F}"/>
              </a:ext>
            </a:extLst>
          </p:cNvPr>
          <p:cNvSpPr>
            <a:spLocks noGrp="1"/>
          </p:cNvSpPr>
          <p:nvPr/>
        </p:nvSpPr>
        <p:spPr>
          <a:xfrm>
            <a:off x="6419850" y="1809750"/>
            <a:ext cx="457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类型化桌面 API</a:t>
            </a:r>
          </a:p>
        </p:txBody>
      </p:sp>
      <p:sp>
        <p:nvSpPr>
          <p:cNvPr id="16" name="bullet-dot-250-0">
            <a:extLst>
              <a:ext uri="{FF2B5EF4-FFF2-40B4-BE49-F238E27FC236}">
                <a16:creationId xmlns:a16="http://schemas.microsoft.com/office/drawing/2014/main" id="{5F3C4966-D9D3-4388-A30D-572C36443504}"/>
              </a:ext>
            </a:extLst>
          </p:cNvPr>
          <p:cNvSpPr>
            <a:spLocks noGrp="1"/>
          </p:cNvSpPr>
          <p:nvPr/>
        </p:nvSpPr>
        <p:spPr>
          <a:xfrm>
            <a:off x="6419850" y="2466975"/>
            <a:ext cx="114300" cy="11430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7" name="bullet-250-0">
            <a:extLst>
              <a:ext uri="{FF2B5EF4-FFF2-40B4-BE49-F238E27FC236}">
                <a16:creationId xmlns:a16="http://schemas.microsoft.com/office/drawing/2014/main" id="{3E413ED8-62C3-43BC-9AA4-21E7C056A88F}"/>
              </a:ext>
            </a:extLst>
          </p:cNvPr>
          <p:cNvSpPr>
            <a:spLocks noGrp="1"/>
          </p:cNvSpPr>
          <p:nvPr/>
        </p:nvSpPr>
        <p:spPr>
          <a:xfrm>
            <a:off x="6686550" y="2381250"/>
            <a:ext cx="4495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101820"/>
                </a:solidFill>
              </a:defRPr>
            </a:pPr>
            <a:r>
              <a:rPr lang="en-US" sz="1425" dirty="0">
                <a:solidFill>
                  <a:srgbClr val="101820"/>
                </a:solidFill>
              </a:rPr>
              <a:t>C</a:t>
            </a:r>
            <a:r>
              <a:rPr sz="1425" b="0" dirty="0">
                <a:solidFill>
                  <a:srgbClr val="101820"/>
                </a:solidFill>
              </a:rPr>
              <a:t>ampaign: </a:t>
            </a:r>
            <a:r>
              <a:rPr sz="1425" b="0" dirty="0" err="1">
                <a:solidFill>
                  <a:srgbClr val="101820"/>
                </a:solidFill>
              </a:rPr>
              <a:t>战役与人物</a:t>
            </a:r>
            <a:endParaRPr sz="1425" b="0" dirty="0">
              <a:solidFill>
                <a:srgbClr val="101820"/>
              </a:solidFill>
            </a:endParaRPr>
          </a:p>
        </p:txBody>
      </p:sp>
      <p:sp>
        <p:nvSpPr>
          <p:cNvPr id="18" name="bullet-dot-250-1">
            <a:extLst>
              <a:ext uri="{FF2B5EF4-FFF2-40B4-BE49-F238E27FC236}">
                <a16:creationId xmlns:a16="http://schemas.microsoft.com/office/drawing/2014/main" id="{B3EBB516-E7FD-4AB9-A0F9-44395BBF3EF5}"/>
              </a:ext>
            </a:extLst>
          </p:cNvPr>
          <p:cNvSpPr>
            <a:spLocks noGrp="1"/>
          </p:cNvSpPr>
          <p:nvPr/>
        </p:nvSpPr>
        <p:spPr>
          <a:xfrm>
            <a:off x="6419850" y="3095625"/>
            <a:ext cx="114300" cy="114300"/>
          </a:xfrm>
          <a:prstGeom prst="ellipse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19" name="bullet-250-1">
            <a:extLst>
              <a:ext uri="{FF2B5EF4-FFF2-40B4-BE49-F238E27FC236}">
                <a16:creationId xmlns:a16="http://schemas.microsoft.com/office/drawing/2014/main" id="{DA605A4C-D3A6-431E-B9AC-62F575D35142}"/>
              </a:ext>
            </a:extLst>
          </p:cNvPr>
          <p:cNvSpPr>
            <a:spLocks noGrp="1"/>
          </p:cNvSpPr>
          <p:nvPr/>
        </p:nvSpPr>
        <p:spPr>
          <a:xfrm>
            <a:off x="6686550" y="3009900"/>
            <a:ext cx="4495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101820"/>
                </a:solidFill>
              </a:defRPr>
            </a:pPr>
            <a:r>
              <a:rPr lang="en-US" sz="1425" dirty="0">
                <a:solidFill>
                  <a:srgbClr val="101820"/>
                </a:solidFill>
              </a:rPr>
              <a:t>T</a:t>
            </a:r>
            <a:r>
              <a:rPr sz="1425" b="0" dirty="0">
                <a:solidFill>
                  <a:srgbClr val="101820"/>
                </a:solidFill>
              </a:rPr>
              <a:t>urn:</a:t>
            </a:r>
            <a:r>
              <a:rPr lang="en-US" sz="1425" b="0" dirty="0">
                <a:solidFill>
                  <a:srgbClr val="101820"/>
                </a:solidFill>
              </a:rPr>
              <a:t> </a:t>
            </a:r>
            <a:r>
              <a:rPr sz="1425" b="0" dirty="0">
                <a:solidFill>
                  <a:srgbClr val="101820"/>
                </a:solidFill>
              </a:rPr>
              <a:t>operation:  </a:t>
            </a:r>
            <a:r>
              <a:rPr sz="1425" b="0" dirty="0" err="1">
                <a:solidFill>
                  <a:srgbClr val="101820"/>
                </a:solidFill>
              </a:rPr>
              <a:t>回合与进度</a:t>
            </a:r>
            <a:endParaRPr sz="1425" b="0" dirty="0">
              <a:solidFill>
                <a:srgbClr val="101820"/>
              </a:solidFill>
            </a:endParaRPr>
          </a:p>
        </p:txBody>
      </p:sp>
      <p:sp>
        <p:nvSpPr>
          <p:cNvPr id="20" name="bullet-dot-250-2">
            <a:extLst>
              <a:ext uri="{FF2B5EF4-FFF2-40B4-BE49-F238E27FC236}">
                <a16:creationId xmlns:a16="http://schemas.microsoft.com/office/drawing/2014/main" id="{1C15EEAF-6A40-446C-AD7A-12470B824D2B}"/>
              </a:ext>
            </a:extLst>
          </p:cNvPr>
          <p:cNvSpPr>
            <a:spLocks noGrp="1"/>
          </p:cNvSpPr>
          <p:nvPr/>
        </p:nvSpPr>
        <p:spPr>
          <a:xfrm>
            <a:off x="6419850" y="3724275"/>
            <a:ext cx="114300" cy="114300"/>
          </a:xfrm>
          <a:prstGeom prst="ellipse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21" name="bullet-250-2">
            <a:extLst>
              <a:ext uri="{FF2B5EF4-FFF2-40B4-BE49-F238E27FC236}">
                <a16:creationId xmlns:a16="http://schemas.microsoft.com/office/drawing/2014/main" id="{6A7E0B5C-431A-40F6-A0CF-C66A9D2C42CF}"/>
              </a:ext>
            </a:extLst>
          </p:cNvPr>
          <p:cNvSpPr>
            <a:spLocks noGrp="1"/>
          </p:cNvSpPr>
          <p:nvPr/>
        </p:nvSpPr>
        <p:spPr>
          <a:xfrm>
            <a:off x="6686550" y="3638550"/>
            <a:ext cx="4495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101820"/>
                </a:solidFill>
              </a:defRPr>
            </a:pPr>
            <a:r>
              <a:rPr lang="en-US" sz="1425" dirty="0">
                <a:solidFill>
                  <a:srgbClr val="101820"/>
                </a:solidFill>
              </a:rPr>
              <a:t>T</a:t>
            </a:r>
            <a:r>
              <a:rPr sz="1425" b="0" dirty="0">
                <a:solidFill>
                  <a:srgbClr val="101820"/>
                </a:solidFill>
              </a:rPr>
              <a:t>imeline:</a:t>
            </a:r>
            <a:r>
              <a:rPr lang="en-US" sz="1425" b="0" dirty="0">
                <a:solidFill>
                  <a:srgbClr val="101820"/>
                </a:solidFill>
              </a:rPr>
              <a:t> </a:t>
            </a:r>
            <a:r>
              <a:rPr sz="1425" b="0" dirty="0">
                <a:solidFill>
                  <a:srgbClr val="101820"/>
                </a:solidFill>
              </a:rPr>
              <a:t>checkpoint:  </a:t>
            </a:r>
            <a:r>
              <a:rPr sz="1425" b="0" dirty="0" err="1">
                <a:solidFill>
                  <a:srgbClr val="101820"/>
                </a:solidFill>
              </a:rPr>
              <a:t>历史与恢复</a:t>
            </a:r>
            <a:endParaRPr sz="1425" b="0" dirty="0">
              <a:solidFill>
                <a:srgbClr val="101820"/>
              </a:solidFill>
            </a:endParaRPr>
          </a:p>
        </p:txBody>
      </p:sp>
      <p:sp>
        <p:nvSpPr>
          <p:cNvPr id="22" name="bullet-dot-250-3">
            <a:extLst>
              <a:ext uri="{FF2B5EF4-FFF2-40B4-BE49-F238E27FC236}">
                <a16:creationId xmlns:a16="http://schemas.microsoft.com/office/drawing/2014/main" id="{E2B5D1CB-E6AC-4664-AB9B-A567F1C81663}"/>
              </a:ext>
            </a:extLst>
          </p:cNvPr>
          <p:cNvSpPr>
            <a:spLocks noGrp="1"/>
          </p:cNvSpPr>
          <p:nvPr/>
        </p:nvSpPr>
        <p:spPr>
          <a:xfrm>
            <a:off x="6419850" y="4352925"/>
            <a:ext cx="114300" cy="114300"/>
          </a:xfrm>
          <a:prstGeom prst="ellipse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23" name="bullet-250-3">
            <a:extLst>
              <a:ext uri="{FF2B5EF4-FFF2-40B4-BE49-F238E27FC236}">
                <a16:creationId xmlns:a16="http://schemas.microsoft.com/office/drawing/2014/main" id="{DA2CEC1C-F0DF-436B-A46C-5D79E48C91B9}"/>
              </a:ext>
            </a:extLst>
          </p:cNvPr>
          <p:cNvSpPr>
            <a:spLocks noGrp="1"/>
          </p:cNvSpPr>
          <p:nvPr/>
        </p:nvSpPr>
        <p:spPr>
          <a:xfrm>
            <a:off x="6686550" y="4267200"/>
            <a:ext cx="4495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101820"/>
                </a:solidFill>
              </a:defRPr>
            </a:pPr>
            <a:r>
              <a:rPr lang="en-US" sz="1425" dirty="0">
                <a:solidFill>
                  <a:srgbClr val="101820"/>
                </a:solidFill>
              </a:rPr>
              <a:t>S</a:t>
            </a:r>
            <a:r>
              <a:rPr sz="1425" b="0" dirty="0">
                <a:solidFill>
                  <a:srgbClr val="101820"/>
                </a:solidFill>
              </a:rPr>
              <a:t>ettings:</a:t>
            </a:r>
            <a:r>
              <a:rPr lang="en-US" sz="1425" b="0" dirty="0">
                <a:solidFill>
                  <a:srgbClr val="101820"/>
                </a:solidFill>
              </a:rPr>
              <a:t> </a:t>
            </a:r>
            <a:r>
              <a:rPr sz="1425" b="0" dirty="0">
                <a:solidFill>
                  <a:srgbClr val="101820"/>
                </a:solidFill>
              </a:rPr>
              <a:t>backup:  </a:t>
            </a:r>
            <a:r>
              <a:rPr sz="1425" b="0" dirty="0" err="1">
                <a:solidFill>
                  <a:srgbClr val="101820"/>
                </a:solidFill>
              </a:rPr>
              <a:t>模型与备份</a:t>
            </a:r>
            <a:endParaRPr sz="1425" b="0" dirty="0">
              <a:solidFill>
                <a:srgbClr val="101820"/>
              </a:solidFill>
            </a:endParaRPr>
          </a:p>
        </p:txBody>
      </p:sp>
      <p:sp>
        <p:nvSpPr>
          <p:cNvPr id="24" name="api-bottom">
            <a:extLst>
              <a:ext uri="{FF2B5EF4-FFF2-40B4-BE49-F238E27FC236}">
                <a16:creationId xmlns:a16="http://schemas.microsoft.com/office/drawing/2014/main" id="{2E9D9AF2-CF99-40C3-B4BC-E6993262CE25}"/>
              </a:ext>
            </a:extLst>
          </p:cNvPr>
          <p:cNvSpPr>
            <a:spLocks noGrp="1"/>
          </p:cNvSpPr>
          <p:nvPr/>
        </p:nvSpPr>
        <p:spPr>
          <a:xfrm>
            <a:off x="685800" y="5810250"/>
            <a:ext cx="10820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版本冲突时拒绝提交；叙事失败也不会重复掷骰。</a:t>
            </a:r>
          </a:p>
        </p:txBody>
      </p:sp>
    </p:spTree>
    <p:extLst>
      <p:ext uri="{BB962C8B-B14F-4D97-AF65-F5344CB8AC3E}">
        <p14:creationId xmlns:p14="http://schemas.microsoft.com/office/powerpoint/2010/main" val="978502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eyebrow-6">
            <a:extLst>
              <a:ext uri="{FF2B5EF4-FFF2-40B4-BE49-F238E27FC236}">
                <a16:creationId xmlns:a16="http://schemas.microsoft.com/office/drawing/2014/main" id="{13A3CAE6-4E10-47B1-B5F8-8DE3787DF332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571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05  系统演示</a:t>
            </a:r>
          </a:p>
        </p:txBody>
      </p:sp>
      <p:sp>
        <p:nvSpPr>
          <p:cNvPr id="2" name="title-6">
            <a:extLst>
              <a:ext uri="{FF2B5EF4-FFF2-40B4-BE49-F238E27FC236}">
                <a16:creationId xmlns:a16="http://schemas.microsoft.com/office/drawing/2014/main" id="{D928055F-EB25-46D2-A457-35DFCEB066E1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两分钟演示：从自然语言行动到可追溯结果</a:t>
            </a:r>
          </a:p>
        </p:txBody>
      </p:sp>
      <p:sp>
        <p:nvSpPr>
          <p:cNvPr id="3" name="rule-6">
            <a:extLst>
              <a:ext uri="{FF2B5EF4-FFF2-40B4-BE49-F238E27FC236}">
                <a16:creationId xmlns:a16="http://schemas.microsoft.com/office/drawing/2014/main" id="{10B0B4DB-0CE9-4A1D-991D-57B4E2FBBFDE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page-6">
            <a:extLst>
              <a:ext uri="{FF2B5EF4-FFF2-40B4-BE49-F238E27FC236}">
                <a16:creationId xmlns:a16="http://schemas.microsoft.com/office/drawing/2014/main" id="{57B87243-3B19-4756-B2EA-B0EB7D6AA98F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06</a:t>
            </a:r>
          </a:p>
        </p:txBody>
      </p:sp>
      <p:sp>
        <p:nvSpPr>
          <p:cNvPr id="5" name="step-num-0">
            <a:extLst>
              <a:ext uri="{FF2B5EF4-FFF2-40B4-BE49-F238E27FC236}">
                <a16:creationId xmlns:a16="http://schemas.microsoft.com/office/drawing/2014/main" id="{EDC6D163-DD39-43EA-BD3B-511DF11BCD6A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514350" cy="514350"/>
          </a:xfrm>
          <a:prstGeom prst="ellipse">
            <a:avLst/>
          </a:prstGeom>
          <a:solidFill>
            <a:srgbClr val="17324D"/>
          </a:solidFill>
          <a:ln w="0">
            <a:noFill/>
            <a:prstDash val="solid"/>
          </a:ln>
        </p:spPr>
      </p:sp>
      <p:sp>
        <p:nvSpPr>
          <p:cNvPr id="6" name="step-num-text-0">
            <a:extLst>
              <a:ext uri="{FF2B5EF4-FFF2-40B4-BE49-F238E27FC236}">
                <a16:creationId xmlns:a16="http://schemas.microsoft.com/office/drawing/2014/main" id="{ABD39C4F-0D88-4162-AB0A-920CA3948EC4}"/>
              </a:ext>
            </a:extLst>
          </p:cNvPr>
          <p:cNvSpPr>
            <a:spLocks noGrp="1"/>
          </p:cNvSpPr>
          <p:nvPr/>
        </p:nvSpPr>
        <p:spPr>
          <a:xfrm>
            <a:off x="685800" y="2219325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step-text-0">
            <a:extLst>
              <a:ext uri="{FF2B5EF4-FFF2-40B4-BE49-F238E27FC236}">
                <a16:creationId xmlns:a16="http://schemas.microsoft.com/office/drawing/2014/main" id="{EE31AF5F-1FCA-46BD-8B2B-24300ADB1E2C}"/>
              </a:ext>
            </a:extLst>
          </p:cNvPr>
          <p:cNvSpPr>
            <a:spLocks noGrp="1"/>
          </p:cNvSpPr>
          <p:nvPr/>
        </p:nvSpPr>
        <p:spPr>
          <a:xfrm>
            <a:off x="438150" y="2838450"/>
            <a:ext cx="1524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打开预置战役</a:t>
            </a:r>
          </a:p>
        </p:txBody>
      </p:sp>
      <p:sp>
        <p:nvSpPr>
          <p:cNvPr id="8" name="step-line-0">
            <a:extLst>
              <a:ext uri="{FF2B5EF4-FFF2-40B4-BE49-F238E27FC236}">
                <a16:creationId xmlns:a16="http://schemas.microsoft.com/office/drawing/2014/main" id="{18E72559-6968-45FB-ABD6-771A33319D44}"/>
              </a:ext>
            </a:extLst>
          </p:cNvPr>
          <p:cNvSpPr>
            <a:spLocks noGrp="1"/>
          </p:cNvSpPr>
          <p:nvPr/>
        </p:nvSpPr>
        <p:spPr>
          <a:xfrm>
            <a:off x="1314450" y="2381250"/>
            <a:ext cx="1390650" cy="2857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9" name="step-num-1">
            <a:extLst>
              <a:ext uri="{FF2B5EF4-FFF2-40B4-BE49-F238E27FC236}">
                <a16:creationId xmlns:a16="http://schemas.microsoft.com/office/drawing/2014/main" id="{493720AA-1578-4C2A-9821-D0CDC9FB4827}"/>
              </a:ext>
            </a:extLst>
          </p:cNvPr>
          <p:cNvSpPr>
            <a:spLocks noGrp="1"/>
          </p:cNvSpPr>
          <p:nvPr/>
        </p:nvSpPr>
        <p:spPr>
          <a:xfrm>
            <a:off x="2800350" y="2133600"/>
            <a:ext cx="514350" cy="514350"/>
          </a:xfrm>
          <a:prstGeom prst="ellipse">
            <a:avLst/>
          </a:prstGeom>
          <a:solidFill>
            <a:srgbClr val="17324D"/>
          </a:solidFill>
          <a:ln w="0">
            <a:noFill/>
            <a:prstDash val="solid"/>
          </a:ln>
        </p:spPr>
      </p:sp>
      <p:sp>
        <p:nvSpPr>
          <p:cNvPr id="10" name="step-num-text-1">
            <a:extLst>
              <a:ext uri="{FF2B5EF4-FFF2-40B4-BE49-F238E27FC236}">
                <a16:creationId xmlns:a16="http://schemas.microsoft.com/office/drawing/2014/main" id="{8FED3BDC-0E76-4EB5-9515-2F25C2DB43B3}"/>
              </a:ext>
            </a:extLst>
          </p:cNvPr>
          <p:cNvSpPr>
            <a:spLocks noGrp="1"/>
          </p:cNvSpPr>
          <p:nvPr/>
        </p:nvSpPr>
        <p:spPr>
          <a:xfrm>
            <a:off x="2800350" y="2219325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step-text-1">
            <a:extLst>
              <a:ext uri="{FF2B5EF4-FFF2-40B4-BE49-F238E27FC236}">
                <a16:creationId xmlns:a16="http://schemas.microsoft.com/office/drawing/2014/main" id="{60272473-856B-44C4-9537-6E13D41A8EB8}"/>
              </a:ext>
            </a:extLst>
          </p:cNvPr>
          <p:cNvSpPr>
            <a:spLocks noGrp="1"/>
          </p:cNvSpPr>
          <p:nvPr/>
        </p:nvSpPr>
        <p:spPr>
          <a:xfrm>
            <a:off x="2552700" y="2838450"/>
            <a:ext cx="1524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查看人物与场景</a:t>
            </a:r>
          </a:p>
        </p:txBody>
      </p:sp>
      <p:sp>
        <p:nvSpPr>
          <p:cNvPr id="12" name="step-line-1">
            <a:extLst>
              <a:ext uri="{FF2B5EF4-FFF2-40B4-BE49-F238E27FC236}">
                <a16:creationId xmlns:a16="http://schemas.microsoft.com/office/drawing/2014/main" id="{72ADD179-8D58-462E-BAA5-E639DA749163}"/>
              </a:ext>
            </a:extLst>
          </p:cNvPr>
          <p:cNvSpPr>
            <a:spLocks noGrp="1"/>
          </p:cNvSpPr>
          <p:nvPr/>
        </p:nvSpPr>
        <p:spPr>
          <a:xfrm>
            <a:off x="3429000" y="2381250"/>
            <a:ext cx="1390650" cy="2857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3" name="step-num-2">
            <a:extLst>
              <a:ext uri="{FF2B5EF4-FFF2-40B4-BE49-F238E27FC236}">
                <a16:creationId xmlns:a16="http://schemas.microsoft.com/office/drawing/2014/main" id="{5D5B841D-7FC2-4422-BC97-5570FFE3E51D}"/>
              </a:ext>
            </a:extLst>
          </p:cNvPr>
          <p:cNvSpPr>
            <a:spLocks noGrp="1"/>
          </p:cNvSpPr>
          <p:nvPr/>
        </p:nvSpPr>
        <p:spPr>
          <a:xfrm>
            <a:off x="4914900" y="2133600"/>
            <a:ext cx="514350" cy="514350"/>
          </a:xfrm>
          <a:prstGeom prst="ellipse">
            <a:avLst/>
          </a:prstGeom>
          <a:solidFill>
            <a:srgbClr val="17324D"/>
          </a:solidFill>
          <a:ln w="0">
            <a:noFill/>
            <a:prstDash val="solid"/>
          </a:ln>
        </p:spPr>
      </p:sp>
      <p:sp>
        <p:nvSpPr>
          <p:cNvPr id="14" name="step-num-text-2">
            <a:extLst>
              <a:ext uri="{FF2B5EF4-FFF2-40B4-BE49-F238E27FC236}">
                <a16:creationId xmlns:a16="http://schemas.microsoft.com/office/drawing/2014/main" id="{A733CEA7-7AEA-4252-9CEA-B323FC884CCB}"/>
              </a:ext>
            </a:extLst>
          </p:cNvPr>
          <p:cNvSpPr>
            <a:spLocks noGrp="1"/>
          </p:cNvSpPr>
          <p:nvPr/>
        </p:nvSpPr>
        <p:spPr>
          <a:xfrm>
            <a:off x="4914900" y="2219325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step-text-2">
            <a:extLst>
              <a:ext uri="{FF2B5EF4-FFF2-40B4-BE49-F238E27FC236}">
                <a16:creationId xmlns:a16="http://schemas.microsoft.com/office/drawing/2014/main" id="{6E0A7946-3CCC-4D12-9B13-28049C1EC178}"/>
              </a:ext>
            </a:extLst>
          </p:cNvPr>
          <p:cNvSpPr>
            <a:spLocks noGrp="1"/>
          </p:cNvSpPr>
          <p:nvPr/>
        </p:nvSpPr>
        <p:spPr>
          <a:xfrm>
            <a:off x="4667250" y="2838450"/>
            <a:ext cx="1524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输入调查行动</a:t>
            </a:r>
          </a:p>
        </p:txBody>
      </p:sp>
      <p:sp>
        <p:nvSpPr>
          <p:cNvPr id="16" name="step-line-2">
            <a:extLst>
              <a:ext uri="{FF2B5EF4-FFF2-40B4-BE49-F238E27FC236}">
                <a16:creationId xmlns:a16="http://schemas.microsoft.com/office/drawing/2014/main" id="{05B35411-617D-4B85-8CE0-D65A7E3C5F8E}"/>
              </a:ext>
            </a:extLst>
          </p:cNvPr>
          <p:cNvSpPr>
            <a:spLocks noGrp="1"/>
          </p:cNvSpPr>
          <p:nvPr/>
        </p:nvSpPr>
        <p:spPr>
          <a:xfrm>
            <a:off x="5543550" y="2381250"/>
            <a:ext cx="1390650" cy="2857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7" name="step-num-3">
            <a:extLst>
              <a:ext uri="{FF2B5EF4-FFF2-40B4-BE49-F238E27FC236}">
                <a16:creationId xmlns:a16="http://schemas.microsoft.com/office/drawing/2014/main" id="{39D272F6-6769-41FC-A3C4-42EB11CF7007}"/>
              </a:ext>
            </a:extLst>
          </p:cNvPr>
          <p:cNvSpPr>
            <a:spLocks noGrp="1"/>
          </p:cNvSpPr>
          <p:nvPr/>
        </p:nvSpPr>
        <p:spPr>
          <a:xfrm>
            <a:off x="7029450" y="2133600"/>
            <a:ext cx="514350" cy="51435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8" name="step-num-text-3">
            <a:extLst>
              <a:ext uri="{FF2B5EF4-FFF2-40B4-BE49-F238E27FC236}">
                <a16:creationId xmlns:a16="http://schemas.microsoft.com/office/drawing/2014/main" id="{E8121486-18F5-482D-BBFF-0C4665F87B75}"/>
              </a:ext>
            </a:extLst>
          </p:cNvPr>
          <p:cNvSpPr>
            <a:spLocks noGrp="1"/>
          </p:cNvSpPr>
          <p:nvPr/>
        </p:nvSpPr>
        <p:spPr>
          <a:xfrm>
            <a:off x="7029450" y="2219325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step-text-3">
            <a:extLst>
              <a:ext uri="{FF2B5EF4-FFF2-40B4-BE49-F238E27FC236}">
                <a16:creationId xmlns:a16="http://schemas.microsoft.com/office/drawing/2014/main" id="{E0C486D1-D7AE-4AE4-B3CC-C340C355E2C7}"/>
              </a:ext>
            </a:extLst>
          </p:cNvPr>
          <p:cNvSpPr>
            <a:spLocks noGrp="1"/>
          </p:cNvSpPr>
          <p:nvPr/>
        </p:nvSpPr>
        <p:spPr>
          <a:xfrm>
            <a:off x="6781800" y="2838450"/>
            <a:ext cx="1524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触发检定与叙事</a:t>
            </a:r>
          </a:p>
        </p:txBody>
      </p:sp>
      <p:sp>
        <p:nvSpPr>
          <p:cNvPr id="20" name="step-line-3">
            <a:extLst>
              <a:ext uri="{FF2B5EF4-FFF2-40B4-BE49-F238E27FC236}">
                <a16:creationId xmlns:a16="http://schemas.microsoft.com/office/drawing/2014/main" id="{F06F1935-A6C3-4DFB-A724-31C39E21F3DF}"/>
              </a:ext>
            </a:extLst>
          </p:cNvPr>
          <p:cNvSpPr>
            <a:spLocks noGrp="1"/>
          </p:cNvSpPr>
          <p:nvPr/>
        </p:nvSpPr>
        <p:spPr>
          <a:xfrm>
            <a:off x="7658100" y="2381250"/>
            <a:ext cx="1390650" cy="2857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1" name="step-num-4">
            <a:extLst>
              <a:ext uri="{FF2B5EF4-FFF2-40B4-BE49-F238E27FC236}">
                <a16:creationId xmlns:a16="http://schemas.microsoft.com/office/drawing/2014/main" id="{08207C3F-F4A7-40AD-9BEB-B56B33AA2442}"/>
              </a:ext>
            </a:extLst>
          </p:cNvPr>
          <p:cNvSpPr>
            <a:spLocks noGrp="1"/>
          </p:cNvSpPr>
          <p:nvPr/>
        </p:nvSpPr>
        <p:spPr>
          <a:xfrm>
            <a:off x="9144000" y="2133600"/>
            <a:ext cx="514350" cy="514350"/>
          </a:xfrm>
          <a:prstGeom prst="ellipse">
            <a:avLst/>
          </a:prstGeom>
          <a:solidFill>
            <a:srgbClr val="17324D"/>
          </a:solidFill>
          <a:ln w="0">
            <a:noFill/>
            <a:prstDash val="solid"/>
          </a:ln>
        </p:spPr>
      </p:sp>
      <p:sp>
        <p:nvSpPr>
          <p:cNvPr id="22" name="step-num-text-4">
            <a:extLst>
              <a:ext uri="{FF2B5EF4-FFF2-40B4-BE49-F238E27FC236}">
                <a16:creationId xmlns:a16="http://schemas.microsoft.com/office/drawing/2014/main" id="{D565BA0B-D523-4B31-82DE-C0E464B2FF77}"/>
              </a:ext>
            </a:extLst>
          </p:cNvPr>
          <p:cNvSpPr>
            <a:spLocks noGrp="1"/>
          </p:cNvSpPr>
          <p:nvPr/>
        </p:nvSpPr>
        <p:spPr>
          <a:xfrm>
            <a:off x="9144000" y="2219325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step-text-4">
            <a:extLst>
              <a:ext uri="{FF2B5EF4-FFF2-40B4-BE49-F238E27FC236}">
                <a16:creationId xmlns:a16="http://schemas.microsoft.com/office/drawing/2014/main" id="{E7AD8F0D-DB3C-4FE2-BD6C-EED6E675BEC3}"/>
              </a:ext>
            </a:extLst>
          </p:cNvPr>
          <p:cNvSpPr>
            <a:spLocks noGrp="1"/>
          </p:cNvSpPr>
          <p:nvPr/>
        </p:nvSpPr>
        <p:spPr>
          <a:xfrm>
            <a:off x="8896350" y="2838450"/>
            <a:ext cx="1524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查看时间线/检查点</a:t>
            </a:r>
          </a:p>
        </p:txBody>
      </p:sp>
      <p:sp>
        <p:nvSpPr>
          <p:cNvPr id="24" name="demo-arch-label">
            <a:extLst>
              <a:ext uri="{FF2B5EF4-FFF2-40B4-BE49-F238E27FC236}">
                <a16:creationId xmlns:a16="http://schemas.microsoft.com/office/drawing/2014/main" id="{33CC5283-5A65-45B4-9B4E-13B6FD8CE135}"/>
              </a:ext>
            </a:extLst>
          </p:cNvPr>
          <p:cNvSpPr>
            <a:spLocks noGrp="1"/>
          </p:cNvSpPr>
          <p:nvPr/>
        </p:nvSpPr>
        <p:spPr>
          <a:xfrm>
            <a:off x="685800" y="3714750"/>
            <a:ext cx="10820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一次行动在程序中的真实调用路径</a:t>
            </a:r>
          </a:p>
        </p:txBody>
      </p:sp>
      <p:sp>
        <p:nvSpPr>
          <p:cNvPr id="25" name="demo-arch-node-0">
            <a:extLst>
              <a:ext uri="{FF2B5EF4-FFF2-40B4-BE49-F238E27FC236}">
                <a16:creationId xmlns:a16="http://schemas.microsoft.com/office/drawing/2014/main" id="{84129555-BBAD-4BC4-8ECE-664781E5E696}"/>
              </a:ext>
            </a:extLst>
          </p:cNvPr>
          <p:cNvSpPr>
            <a:spLocks noGrp="1"/>
          </p:cNvSpPr>
          <p:nvPr/>
        </p:nvSpPr>
        <p:spPr>
          <a:xfrm>
            <a:off x="990600" y="4114800"/>
            <a:ext cx="2133600" cy="142875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26" name="demo-arch-accent-0">
            <a:extLst>
              <a:ext uri="{FF2B5EF4-FFF2-40B4-BE49-F238E27FC236}">
                <a16:creationId xmlns:a16="http://schemas.microsoft.com/office/drawing/2014/main" id="{4FF1AA53-A0B4-4AC9-ACA3-45BE8558D287}"/>
              </a:ext>
            </a:extLst>
          </p:cNvPr>
          <p:cNvSpPr>
            <a:spLocks noGrp="1"/>
          </p:cNvSpPr>
          <p:nvPr/>
        </p:nvSpPr>
        <p:spPr>
          <a:xfrm>
            <a:off x="990600" y="4114800"/>
            <a:ext cx="2133600" cy="57150"/>
          </a:xfrm>
          <a:prstGeom prst="rect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27" name="demo-arch-title-0">
            <a:extLst>
              <a:ext uri="{FF2B5EF4-FFF2-40B4-BE49-F238E27FC236}">
                <a16:creationId xmlns:a16="http://schemas.microsoft.com/office/drawing/2014/main" id="{0E0F460B-304E-4771-86E3-81A4313F21E2}"/>
              </a:ext>
            </a:extLst>
          </p:cNvPr>
          <p:cNvSpPr>
            <a:spLocks noGrp="1"/>
          </p:cNvSpPr>
          <p:nvPr/>
        </p:nvSpPr>
        <p:spPr>
          <a:xfrm>
            <a:off x="1162050" y="4343400"/>
            <a:ext cx="1790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玩家界面</a:t>
            </a:r>
          </a:p>
        </p:txBody>
      </p:sp>
      <p:sp>
        <p:nvSpPr>
          <p:cNvPr id="28" name="demo-arch-body-0">
            <a:extLst>
              <a:ext uri="{FF2B5EF4-FFF2-40B4-BE49-F238E27FC236}">
                <a16:creationId xmlns:a16="http://schemas.microsoft.com/office/drawing/2014/main" id="{8109C825-6326-4D2C-BDF2-B9E90207761F}"/>
              </a:ext>
            </a:extLst>
          </p:cNvPr>
          <p:cNvSpPr>
            <a:spLocks noGrp="1"/>
          </p:cNvSpPr>
          <p:nvPr/>
        </p:nvSpPr>
        <p:spPr>
          <a:xfrm>
            <a:off x="1143000" y="4743450"/>
            <a:ext cx="18288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0">
                <a:solidFill>
                  <a:srgbClr val="5B6573"/>
                </a:solidFill>
              </a:defRPr>
            </a:pPr>
            <a:r>
              <a:rPr sz="1125" b="0">
                <a:solidFill>
                  <a:srgbClr val="5B6573"/>
                </a:solidFill>
              </a:rPr>
              <a:t>React Renderer</a:t>
            </a:r>
          </a:p>
          <a:p>
            <a:pPr algn="ctr">
              <a:defRPr sz="1125" b="0">
                <a:solidFill>
                  <a:srgbClr val="5B6573"/>
                </a:solidFill>
              </a:defRPr>
            </a:pPr>
            <a:r>
              <a:rPr sz="1125" b="0">
                <a:solidFill>
                  <a:srgbClr val="5B6573"/>
                </a:solidFill>
              </a:rPr>
              <a:t>自然语言输入与结果展示</a:t>
            </a:r>
          </a:p>
        </p:txBody>
      </p:sp>
      <p:sp>
        <p:nvSpPr>
          <p:cNvPr id="29" name="demo-arch-arrow-0">
            <a:extLst>
              <a:ext uri="{FF2B5EF4-FFF2-40B4-BE49-F238E27FC236}">
                <a16:creationId xmlns:a16="http://schemas.microsoft.com/office/drawing/2014/main" id="{C4CF4479-436C-4FD7-80D4-BA2450F3B9E2}"/>
              </a:ext>
            </a:extLst>
          </p:cNvPr>
          <p:cNvSpPr>
            <a:spLocks noGrp="1"/>
          </p:cNvSpPr>
          <p:nvPr/>
        </p:nvSpPr>
        <p:spPr>
          <a:xfrm>
            <a:off x="3200400" y="4638675"/>
            <a:ext cx="400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025" b="1">
                <a:solidFill>
                  <a:srgbClr val="3D8DFF"/>
                </a:solidFill>
              </a:defRPr>
            </a:pPr>
            <a:r>
              <a:rPr sz="2025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30" name="demo-arch-node-1">
            <a:extLst>
              <a:ext uri="{FF2B5EF4-FFF2-40B4-BE49-F238E27FC236}">
                <a16:creationId xmlns:a16="http://schemas.microsoft.com/office/drawing/2014/main" id="{2237DFB8-FA2A-4769-8EF4-000FB7F7E71A}"/>
              </a:ext>
            </a:extLst>
          </p:cNvPr>
          <p:cNvSpPr>
            <a:spLocks noGrp="1"/>
          </p:cNvSpPr>
          <p:nvPr/>
        </p:nvSpPr>
        <p:spPr>
          <a:xfrm>
            <a:off x="3600450" y="4114800"/>
            <a:ext cx="2133600" cy="1428750"/>
          </a:xfrm>
          <a:prstGeom prst="rect">
            <a:avLst/>
          </a:prstGeom>
          <a:solidFill>
            <a:srgbClr val="EAF4FF"/>
          </a:solidFill>
          <a:ln w="0">
            <a:noFill/>
            <a:prstDash val="solid"/>
          </a:ln>
        </p:spPr>
      </p:sp>
      <p:sp>
        <p:nvSpPr>
          <p:cNvPr id="31" name="demo-arch-accent-1">
            <a:extLst>
              <a:ext uri="{FF2B5EF4-FFF2-40B4-BE49-F238E27FC236}">
                <a16:creationId xmlns:a16="http://schemas.microsoft.com/office/drawing/2014/main" id="{05930D85-F5F9-45C8-8190-A912C05E0FCD}"/>
              </a:ext>
            </a:extLst>
          </p:cNvPr>
          <p:cNvSpPr>
            <a:spLocks noGrp="1"/>
          </p:cNvSpPr>
          <p:nvPr/>
        </p:nvSpPr>
        <p:spPr>
          <a:xfrm>
            <a:off x="3600450" y="4114800"/>
            <a:ext cx="2133600" cy="57150"/>
          </a:xfrm>
          <a:prstGeom prst="rect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32" name="demo-arch-title-1">
            <a:extLst>
              <a:ext uri="{FF2B5EF4-FFF2-40B4-BE49-F238E27FC236}">
                <a16:creationId xmlns:a16="http://schemas.microsoft.com/office/drawing/2014/main" id="{28540538-351F-4CB3-BC36-AD7395118FFE}"/>
              </a:ext>
            </a:extLst>
          </p:cNvPr>
          <p:cNvSpPr>
            <a:spLocks noGrp="1"/>
          </p:cNvSpPr>
          <p:nvPr/>
        </p:nvSpPr>
        <p:spPr>
          <a:xfrm>
            <a:off x="3771900" y="4343400"/>
            <a:ext cx="1790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桌面桥接</a:t>
            </a:r>
          </a:p>
        </p:txBody>
      </p:sp>
      <p:sp>
        <p:nvSpPr>
          <p:cNvPr id="33" name="demo-arch-body-1">
            <a:extLst>
              <a:ext uri="{FF2B5EF4-FFF2-40B4-BE49-F238E27FC236}">
                <a16:creationId xmlns:a16="http://schemas.microsoft.com/office/drawing/2014/main" id="{2A930923-FF2F-44AF-8EE4-44A8C13DEAE2}"/>
              </a:ext>
            </a:extLst>
          </p:cNvPr>
          <p:cNvSpPr>
            <a:spLocks noGrp="1"/>
          </p:cNvSpPr>
          <p:nvPr/>
        </p:nvSpPr>
        <p:spPr>
          <a:xfrm>
            <a:off x="3752850" y="4743450"/>
            <a:ext cx="18288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0">
                <a:solidFill>
                  <a:srgbClr val="5B6573"/>
                </a:solidFill>
              </a:defRPr>
            </a:pPr>
            <a:r>
              <a:rPr sz="1125" b="0">
                <a:solidFill>
                  <a:srgbClr val="5B6573"/>
                </a:solidFill>
              </a:rPr>
              <a:t>Preload / IPC</a:t>
            </a:r>
          </a:p>
          <a:p>
            <a:pPr algn="ctr">
              <a:defRPr sz="1125" b="0">
                <a:solidFill>
                  <a:srgbClr val="5B6573"/>
                </a:solidFill>
              </a:defRPr>
            </a:pPr>
            <a:r>
              <a:rPr sz="1125" b="0">
                <a:solidFill>
                  <a:srgbClr val="5B6573"/>
                </a:solidFill>
              </a:rPr>
              <a:t>输入校验与安全边界</a:t>
            </a:r>
          </a:p>
        </p:txBody>
      </p:sp>
      <p:sp>
        <p:nvSpPr>
          <p:cNvPr id="34" name="demo-arch-arrow-1">
            <a:extLst>
              <a:ext uri="{FF2B5EF4-FFF2-40B4-BE49-F238E27FC236}">
                <a16:creationId xmlns:a16="http://schemas.microsoft.com/office/drawing/2014/main" id="{C09E721E-5D5F-4901-B7D7-42A958AE71B9}"/>
              </a:ext>
            </a:extLst>
          </p:cNvPr>
          <p:cNvSpPr>
            <a:spLocks noGrp="1"/>
          </p:cNvSpPr>
          <p:nvPr/>
        </p:nvSpPr>
        <p:spPr>
          <a:xfrm>
            <a:off x="5810250" y="4638675"/>
            <a:ext cx="400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025" b="1">
                <a:solidFill>
                  <a:srgbClr val="3D8DFF"/>
                </a:solidFill>
              </a:defRPr>
            </a:pPr>
            <a:r>
              <a:rPr sz="2025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35" name="demo-arch-node-2">
            <a:extLst>
              <a:ext uri="{FF2B5EF4-FFF2-40B4-BE49-F238E27FC236}">
                <a16:creationId xmlns:a16="http://schemas.microsoft.com/office/drawing/2014/main" id="{9FFF6FA2-A902-42E7-92B8-133AA10B1688}"/>
              </a:ext>
            </a:extLst>
          </p:cNvPr>
          <p:cNvSpPr>
            <a:spLocks noGrp="1"/>
          </p:cNvSpPr>
          <p:nvPr/>
        </p:nvSpPr>
        <p:spPr>
          <a:xfrm>
            <a:off x="6210300" y="4114800"/>
            <a:ext cx="2133600" cy="1428750"/>
          </a:xfrm>
          <a:prstGeom prst="rect">
            <a:avLst/>
          </a:prstGeom>
          <a:solidFill>
            <a:srgbClr val="D9ECFF"/>
          </a:solidFill>
          <a:ln w="0">
            <a:noFill/>
            <a:prstDash val="solid"/>
          </a:ln>
        </p:spPr>
      </p:sp>
      <p:sp>
        <p:nvSpPr>
          <p:cNvPr id="36" name="demo-arch-accent-2">
            <a:extLst>
              <a:ext uri="{FF2B5EF4-FFF2-40B4-BE49-F238E27FC236}">
                <a16:creationId xmlns:a16="http://schemas.microsoft.com/office/drawing/2014/main" id="{27EC9B6E-D814-4DB2-AF45-049B68826FA6}"/>
              </a:ext>
            </a:extLst>
          </p:cNvPr>
          <p:cNvSpPr>
            <a:spLocks noGrp="1"/>
          </p:cNvSpPr>
          <p:nvPr/>
        </p:nvSpPr>
        <p:spPr>
          <a:xfrm>
            <a:off x="6210300" y="4114800"/>
            <a:ext cx="2133600" cy="571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37" name="demo-arch-title-2">
            <a:extLst>
              <a:ext uri="{FF2B5EF4-FFF2-40B4-BE49-F238E27FC236}">
                <a16:creationId xmlns:a16="http://schemas.microsoft.com/office/drawing/2014/main" id="{02CC3CAD-1376-4D2D-98C5-F608E8E413E9}"/>
              </a:ext>
            </a:extLst>
          </p:cNvPr>
          <p:cNvSpPr>
            <a:spLocks noGrp="1"/>
          </p:cNvSpPr>
          <p:nvPr/>
        </p:nvSpPr>
        <p:spPr>
          <a:xfrm>
            <a:off x="6381750" y="4343400"/>
            <a:ext cx="1790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游戏内核</a:t>
            </a:r>
          </a:p>
        </p:txBody>
      </p:sp>
      <p:sp>
        <p:nvSpPr>
          <p:cNvPr id="38" name="demo-arch-body-2">
            <a:extLst>
              <a:ext uri="{FF2B5EF4-FFF2-40B4-BE49-F238E27FC236}">
                <a16:creationId xmlns:a16="http://schemas.microsoft.com/office/drawing/2014/main" id="{2B024EA2-CD51-46E9-B274-D2F91B875558}"/>
              </a:ext>
            </a:extLst>
          </p:cNvPr>
          <p:cNvSpPr>
            <a:spLocks noGrp="1"/>
          </p:cNvSpPr>
          <p:nvPr/>
        </p:nvSpPr>
        <p:spPr>
          <a:xfrm>
            <a:off x="6362700" y="4743450"/>
            <a:ext cx="18288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0">
                <a:solidFill>
                  <a:srgbClr val="5B6573"/>
                </a:solidFill>
              </a:defRPr>
            </a:pPr>
            <a:r>
              <a:rPr sz="1125" b="0">
                <a:solidFill>
                  <a:srgbClr val="5B6573"/>
                </a:solidFill>
              </a:rPr>
              <a:t>Router / Rules / RNG</a:t>
            </a:r>
          </a:p>
          <a:p>
            <a:pPr algn="ctr">
              <a:defRPr sz="1125" b="0">
                <a:solidFill>
                  <a:srgbClr val="5B6573"/>
                </a:solidFill>
              </a:defRPr>
            </a:pPr>
            <a:r>
              <a:rPr sz="1125" b="0">
                <a:solidFill>
                  <a:srgbClr val="5B6573"/>
                </a:solidFill>
              </a:rPr>
              <a:t>裁定、校验并提交事件</a:t>
            </a:r>
          </a:p>
        </p:txBody>
      </p:sp>
      <p:sp>
        <p:nvSpPr>
          <p:cNvPr id="39" name="demo-arch-arrow-2">
            <a:extLst>
              <a:ext uri="{FF2B5EF4-FFF2-40B4-BE49-F238E27FC236}">
                <a16:creationId xmlns:a16="http://schemas.microsoft.com/office/drawing/2014/main" id="{863EA76C-9D1F-4913-8C1A-0680E4769FFC}"/>
              </a:ext>
            </a:extLst>
          </p:cNvPr>
          <p:cNvSpPr>
            <a:spLocks noGrp="1"/>
          </p:cNvSpPr>
          <p:nvPr/>
        </p:nvSpPr>
        <p:spPr>
          <a:xfrm>
            <a:off x="8420100" y="4638675"/>
            <a:ext cx="400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025" b="1">
                <a:solidFill>
                  <a:srgbClr val="3D8DFF"/>
                </a:solidFill>
              </a:defRPr>
            </a:pPr>
            <a:r>
              <a:rPr sz="2025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40" name="demo-arch-node-3">
            <a:extLst>
              <a:ext uri="{FF2B5EF4-FFF2-40B4-BE49-F238E27FC236}">
                <a16:creationId xmlns:a16="http://schemas.microsoft.com/office/drawing/2014/main" id="{CBAF55FF-13F3-4F8C-B5AA-0F090CE804FE}"/>
              </a:ext>
            </a:extLst>
          </p:cNvPr>
          <p:cNvSpPr>
            <a:spLocks noGrp="1"/>
          </p:cNvSpPr>
          <p:nvPr/>
        </p:nvSpPr>
        <p:spPr>
          <a:xfrm>
            <a:off x="8820150" y="4114800"/>
            <a:ext cx="2381250" cy="1428750"/>
          </a:xfrm>
          <a:prstGeom prst="rect">
            <a:avLst/>
          </a:prstGeom>
          <a:solidFill>
            <a:srgbClr val="CBE3FF"/>
          </a:solidFill>
          <a:ln w="0">
            <a:noFill/>
            <a:prstDash val="solid"/>
          </a:ln>
        </p:spPr>
      </p:sp>
      <p:sp>
        <p:nvSpPr>
          <p:cNvPr id="41" name="demo-arch-accent-3">
            <a:extLst>
              <a:ext uri="{FF2B5EF4-FFF2-40B4-BE49-F238E27FC236}">
                <a16:creationId xmlns:a16="http://schemas.microsoft.com/office/drawing/2014/main" id="{C51A0C20-67BD-4868-A364-91FB3EEFCDEF}"/>
              </a:ext>
            </a:extLst>
          </p:cNvPr>
          <p:cNvSpPr>
            <a:spLocks noGrp="1"/>
          </p:cNvSpPr>
          <p:nvPr/>
        </p:nvSpPr>
        <p:spPr>
          <a:xfrm>
            <a:off x="8820150" y="4114800"/>
            <a:ext cx="2381250" cy="57150"/>
          </a:xfrm>
          <a:prstGeom prst="rect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42" name="demo-arch-title-3">
            <a:extLst>
              <a:ext uri="{FF2B5EF4-FFF2-40B4-BE49-F238E27FC236}">
                <a16:creationId xmlns:a16="http://schemas.microsoft.com/office/drawing/2014/main" id="{E053FBBE-2108-4E0F-91D9-29A7F64030BA}"/>
              </a:ext>
            </a:extLst>
          </p:cNvPr>
          <p:cNvSpPr>
            <a:spLocks noGrp="1"/>
          </p:cNvSpPr>
          <p:nvPr/>
        </p:nvSpPr>
        <p:spPr>
          <a:xfrm>
            <a:off x="8991600" y="4343400"/>
            <a:ext cx="2038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数据与模型</a:t>
            </a:r>
          </a:p>
        </p:txBody>
      </p:sp>
      <p:sp>
        <p:nvSpPr>
          <p:cNvPr id="43" name="demo-arch-body-3">
            <a:extLst>
              <a:ext uri="{FF2B5EF4-FFF2-40B4-BE49-F238E27FC236}">
                <a16:creationId xmlns:a16="http://schemas.microsoft.com/office/drawing/2014/main" id="{CFF088F7-A21F-45BB-8E46-18B7C06F27C1}"/>
              </a:ext>
            </a:extLst>
          </p:cNvPr>
          <p:cNvSpPr>
            <a:spLocks noGrp="1"/>
          </p:cNvSpPr>
          <p:nvPr/>
        </p:nvSpPr>
        <p:spPr>
          <a:xfrm>
            <a:off x="8972550" y="4743450"/>
            <a:ext cx="2076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0">
                <a:solidFill>
                  <a:srgbClr val="5B6573"/>
                </a:solidFill>
              </a:defRPr>
            </a:pPr>
            <a:r>
              <a:rPr sz="1125" b="0">
                <a:solidFill>
                  <a:srgbClr val="5B6573"/>
                </a:solidFill>
              </a:rPr>
              <a:t>SQLite 保存权威事实</a:t>
            </a:r>
          </a:p>
          <a:p>
            <a:pPr algn="ctr">
              <a:defRPr sz="1125" b="0">
                <a:solidFill>
                  <a:srgbClr val="5B6573"/>
                </a:solidFill>
              </a:defRPr>
            </a:pPr>
            <a:r>
              <a:rPr sz="1125" b="0">
                <a:solidFill>
                  <a:srgbClr val="5B6573"/>
                </a:solidFill>
              </a:rPr>
              <a:t>Keeper / Provider 生成叙事</a:t>
            </a:r>
          </a:p>
        </p:txBody>
      </p:sp>
      <p:sp>
        <p:nvSpPr>
          <p:cNvPr id="44" name="demo-arch-note">
            <a:extLst>
              <a:ext uri="{FF2B5EF4-FFF2-40B4-BE49-F238E27FC236}">
                <a16:creationId xmlns:a16="http://schemas.microsoft.com/office/drawing/2014/main" id="{645046A0-493F-4467-9621-79608C880754}"/>
              </a:ext>
            </a:extLst>
          </p:cNvPr>
          <p:cNvSpPr>
            <a:spLocks noGrp="1"/>
          </p:cNvSpPr>
          <p:nvPr/>
        </p:nvSpPr>
        <p:spPr>
          <a:xfrm>
            <a:off x="685800" y="5772150"/>
            <a:ext cx="1082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硬边界：先裁定并提交事实，再生成正式叙事</a:t>
            </a:r>
          </a:p>
        </p:txBody>
      </p:sp>
    </p:spTree>
    <p:extLst>
      <p:ext uri="{BB962C8B-B14F-4D97-AF65-F5344CB8AC3E}">
        <p14:creationId xmlns:p14="http://schemas.microsoft.com/office/powerpoint/2010/main" val="1065479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eyebrow-7">
            <a:extLst>
              <a:ext uri="{FF2B5EF4-FFF2-40B4-BE49-F238E27FC236}">
                <a16:creationId xmlns:a16="http://schemas.microsoft.com/office/drawing/2014/main" id="{42CB4704-8542-4F30-B17D-91B0F999F46C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571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06  技术难点</a:t>
            </a:r>
          </a:p>
        </p:txBody>
      </p:sp>
      <p:sp>
        <p:nvSpPr>
          <p:cNvPr id="2" name="title-7">
            <a:extLst>
              <a:ext uri="{FF2B5EF4-FFF2-40B4-BE49-F238E27FC236}">
                <a16:creationId xmlns:a16="http://schemas.microsoft.com/office/drawing/2014/main" id="{284A4668-352F-4A58-8272-C744DFD961CE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技术难点：多线程、多 AI 如何协同而不争夺事实权</a:t>
            </a:r>
          </a:p>
        </p:txBody>
      </p:sp>
      <p:sp>
        <p:nvSpPr>
          <p:cNvPr id="3" name="rule-7">
            <a:extLst>
              <a:ext uri="{FF2B5EF4-FFF2-40B4-BE49-F238E27FC236}">
                <a16:creationId xmlns:a16="http://schemas.microsoft.com/office/drawing/2014/main" id="{888236F4-2A48-47D4-892B-8380037F2179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page-7">
            <a:extLst>
              <a:ext uri="{FF2B5EF4-FFF2-40B4-BE49-F238E27FC236}">
                <a16:creationId xmlns:a16="http://schemas.microsoft.com/office/drawing/2014/main" id="{87CD546F-C6DC-42EA-B155-0FB22C36609F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07</a:t>
            </a:r>
          </a:p>
        </p:txBody>
      </p:sp>
      <p:sp>
        <p:nvSpPr>
          <p:cNvPr id="5" name="parallel-title">
            <a:extLst>
              <a:ext uri="{FF2B5EF4-FFF2-40B4-BE49-F238E27FC236}">
                <a16:creationId xmlns:a16="http://schemas.microsoft.com/office/drawing/2014/main" id="{72E8C43A-E015-4FCA-B2B2-BC4A1639DDBF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并发带来的问题</a:t>
            </a:r>
          </a:p>
        </p:txBody>
      </p:sp>
      <p:sp>
        <p:nvSpPr>
          <p:cNvPr id="6" name="parallel-risk-0">
            <a:extLst>
              <a:ext uri="{FF2B5EF4-FFF2-40B4-BE49-F238E27FC236}">
                <a16:creationId xmlns:a16="http://schemas.microsoft.com/office/drawing/2014/main" id="{DB1DE2C2-0C89-40D1-A825-D8B02A58C6A1}"/>
              </a:ext>
            </a:extLst>
          </p:cNvPr>
          <p:cNvSpPr>
            <a:spLocks noGrp="1"/>
          </p:cNvSpPr>
          <p:nvPr/>
        </p:nvSpPr>
        <p:spPr>
          <a:xfrm>
            <a:off x="685800" y="2305050"/>
            <a:ext cx="3333750" cy="91440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7" name="parallel-risk-accent-0">
            <a:extLst>
              <a:ext uri="{FF2B5EF4-FFF2-40B4-BE49-F238E27FC236}">
                <a16:creationId xmlns:a16="http://schemas.microsoft.com/office/drawing/2014/main" id="{F37F92E7-822D-4E2F-BB1B-955349595DE4}"/>
              </a:ext>
            </a:extLst>
          </p:cNvPr>
          <p:cNvSpPr>
            <a:spLocks noGrp="1"/>
          </p:cNvSpPr>
          <p:nvPr/>
        </p:nvSpPr>
        <p:spPr>
          <a:xfrm>
            <a:off x="685800" y="2305050"/>
            <a:ext cx="66675" cy="91440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8" name="parallel-risk-title-0">
            <a:extLst>
              <a:ext uri="{FF2B5EF4-FFF2-40B4-BE49-F238E27FC236}">
                <a16:creationId xmlns:a16="http://schemas.microsoft.com/office/drawing/2014/main" id="{67543EC6-C1CA-43D0-8906-C07C1B5D39A2}"/>
              </a:ext>
            </a:extLst>
          </p:cNvPr>
          <p:cNvSpPr>
            <a:spLocks noGrp="1"/>
          </p:cNvSpPr>
          <p:nvPr/>
        </p:nvSpPr>
        <p:spPr>
          <a:xfrm>
            <a:off x="990600" y="2438400"/>
            <a:ext cx="2800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上下文不同步</a:t>
            </a:r>
          </a:p>
        </p:txBody>
      </p:sp>
      <p:sp>
        <p:nvSpPr>
          <p:cNvPr id="9" name="parallel-risk-body-0">
            <a:extLst>
              <a:ext uri="{FF2B5EF4-FFF2-40B4-BE49-F238E27FC236}">
                <a16:creationId xmlns:a16="http://schemas.microsoft.com/office/drawing/2014/main" id="{DC2843CD-681F-49F1-8EAA-ABFC64DB6A04}"/>
              </a:ext>
            </a:extLst>
          </p:cNvPr>
          <p:cNvSpPr>
            <a:spLocks noGrp="1"/>
          </p:cNvSpPr>
          <p:nvPr/>
        </p:nvSpPr>
        <p:spPr>
          <a:xfrm>
            <a:off x="990600" y="2809875"/>
            <a:ext cx="2800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>
                <a:solidFill>
                  <a:srgbClr val="5B6573"/>
                </a:solidFill>
              </a:defRPr>
            </a:pPr>
            <a:r>
              <a:rPr sz="1050" b="0">
                <a:solidFill>
                  <a:srgbClr val="5B6573"/>
                </a:solidFill>
              </a:rPr>
              <a:t>后台任务读到旧状态，产生失效建议</a:t>
            </a:r>
          </a:p>
        </p:txBody>
      </p:sp>
      <p:sp>
        <p:nvSpPr>
          <p:cNvPr id="10" name="parallel-risk-1">
            <a:extLst>
              <a:ext uri="{FF2B5EF4-FFF2-40B4-BE49-F238E27FC236}">
                <a16:creationId xmlns:a16="http://schemas.microsoft.com/office/drawing/2014/main" id="{1227BB14-1A77-40DA-AC8A-D1212F6247B2}"/>
              </a:ext>
            </a:extLst>
          </p:cNvPr>
          <p:cNvSpPr>
            <a:spLocks noGrp="1"/>
          </p:cNvSpPr>
          <p:nvPr/>
        </p:nvSpPr>
        <p:spPr>
          <a:xfrm>
            <a:off x="685800" y="3333750"/>
            <a:ext cx="3333750" cy="91440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11" name="parallel-risk-accent-1">
            <a:extLst>
              <a:ext uri="{FF2B5EF4-FFF2-40B4-BE49-F238E27FC236}">
                <a16:creationId xmlns:a16="http://schemas.microsoft.com/office/drawing/2014/main" id="{62A353E2-1935-4BD7-B119-62B55A4A9CAB}"/>
              </a:ext>
            </a:extLst>
          </p:cNvPr>
          <p:cNvSpPr>
            <a:spLocks noGrp="1"/>
          </p:cNvSpPr>
          <p:nvPr/>
        </p:nvSpPr>
        <p:spPr>
          <a:xfrm>
            <a:off x="685800" y="3333750"/>
            <a:ext cx="66675" cy="914400"/>
          </a:xfrm>
          <a:prstGeom prst="rect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12" name="parallel-risk-title-1">
            <a:extLst>
              <a:ext uri="{FF2B5EF4-FFF2-40B4-BE49-F238E27FC236}">
                <a16:creationId xmlns:a16="http://schemas.microsoft.com/office/drawing/2014/main" id="{0EA471EF-C48F-4B74-84A1-AFE5DB1B9E2F}"/>
              </a:ext>
            </a:extLst>
          </p:cNvPr>
          <p:cNvSpPr>
            <a:spLocks noGrp="1"/>
          </p:cNvSpPr>
          <p:nvPr/>
        </p:nvSpPr>
        <p:spPr>
          <a:xfrm>
            <a:off x="990600" y="3467100"/>
            <a:ext cx="2800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职责容易重叠</a:t>
            </a:r>
          </a:p>
        </p:txBody>
      </p:sp>
      <p:sp>
        <p:nvSpPr>
          <p:cNvPr id="13" name="parallel-risk-body-1">
            <a:extLst>
              <a:ext uri="{FF2B5EF4-FFF2-40B4-BE49-F238E27FC236}">
                <a16:creationId xmlns:a16="http://schemas.microsoft.com/office/drawing/2014/main" id="{157D8250-7B77-4E7F-9EB3-B55C53EE8433}"/>
              </a:ext>
            </a:extLst>
          </p:cNvPr>
          <p:cNvSpPr>
            <a:spLocks noGrp="1"/>
          </p:cNvSpPr>
          <p:nvPr/>
        </p:nvSpPr>
        <p:spPr>
          <a:xfrm>
            <a:off x="990600" y="3838575"/>
            <a:ext cx="2800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>
                <a:solidFill>
                  <a:srgbClr val="5B6573"/>
                </a:solidFill>
              </a:defRPr>
            </a:pPr>
            <a:r>
              <a:rPr sz="1050" b="0">
                <a:solidFill>
                  <a:srgbClr val="5B6573"/>
                </a:solidFill>
              </a:rPr>
              <a:t>多个 AI 同时推进剧情，结果可能冲突</a:t>
            </a:r>
          </a:p>
        </p:txBody>
      </p:sp>
      <p:sp>
        <p:nvSpPr>
          <p:cNvPr id="14" name="parallel-risk-2">
            <a:extLst>
              <a:ext uri="{FF2B5EF4-FFF2-40B4-BE49-F238E27FC236}">
                <a16:creationId xmlns:a16="http://schemas.microsoft.com/office/drawing/2014/main" id="{A94208E7-DF6D-4661-B4B1-D69486CDC6B9}"/>
              </a:ext>
            </a:extLst>
          </p:cNvPr>
          <p:cNvSpPr>
            <a:spLocks noGrp="1"/>
          </p:cNvSpPr>
          <p:nvPr/>
        </p:nvSpPr>
        <p:spPr>
          <a:xfrm>
            <a:off x="685800" y="4362450"/>
            <a:ext cx="3333750" cy="91440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15" name="parallel-risk-accent-2">
            <a:extLst>
              <a:ext uri="{FF2B5EF4-FFF2-40B4-BE49-F238E27FC236}">
                <a16:creationId xmlns:a16="http://schemas.microsoft.com/office/drawing/2014/main" id="{0133E283-00DD-4C4C-840C-BBF14B75B5F1}"/>
              </a:ext>
            </a:extLst>
          </p:cNvPr>
          <p:cNvSpPr>
            <a:spLocks noGrp="1"/>
          </p:cNvSpPr>
          <p:nvPr/>
        </p:nvSpPr>
        <p:spPr>
          <a:xfrm>
            <a:off x="685800" y="4362450"/>
            <a:ext cx="66675" cy="9144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6" name="parallel-risk-title-2">
            <a:extLst>
              <a:ext uri="{FF2B5EF4-FFF2-40B4-BE49-F238E27FC236}">
                <a16:creationId xmlns:a16="http://schemas.microsoft.com/office/drawing/2014/main" id="{6EBC555E-2A08-4F88-8CD2-A1807391AD67}"/>
              </a:ext>
            </a:extLst>
          </p:cNvPr>
          <p:cNvSpPr>
            <a:spLocks noGrp="1"/>
          </p:cNvSpPr>
          <p:nvPr/>
        </p:nvSpPr>
        <p:spPr>
          <a:xfrm>
            <a:off x="990600" y="4495800"/>
            <a:ext cx="2800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失败可能扩散</a:t>
            </a:r>
          </a:p>
        </p:txBody>
      </p:sp>
      <p:sp>
        <p:nvSpPr>
          <p:cNvPr id="17" name="parallel-risk-body-2">
            <a:extLst>
              <a:ext uri="{FF2B5EF4-FFF2-40B4-BE49-F238E27FC236}">
                <a16:creationId xmlns:a16="http://schemas.microsoft.com/office/drawing/2014/main" id="{86EAF6EE-0EDC-45BF-98E5-AB5D8ED66DAF}"/>
              </a:ext>
            </a:extLst>
          </p:cNvPr>
          <p:cNvSpPr>
            <a:spLocks noGrp="1"/>
          </p:cNvSpPr>
          <p:nvPr/>
        </p:nvSpPr>
        <p:spPr>
          <a:xfrm>
            <a:off x="990600" y="4867275"/>
            <a:ext cx="2800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>
                <a:solidFill>
                  <a:srgbClr val="5B6573"/>
                </a:solidFill>
              </a:defRPr>
            </a:pPr>
            <a:r>
              <a:rPr sz="1050" b="0">
                <a:solidFill>
                  <a:srgbClr val="5B6573"/>
                </a:solidFill>
              </a:rPr>
              <a:t>模型超时或重试，不能阻塞或重复提交</a:t>
            </a:r>
          </a:p>
        </p:txBody>
      </p:sp>
      <p:sp>
        <p:nvSpPr>
          <p:cNvPr id="18" name="coord-title">
            <a:extLst>
              <a:ext uri="{FF2B5EF4-FFF2-40B4-BE49-F238E27FC236}">
                <a16:creationId xmlns:a16="http://schemas.microsoft.com/office/drawing/2014/main" id="{6DEDE58D-7DF4-4853-A5DB-A208BAEF7F06}"/>
              </a:ext>
            </a:extLst>
          </p:cNvPr>
          <p:cNvSpPr>
            <a:spLocks noGrp="1"/>
          </p:cNvSpPr>
          <p:nvPr/>
        </p:nvSpPr>
        <p:spPr>
          <a:xfrm>
            <a:off x="4648200" y="1809750"/>
            <a:ext cx="685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按职责拆分的协同架构</a:t>
            </a:r>
          </a:p>
        </p:txBody>
      </p:sp>
      <p:sp>
        <p:nvSpPr>
          <p:cNvPr id="19" name="ai-role-0">
            <a:extLst>
              <a:ext uri="{FF2B5EF4-FFF2-40B4-BE49-F238E27FC236}">
                <a16:creationId xmlns:a16="http://schemas.microsoft.com/office/drawing/2014/main" id="{49DC8D84-56F5-4E0D-9B33-7C0DCA12292B}"/>
              </a:ext>
            </a:extLst>
          </p:cNvPr>
          <p:cNvSpPr>
            <a:spLocks noGrp="1"/>
          </p:cNvSpPr>
          <p:nvPr/>
        </p:nvSpPr>
        <p:spPr>
          <a:xfrm>
            <a:off x="4648200" y="2305050"/>
            <a:ext cx="1524000" cy="78105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20" name="ai-role-accent-0">
            <a:extLst>
              <a:ext uri="{FF2B5EF4-FFF2-40B4-BE49-F238E27FC236}">
                <a16:creationId xmlns:a16="http://schemas.microsoft.com/office/drawing/2014/main" id="{B7D3ABC0-40B2-44AE-AE13-05BD7B8D574A}"/>
              </a:ext>
            </a:extLst>
          </p:cNvPr>
          <p:cNvSpPr>
            <a:spLocks noGrp="1"/>
          </p:cNvSpPr>
          <p:nvPr/>
        </p:nvSpPr>
        <p:spPr>
          <a:xfrm>
            <a:off x="4648200" y="2305050"/>
            <a:ext cx="1524000" cy="476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21" name="ai-role-name-0">
            <a:extLst>
              <a:ext uri="{FF2B5EF4-FFF2-40B4-BE49-F238E27FC236}">
                <a16:creationId xmlns:a16="http://schemas.microsoft.com/office/drawing/2014/main" id="{6259A504-0DF7-41DC-B88E-9DA152BF3552}"/>
              </a:ext>
            </a:extLst>
          </p:cNvPr>
          <p:cNvSpPr>
            <a:spLocks noGrp="1"/>
          </p:cNvSpPr>
          <p:nvPr/>
        </p:nvSpPr>
        <p:spPr>
          <a:xfrm>
            <a:off x="4724400" y="2457450"/>
            <a:ext cx="1371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1">
                <a:solidFill>
                  <a:srgbClr val="17324D"/>
                </a:solidFill>
              </a:defRPr>
            </a:pPr>
            <a:r>
              <a:rPr sz="1275" b="1">
                <a:solidFill>
                  <a:srgbClr val="17324D"/>
                </a:solidFill>
              </a:rPr>
              <a:t>GM AI</a:t>
            </a:r>
          </a:p>
        </p:txBody>
      </p:sp>
      <p:sp>
        <p:nvSpPr>
          <p:cNvPr id="22" name="ai-role-duty-0">
            <a:extLst>
              <a:ext uri="{FF2B5EF4-FFF2-40B4-BE49-F238E27FC236}">
                <a16:creationId xmlns:a16="http://schemas.microsoft.com/office/drawing/2014/main" id="{397F6ED1-AF9F-4EA5-90C0-54A3A49D19DD}"/>
              </a:ext>
            </a:extLst>
          </p:cNvPr>
          <p:cNvSpPr>
            <a:spLocks noGrp="1"/>
          </p:cNvSpPr>
          <p:nvPr/>
        </p:nvSpPr>
        <p:spPr>
          <a:xfrm>
            <a:off x="4724400" y="2743200"/>
            <a:ext cx="1371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050" b="0">
                <a:solidFill>
                  <a:srgbClr val="5B6573"/>
                </a:solidFill>
              </a:defRPr>
            </a:pPr>
            <a:r>
              <a:rPr sz="1050" b="0">
                <a:solidFill>
                  <a:srgbClr val="5B6573"/>
                </a:solidFill>
              </a:rPr>
              <a:t>前台主持</a:t>
            </a:r>
          </a:p>
        </p:txBody>
      </p:sp>
      <p:sp>
        <p:nvSpPr>
          <p:cNvPr id="23" name="ai-role-arrow-0">
            <a:extLst>
              <a:ext uri="{FF2B5EF4-FFF2-40B4-BE49-F238E27FC236}">
                <a16:creationId xmlns:a16="http://schemas.microsoft.com/office/drawing/2014/main" id="{5C3825F1-654B-4F3A-9680-4CF224737F1A}"/>
              </a:ext>
            </a:extLst>
          </p:cNvPr>
          <p:cNvSpPr>
            <a:spLocks noGrp="1"/>
          </p:cNvSpPr>
          <p:nvPr/>
        </p:nvSpPr>
        <p:spPr>
          <a:xfrm>
            <a:off x="5200650" y="312420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↓</a:t>
            </a:r>
          </a:p>
        </p:txBody>
      </p:sp>
      <p:sp>
        <p:nvSpPr>
          <p:cNvPr id="24" name="ai-role-1">
            <a:extLst>
              <a:ext uri="{FF2B5EF4-FFF2-40B4-BE49-F238E27FC236}">
                <a16:creationId xmlns:a16="http://schemas.microsoft.com/office/drawing/2014/main" id="{7B2413B3-CC38-44D8-9216-257040DE2F87}"/>
              </a:ext>
            </a:extLst>
          </p:cNvPr>
          <p:cNvSpPr>
            <a:spLocks noGrp="1"/>
          </p:cNvSpPr>
          <p:nvPr/>
        </p:nvSpPr>
        <p:spPr>
          <a:xfrm>
            <a:off x="6362700" y="2305050"/>
            <a:ext cx="1524000" cy="78105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25" name="ai-role-accent-1">
            <a:extLst>
              <a:ext uri="{FF2B5EF4-FFF2-40B4-BE49-F238E27FC236}">
                <a16:creationId xmlns:a16="http://schemas.microsoft.com/office/drawing/2014/main" id="{4E990458-7129-43DF-BA0C-7891A91AD50D}"/>
              </a:ext>
            </a:extLst>
          </p:cNvPr>
          <p:cNvSpPr>
            <a:spLocks noGrp="1"/>
          </p:cNvSpPr>
          <p:nvPr/>
        </p:nvSpPr>
        <p:spPr>
          <a:xfrm>
            <a:off x="6362700" y="2305050"/>
            <a:ext cx="1524000" cy="47625"/>
          </a:xfrm>
          <a:prstGeom prst="rect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26" name="ai-role-name-1">
            <a:extLst>
              <a:ext uri="{FF2B5EF4-FFF2-40B4-BE49-F238E27FC236}">
                <a16:creationId xmlns:a16="http://schemas.microsoft.com/office/drawing/2014/main" id="{486E817C-04D6-43D7-A4BB-B28192FFBE0C}"/>
              </a:ext>
            </a:extLst>
          </p:cNvPr>
          <p:cNvSpPr>
            <a:spLocks noGrp="1"/>
          </p:cNvSpPr>
          <p:nvPr/>
        </p:nvSpPr>
        <p:spPr>
          <a:xfrm>
            <a:off x="6438900" y="2457450"/>
            <a:ext cx="1371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1">
                <a:solidFill>
                  <a:srgbClr val="17324D"/>
                </a:solidFill>
              </a:defRPr>
            </a:pPr>
            <a:r>
              <a:rPr sz="1275" b="1">
                <a:solidFill>
                  <a:srgbClr val="17324D"/>
                </a:solidFill>
              </a:rPr>
              <a:t>Director AI</a:t>
            </a:r>
          </a:p>
        </p:txBody>
      </p:sp>
      <p:sp>
        <p:nvSpPr>
          <p:cNvPr id="27" name="ai-role-duty-1">
            <a:extLst>
              <a:ext uri="{FF2B5EF4-FFF2-40B4-BE49-F238E27FC236}">
                <a16:creationId xmlns:a16="http://schemas.microsoft.com/office/drawing/2014/main" id="{438C7535-4C85-4047-9054-7CC48A9128E1}"/>
              </a:ext>
            </a:extLst>
          </p:cNvPr>
          <p:cNvSpPr>
            <a:spLocks noGrp="1"/>
          </p:cNvSpPr>
          <p:nvPr/>
        </p:nvSpPr>
        <p:spPr>
          <a:xfrm>
            <a:off x="6438900" y="2743200"/>
            <a:ext cx="1371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050" b="0">
                <a:solidFill>
                  <a:srgbClr val="5B6573"/>
                </a:solidFill>
              </a:defRPr>
            </a:pPr>
            <a:r>
              <a:rPr sz="1050" b="0">
                <a:solidFill>
                  <a:srgbClr val="5B6573"/>
                </a:solidFill>
              </a:rPr>
              <a:t>剧情调度</a:t>
            </a:r>
          </a:p>
        </p:txBody>
      </p:sp>
      <p:sp>
        <p:nvSpPr>
          <p:cNvPr id="28" name="ai-role-arrow-1">
            <a:extLst>
              <a:ext uri="{FF2B5EF4-FFF2-40B4-BE49-F238E27FC236}">
                <a16:creationId xmlns:a16="http://schemas.microsoft.com/office/drawing/2014/main" id="{DC727589-F8C9-4AA3-A8C6-E85F1AE3741A}"/>
              </a:ext>
            </a:extLst>
          </p:cNvPr>
          <p:cNvSpPr>
            <a:spLocks noGrp="1"/>
          </p:cNvSpPr>
          <p:nvPr/>
        </p:nvSpPr>
        <p:spPr>
          <a:xfrm>
            <a:off x="6915150" y="312420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 b="1">
                <a:solidFill>
                  <a:srgbClr val="6DCBF4"/>
                </a:solidFill>
              </a:defRPr>
            </a:pPr>
            <a:r>
              <a:rPr sz="1650" b="1">
                <a:solidFill>
                  <a:srgbClr val="6DCBF4"/>
                </a:solidFill>
              </a:rPr>
              <a:t>↓</a:t>
            </a:r>
          </a:p>
        </p:txBody>
      </p:sp>
      <p:sp>
        <p:nvSpPr>
          <p:cNvPr id="29" name="ai-role-2">
            <a:extLst>
              <a:ext uri="{FF2B5EF4-FFF2-40B4-BE49-F238E27FC236}">
                <a16:creationId xmlns:a16="http://schemas.microsoft.com/office/drawing/2014/main" id="{3019CE3F-91C9-4CC0-A144-9FA761106878}"/>
              </a:ext>
            </a:extLst>
          </p:cNvPr>
          <p:cNvSpPr>
            <a:spLocks noGrp="1"/>
          </p:cNvSpPr>
          <p:nvPr/>
        </p:nvSpPr>
        <p:spPr>
          <a:xfrm>
            <a:off x="8077200" y="2305050"/>
            <a:ext cx="1524000" cy="78105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30" name="ai-role-accent-2">
            <a:extLst>
              <a:ext uri="{FF2B5EF4-FFF2-40B4-BE49-F238E27FC236}">
                <a16:creationId xmlns:a16="http://schemas.microsoft.com/office/drawing/2014/main" id="{0694B9A8-A767-4BC2-9FCB-6878A85D87A7}"/>
              </a:ext>
            </a:extLst>
          </p:cNvPr>
          <p:cNvSpPr>
            <a:spLocks noGrp="1"/>
          </p:cNvSpPr>
          <p:nvPr/>
        </p:nvSpPr>
        <p:spPr>
          <a:xfrm>
            <a:off x="8077200" y="2305050"/>
            <a:ext cx="1524000" cy="47625"/>
          </a:xfrm>
          <a:prstGeom prst="rect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31" name="ai-role-name-2">
            <a:extLst>
              <a:ext uri="{FF2B5EF4-FFF2-40B4-BE49-F238E27FC236}">
                <a16:creationId xmlns:a16="http://schemas.microsoft.com/office/drawing/2014/main" id="{6597EF86-4CF2-4C31-9A5E-0E7D0DE275E7}"/>
              </a:ext>
            </a:extLst>
          </p:cNvPr>
          <p:cNvSpPr>
            <a:spLocks noGrp="1"/>
          </p:cNvSpPr>
          <p:nvPr/>
        </p:nvSpPr>
        <p:spPr>
          <a:xfrm>
            <a:off x="8153400" y="2457450"/>
            <a:ext cx="1371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1">
                <a:solidFill>
                  <a:srgbClr val="17324D"/>
                </a:solidFill>
              </a:defRPr>
            </a:pPr>
            <a:r>
              <a:rPr sz="1275" b="1">
                <a:solidFill>
                  <a:srgbClr val="17324D"/>
                </a:solidFill>
              </a:rPr>
              <a:t>Information AI</a:t>
            </a:r>
          </a:p>
        </p:txBody>
      </p:sp>
      <p:sp>
        <p:nvSpPr>
          <p:cNvPr id="32" name="ai-role-duty-2">
            <a:extLst>
              <a:ext uri="{FF2B5EF4-FFF2-40B4-BE49-F238E27FC236}">
                <a16:creationId xmlns:a16="http://schemas.microsoft.com/office/drawing/2014/main" id="{5D470143-8509-4169-8A82-3A87E9F02886}"/>
              </a:ext>
            </a:extLst>
          </p:cNvPr>
          <p:cNvSpPr>
            <a:spLocks noGrp="1"/>
          </p:cNvSpPr>
          <p:nvPr/>
        </p:nvSpPr>
        <p:spPr>
          <a:xfrm>
            <a:off x="8153400" y="2743200"/>
            <a:ext cx="1371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050" b="0">
                <a:solidFill>
                  <a:srgbClr val="5B6573"/>
                </a:solidFill>
              </a:defRPr>
            </a:pPr>
            <a:r>
              <a:rPr sz="1050" b="0">
                <a:solidFill>
                  <a:srgbClr val="5B6573"/>
                </a:solidFill>
              </a:rPr>
              <a:t>上下文选择</a:t>
            </a:r>
          </a:p>
        </p:txBody>
      </p:sp>
      <p:sp>
        <p:nvSpPr>
          <p:cNvPr id="33" name="ai-role-arrow-2">
            <a:extLst>
              <a:ext uri="{FF2B5EF4-FFF2-40B4-BE49-F238E27FC236}">
                <a16:creationId xmlns:a16="http://schemas.microsoft.com/office/drawing/2014/main" id="{F8B7FA3B-BF03-4EB5-A1DF-D7D4A007280B}"/>
              </a:ext>
            </a:extLst>
          </p:cNvPr>
          <p:cNvSpPr>
            <a:spLocks noGrp="1"/>
          </p:cNvSpPr>
          <p:nvPr/>
        </p:nvSpPr>
        <p:spPr>
          <a:xfrm>
            <a:off x="8629650" y="312420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 b="1">
                <a:solidFill>
                  <a:srgbClr val="6DCBF4"/>
                </a:solidFill>
              </a:defRPr>
            </a:pPr>
            <a:r>
              <a:rPr sz="1650" b="1">
                <a:solidFill>
                  <a:srgbClr val="6DCBF4"/>
                </a:solidFill>
              </a:rPr>
              <a:t>↓</a:t>
            </a:r>
          </a:p>
        </p:txBody>
      </p:sp>
      <p:sp>
        <p:nvSpPr>
          <p:cNvPr id="34" name="ai-role-3">
            <a:extLst>
              <a:ext uri="{FF2B5EF4-FFF2-40B4-BE49-F238E27FC236}">
                <a16:creationId xmlns:a16="http://schemas.microsoft.com/office/drawing/2014/main" id="{3E209EB8-F406-4126-8734-95BB4E8BC2EB}"/>
              </a:ext>
            </a:extLst>
          </p:cNvPr>
          <p:cNvSpPr>
            <a:spLocks noGrp="1"/>
          </p:cNvSpPr>
          <p:nvPr/>
        </p:nvSpPr>
        <p:spPr>
          <a:xfrm>
            <a:off x="9791700" y="2305050"/>
            <a:ext cx="1524000" cy="78105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35" name="ai-role-accent-3">
            <a:extLst>
              <a:ext uri="{FF2B5EF4-FFF2-40B4-BE49-F238E27FC236}">
                <a16:creationId xmlns:a16="http://schemas.microsoft.com/office/drawing/2014/main" id="{F44F1041-1D42-4B93-8885-DF23672C23DC}"/>
              </a:ext>
            </a:extLst>
          </p:cNvPr>
          <p:cNvSpPr>
            <a:spLocks noGrp="1"/>
          </p:cNvSpPr>
          <p:nvPr/>
        </p:nvSpPr>
        <p:spPr>
          <a:xfrm>
            <a:off x="9791700" y="2305050"/>
            <a:ext cx="1524000" cy="476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36" name="ai-role-name-3">
            <a:extLst>
              <a:ext uri="{FF2B5EF4-FFF2-40B4-BE49-F238E27FC236}">
                <a16:creationId xmlns:a16="http://schemas.microsoft.com/office/drawing/2014/main" id="{272DE402-B926-4048-A877-35B02FEA1691}"/>
              </a:ext>
            </a:extLst>
          </p:cNvPr>
          <p:cNvSpPr>
            <a:spLocks noGrp="1"/>
          </p:cNvSpPr>
          <p:nvPr/>
        </p:nvSpPr>
        <p:spPr>
          <a:xfrm>
            <a:off x="9867900" y="2457450"/>
            <a:ext cx="1371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1">
                <a:solidFill>
                  <a:srgbClr val="17324D"/>
                </a:solidFill>
              </a:defRPr>
            </a:pPr>
            <a:r>
              <a:rPr sz="1275" b="1">
                <a:solidFill>
                  <a:srgbClr val="17324D"/>
                </a:solidFill>
              </a:rPr>
              <a:t>Memory AI</a:t>
            </a:r>
          </a:p>
        </p:txBody>
      </p:sp>
      <p:sp>
        <p:nvSpPr>
          <p:cNvPr id="37" name="ai-role-duty-3">
            <a:extLst>
              <a:ext uri="{FF2B5EF4-FFF2-40B4-BE49-F238E27FC236}">
                <a16:creationId xmlns:a16="http://schemas.microsoft.com/office/drawing/2014/main" id="{2A5DAACB-9137-4811-9ED2-8C1AD9E29B2E}"/>
              </a:ext>
            </a:extLst>
          </p:cNvPr>
          <p:cNvSpPr>
            <a:spLocks noGrp="1"/>
          </p:cNvSpPr>
          <p:nvPr/>
        </p:nvSpPr>
        <p:spPr>
          <a:xfrm>
            <a:off x="9867900" y="2743200"/>
            <a:ext cx="1371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050" b="0">
                <a:solidFill>
                  <a:srgbClr val="5B6573"/>
                </a:solidFill>
              </a:defRPr>
            </a:pPr>
            <a:r>
              <a:rPr sz="1050" b="0">
                <a:solidFill>
                  <a:srgbClr val="5B6573"/>
                </a:solidFill>
              </a:rPr>
              <a:t>长期整理</a:t>
            </a:r>
          </a:p>
        </p:txBody>
      </p:sp>
      <p:sp>
        <p:nvSpPr>
          <p:cNvPr id="38" name="ai-role-arrow-3">
            <a:extLst>
              <a:ext uri="{FF2B5EF4-FFF2-40B4-BE49-F238E27FC236}">
                <a16:creationId xmlns:a16="http://schemas.microsoft.com/office/drawing/2014/main" id="{45D337B6-AC74-4938-8644-5F24AFDBE300}"/>
              </a:ext>
            </a:extLst>
          </p:cNvPr>
          <p:cNvSpPr>
            <a:spLocks noGrp="1"/>
          </p:cNvSpPr>
          <p:nvPr/>
        </p:nvSpPr>
        <p:spPr>
          <a:xfrm>
            <a:off x="10344150" y="312420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↓</a:t>
            </a:r>
          </a:p>
        </p:txBody>
      </p:sp>
      <p:sp>
        <p:nvSpPr>
          <p:cNvPr id="39" name="context-runtime">
            <a:extLst>
              <a:ext uri="{FF2B5EF4-FFF2-40B4-BE49-F238E27FC236}">
                <a16:creationId xmlns:a16="http://schemas.microsoft.com/office/drawing/2014/main" id="{0E260AC8-86C7-4E52-BC47-1C623DD15943}"/>
              </a:ext>
            </a:extLst>
          </p:cNvPr>
          <p:cNvSpPr>
            <a:spLocks noGrp="1"/>
          </p:cNvSpPr>
          <p:nvPr/>
        </p:nvSpPr>
        <p:spPr>
          <a:xfrm>
            <a:off x="5143500" y="3448050"/>
            <a:ext cx="5676900" cy="647700"/>
          </a:xfrm>
          <a:prstGeom prst="rect">
            <a:avLst/>
          </a:prstGeom>
          <a:solidFill>
            <a:srgbClr val="EAF4FF"/>
          </a:solidFill>
          <a:ln w="0">
            <a:noFill/>
            <a:prstDash val="solid"/>
          </a:ln>
        </p:spPr>
      </p:sp>
      <p:sp>
        <p:nvSpPr>
          <p:cNvPr id="40" name="context-runtime-title">
            <a:extLst>
              <a:ext uri="{FF2B5EF4-FFF2-40B4-BE49-F238E27FC236}">
                <a16:creationId xmlns:a16="http://schemas.microsoft.com/office/drawing/2014/main" id="{FECEB55A-35E8-4F46-A24B-A7497A84A1FF}"/>
              </a:ext>
            </a:extLst>
          </p:cNvPr>
          <p:cNvSpPr>
            <a:spLocks noGrp="1"/>
          </p:cNvSpPr>
          <p:nvPr/>
        </p:nvSpPr>
        <p:spPr>
          <a:xfrm>
            <a:off x="5334000" y="3581400"/>
            <a:ext cx="5295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Context Broker + Application Runtime</a:t>
            </a:r>
          </a:p>
        </p:txBody>
      </p:sp>
      <p:sp>
        <p:nvSpPr>
          <p:cNvPr id="41" name="context-runtime-body">
            <a:extLst>
              <a:ext uri="{FF2B5EF4-FFF2-40B4-BE49-F238E27FC236}">
                <a16:creationId xmlns:a16="http://schemas.microsoft.com/office/drawing/2014/main" id="{900F1C8F-D205-4BFA-B819-FBCE11701242}"/>
              </a:ext>
            </a:extLst>
          </p:cNvPr>
          <p:cNvSpPr>
            <a:spLocks noGrp="1"/>
          </p:cNvSpPr>
          <p:nvPr/>
        </p:nvSpPr>
        <p:spPr>
          <a:xfrm>
            <a:off x="5334000" y="3848100"/>
            <a:ext cx="5295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050" b="0">
                <a:solidFill>
                  <a:srgbClr val="5B6573"/>
                </a:solidFill>
              </a:defRPr>
            </a:pPr>
            <a:r>
              <a:rPr sz="1050" b="0">
                <a:solidFill>
                  <a:srgbClr val="5B6573"/>
                </a:solidFill>
              </a:rPr>
              <a:t>事件驱动 · 版本化上下文 · 超时与降级</a:t>
            </a:r>
          </a:p>
        </p:txBody>
      </p:sp>
      <p:sp>
        <p:nvSpPr>
          <p:cNvPr id="42" name="runtime-arrow">
            <a:extLst>
              <a:ext uri="{FF2B5EF4-FFF2-40B4-BE49-F238E27FC236}">
                <a16:creationId xmlns:a16="http://schemas.microsoft.com/office/drawing/2014/main" id="{805A2926-2134-447D-A383-6E091977E82F}"/>
              </a:ext>
            </a:extLst>
          </p:cNvPr>
          <p:cNvSpPr>
            <a:spLocks noGrp="1"/>
          </p:cNvSpPr>
          <p:nvPr/>
        </p:nvSpPr>
        <p:spPr>
          <a:xfrm>
            <a:off x="7772400" y="41338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↓</a:t>
            </a:r>
          </a:p>
        </p:txBody>
      </p:sp>
      <p:sp>
        <p:nvSpPr>
          <p:cNvPr id="43" name="atomic-commit">
            <a:extLst>
              <a:ext uri="{FF2B5EF4-FFF2-40B4-BE49-F238E27FC236}">
                <a16:creationId xmlns:a16="http://schemas.microsoft.com/office/drawing/2014/main" id="{DB571E5A-CF22-4347-B1A7-9643F4739559}"/>
              </a:ext>
            </a:extLst>
          </p:cNvPr>
          <p:cNvSpPr>
            <a:spLocks noGrp="1"/>
          </p:cNvSpPr>
          <p:nvPr/>
        </p:nvSpPr>
        <p:spPr>
          <a:xfrm>
            <a:off x="5657850" y="4438650"/>
            <a:ext cx="4648200" cy="723900"/>
          </a:xfrm>
          <a:prstGeom prst="rect">
            <a:avLst/>
          </a:prstGeom>
          <a:solidFill>
            <a:srgbClr val="D9ECFF"/>
          </a:solidFill>
          <a:ln w="0">
            <a:noFill/>
            <a:prstDash val="solid"/>
          </a:ln>
        </p:spPr>
      </p:sp>
      <p:sp>
        <p:nvSpPr>
          <p:cNvPr id="44" name="atomic-title">
            <a:extLst>
              <a:ext uri="{FF2B5EF4-FFF2-40B4-BE49-F238E27FC236}">
                <a16:creationId xmlns:a16="http://schemas.microsoft.com/office/drawing/2014/main" id="{77088FD4-F232-4AEB-8059-357C1D9F729F}"/>
              </a:ext>
            </a:extLst>
          </p:cNvPr>
          <p:cNvSpPr>
            <a:spLocks noGrp="1"/>
          </p:cNvSpPr>
          <p:nvPr/>
        </p:nvSpPr>
        <p:spPr>
          <a:xfrm>
            <a:off x="5848350" y="4572000"/>
            <a:ext cx="426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Validator / Atomic Commit</a:t>
            </a:r>
          </a:p>
        </p:txBody>
      </p:sp>
      <p:sp>
        <p:nvSpPr>
          <p:cNvPr id="45" name="atomic-body">
            <a:extLst>
              <a:ext uri="{FF2B5EF4-FFF2-40B4-BE49-F238E27FC236}">
                <a16:creationId xmlns:a16="http://schemas.microsoft.com/office/drawing/2014/main" id="{9A4B1A88-7C5B-4D0B-B2EB-88DEF6F2B6CF}"/>
              </a:ext>
            </a:extLst>
          </p:cNvPr>
          <p:cNvSpPr>
            <a:spLocks noGrp="1"/>
          </p:cNvSpPr>
          <p:nvPr/>
        </p:nvSpPr>
        <p:spPr>
          <a:xfrm>
            <a:off x="5848350" y="4857750"/>
            <a:ext cx="426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050" b="0">
                <a:solidFill>
                  <a:srgbClr val="5B6573"/>
                </a:solidFill>
              </a:defRPr>
            </a:pPr>
            <a:r>
              <a:rPr sz="1050" b="0">
                <a:solidFill>
                  <a:srgbClr val="5B6573"/>
                </a:solidFill>
              </a:rPr>
              <a:t>只有程序能够提交 SQLite 权威状态与不可变事件</a:t>
            </a:r>
          </a:p>
        </p:txBody>
      </p:sp>
      <p:sp>
        <p:nvSpPr>
          <p:cNvPr id="46" name="challenge-result">
            <a:extLst>
              <a:ext uri="{FF2B5EF4-FFF2-40B4-BE49-F238E27FC236}">
                <a16:creationId xmlns:a16="http://schemas.microsoft.com/office/drawing/2014/main" id="{BB0997C4-764B-4C85-BB8A-D688952AF9BF}"/>
              </a:ext>
            </a:extLst>
          </p:cNvPr>
          <p:cNvSpPr>
            <a:spLocks noGrp="1"/>
          </p:cNvSpPr>
          <p:nvPr/>
        </p:nvSpPr>
        <p:spPr>
          <a:xfrm>
            <a:off x="685800" y="5695950"/>
            <a:ext cx="10820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多 AI 可以并行思考，但事实只允许按版本串行提交。</a:t>
            </a:r>
          </a:p>
        </p:txBody>
      </p:sp>
    </p:spTree>
    <p:extLst>
      <p:ext uri="{BB962C8B-B14F-4D97-AF65-F5344CB8AC3E}">
        <p14:creationId xmlns:p14="http://schemas.microsoft.com/office/powerpoint/2010/main" val="377438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yebrow-8">
            <a:extLst>
              <a:ext uri="{FF2B5EF4-FFF2-40B4-BE49-F238E27FC236}">
                <a16:creationId xmlns:a16="http://schemas.microsoft.com/office/drawing/2014/main" id="{F371152E-6221-47A4-88E8-796F33D8015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571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07  个人实践与实习收获</a:t>
            </a:r>
          </a:p>
        </p:txBody>
      </p:sp>
      <p:sp>
        <p:nvSpPr>
          <p:cNvPr id="2" name="title-8">
            <a:extLst>
              <a:ext uri="{FF2B5EF4-FFF2-40B4-BE49-F238E27FC236}">
                <a16:creationId xmlns:a16="http://schemas.microsoft.com/office/drawing/2014/main" id="{75CA80A7-1FC9-4F1B-9408-64DE923B57EF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独立完成产品，也重新认识了 AI 的工程边界</a:t>
            </a:r>
          </a:p>
        </p:txBody>
      </p:sp>
      <p:sp>
        <p:nvSpPr>
          <p:cNvPr id="3" name="rule-8">
            <a:extLst>
              <a:ext uri="{FF2B5EF4-FFF2-40B4-BE49-F238E27FC236}">
                <a16:creationId xmlns:a16="http://schemas.microsoft.com/office/drawing/2014/main" id="{594BD06B-1936-47C1-B19C-28ECBF0BBFC5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page-8">
            <a:extLst>
              <a:ext uri="{FF2B5EF4-FFF2-40B4-BE49-F238E27FC236}">
                <a16:creationId xmlns:a16="http://schemas.microsoft.com/office/drawing/2014/main" id="{BE2C809F-95D6-40A5-890D-BAB016699038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08</a:t>
            </a:r>
          </a:p>
        </p:txBody>
      </p:sp>
      <p:sp>
        <p:nvSpPr>
          <p:cNvPr id="5" name="work-title">
            <a:extLst>
              <a:ext uri="{FF2B5EF4-FFF2-40B4-BE49-F238E27FC236}">
                <a16:creationId xmlns:a16="http://schemas.microsoft.com/office/drawing/2014/main" id="{05FD6F5D-51B7-4DBC-B888-E4EAE2A84B0F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438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17324D"/>
                </a:solidFill>
              </a:defRPr>
            </a:pPr>
            <a:r>
              <a:rPr sz="1725" b="1">
                <a:solidFill>
                  <a:srgbClr val="17324D"/>
                </a:solidFill>
              </a:rPr>
              <a:t>个人完成的工作</a:t>
            </a:r>
          </a:p>
        </p:txBody>
      </p:sp>
      <p:sp>
        <p:nvSpPr>
          <p:cNvPr id="6" name="work-panel">
            <a:extLst>
              <a:ext uri="{FF2B5EF4-FFF2-40B4-BE49-F238E27FC236}">
                <a16:creationId xmlns:a16="http://schemas.microsoft.com/office/drawing/2014/main" id="{4EDAFC61-9A6D-4AFE-8A31-E4697FB9A942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4762500" cy="314325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7" name="bullet-dot-280-0">
            <a:extLst>
              <a:ext uri="{FF2B5EF4-FFF2-40B4-BE49-F238E27FC236}">
                <a16:creationId xmlns:a16="http://schemas.microsoft.com/office/drawing/2014/main" id="{CB428530-D3D6-40A4-B89D-3E81CE6891A1}"/>
              </a:ext>
            </a:extLst>
          </p:cNvPr>
          <p:cNvSpPr>
            <a:spLocks noGrp="1"/>
          </p:cNvSpPr>
          <p:nvPr/>
        </p:nvSpPr>
        <p:spPr>
          <a:xfrm>
            <a:off x="990600" y="2752725"/>
            <a:ext cx="114300" cy="11430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8" name="bullet-280-0">
            <a:extLst>
              <a:ext uri="{FF2B5EF4-FFF2-40B4-BE49-F238E27FC236}">
                <a16:creationId xmlns:a16="http://schemas.microsoft.com/office/drawing/2014/main" id="{9F7C10A7-F166-45C4-BF90-586DEA6063C6}"/>
              </a:ext>
            </a:extLst>
          </p:cNvPr>
          <p:cNvSpPr>
            <a:spLocks noGrp="1"/>
          </p:cNvSpPr>
          <p:nvPr/>
        </p:nvSpPr>
        <p:spPr>
          <a:xfrm>
            <a:off x="1257300" y="2667000"/>
            <a:ext cx="38862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完成产品定位、架构设计与功能拆解</a:t>
            </a:r>
          </a:p>
        </p:txBody>
      </p:sp>
      <p:sp>
        <p:nvSpPr>
          <p:cNvPr id="9" name="bullet-dot-280-1">
            <a:extLst>
              <a:ext uri="{FF2B5EF4-FFF2-40B4-BE49-F238E27FC236}">
                <a16:creationId xmlns:a16="http://schemas.microsoft.com/office/drawing/2014/main" id="{531F4266-64C4-4F5A-BF68-355C96D26F47}"/>
              </a:ext>
            </a:extLst>
          </p:cNvPr>
          <p:cNvSpPr>
            <a:spLocks noGrp="1"/>
          </p:cNvSpPr>
          <p:nvPr/>
        </p:nvSpPr>
        <p:spPr>
          <a:xfrm>
            <a:off x="990600" y="3381375"/>
            <a:ext cx="114300" cy="114300"/>
          </a:xfrm>
          <a:prstGeom prst="ellipse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10" name="bullet-280-1">
            <a:extLst>
              <a:ext uri="{FF2B5EF4-FFF2-40B4-BE49-F238E27FC236}">
                <a16:creationId xmlns:a16="http://schemas.microsoft.com/office/drawing/2014/main" id="{FE7CDB97-9308-44BD-A192-7E30A70B8440}"/>
              </a:ext>
            </a:extLst>
          </p:cNvPr>
          <p:cNvSpPr>
            <a:spLocks noGrp="1"/>
          </p:cNvSpPr>
          <p:nvPr/>
        </p:nvSpPr>
        <p:spPr>
          <a:xfrm>
            <a:off x="1257300" y="3295650"/>
            <a:ext cx="38862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实现桌面界面、游戏内核与本地数据层</a:t>
            </a:r>
          </a:p>
        </p:txBody>
      </p:sp>
      <p:sp>
        <p:nvSpPr>
          <p:cNvPr id="11" name="bullet-dot-280-2">
            <a:extLst>
              <a:ext uri="{FF2B5EF4-FFF2-40B4-BE49-F238E27FC236}">
                <a16:creationId xmlns:a16="http://schemas.microsoft.com/office/drawing/2014/main" id="{4A9828A7-29E1-4BA7-B1EA-BA7F01E1DE26}"/>
              </a:ext>
            </a:extLst>
          </p:cNvPr>
          <p:cNvSpPr>
            <a:spLocks noGrp="1"/>
          </p:cNvSpPr>
          <p:nvPr/>
        </p:nvSpPr>
        <p:spPr>
          <a:xfrm>
            <a:off x="990600" y="4010025"/>
            <a:ext cx="114300" cy="114300"/>
          </a:xfrm>
          <a:prstGeom prst="ellipse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12" name="bullet-280-2">
            <a:extLst>
              <a:ext uri="{FF2B5EF4-FFF2-40B4-BE49-F238E27FC236}">
                <a16:creationId xmlns:a16="http://schemas.microsoft.com/office/drawing/2014/main" id="{7DEC2A8D-FB0E-410E-882D-D9377F9A168B}"/>
              </a:ext>
            </a:extLst>
          </p:cNvPr>
          <p:cNvSpPr>
            <a:spLocks noGrp="1"/>
          </p:cNvSpPr>
          <p:nvPr/>
        </p:nvSpPr>
        <p:spPr>
          <a:xfrm>
            <a:off x="1257300" y="3924300"/>
            <a:ext cx="38862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接入模型、内容包、检查点与演示流程</a:t>
            </a:r>
          </a:p>
        </p:txBody>
      </p:sp>
      <p:sp>
        <p:nvSpPr>
          <p:cNvPr id="13" name="bullet-dot-280-3">
            <a:extLst>
              <a:ext uri="{FF2B5EF4-FFF2-40B4-BE49-F238E27FC236}">
                <a16:creationId xmlns:a16="http://schemas.microsoft.com/office/drawing/2014/main" id="{25F0B16D-6AC0-4781-8149-41AE132C82FC}"/>
              </a:ext>
            </a:extLst>
          </p:cNvPr>
          <p:cNvSpPr>
            <a:spLocks noGrp="1"/>
          </p:cNvSpPr>
          <p:nvPr/>
        </p:nvSpPr>
        <p:spPr>
          <a:xfrm>
            <a:off x="990600" y="4638675"/>
            <a:ext cx="114300" cy="114300"/>
          </a:xfrm>
          <a:prstGeom prst="ellipse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14" name="bullet-280-3">
            <a:extLst>
              <a:ext uri="{FF2B5EF4-FFF2-40B4-BE49-F238E27FC236}">
                <a16:creationId xmlns:a16="http://schemas.microsoft.com/office/drawing/2014/main" id="{81CDAA2D-854E-46A4-B9CD-5CC880B65BAE}"/>
              </a:ext>
            </a:extLst>
          </p:cNvPr>
          <p:cNvSpPr>
            <a:spLocks noGrp="1"/>
          </p:cNvSpPr>
          <p:nvPr/>
        </p:nvSpPr>
        <p:spPr>
          <a:xfrm>
            <a:off x="1257300" y="4552950"/>
            <a:ext cx="38862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通过测试与复盘持续修正产品体验</a:t>
            </a:r>
          </a:p>
        </p:txBody>
      </p:sp>
      <p:sp>
        <p:nvSpPr>
          <p:cNvPr id="15" name="learn-title">
            <a:extLst>
              <a:ext uri="{FF2B5EF4-FFF2-40B4-BE49-F238E27FC236}">
                <a16:creationId xmlns:a16="http://schemas.microsoft.com/office/drawing/2014/main" id="{03B68E44-2507-401F-9BA8-509DABE3AD1D}"/>
              </a:ext>
            </a:extLst>
          </p:cNvPr>
          <p:cNvSpPr>
            <a:spLocks noGrp="1"/>
          </p:cNvSpPr>
          <p:nvPr/>
        </p:nvSpPr>
        <p:spPr>
          <a:xfrm>
            <a:off x="6419850" y="1809750"/>
            <a:ext cx="438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17324D"/>
                </a:solidFill>
              </a:defRPr>
            </a:pPr>
            <a:r>
              <a:rPr sz="1725" b="1">
                <a:solidFill>
                  <a:srgbClr val="17324D"/>
                </a:solidFill>
              </a:rPr>
              <a:t>对 AI 的核心认知</a:t>
            </a:r>
          </a:p>
        </p:txBody>
      </p:sp>
      <p:sp>
        <p:nvSpPr>
          <p:cNvPr id="16" name="learn-panel">
            <a:extLst>
              <a:ext uri="{FF2B5EF4-FFF2-40B4-BE49-F238E27FC236}">
                <a16:creationId xmlns:a16="http://schemas.microsoft.com/office/drawing/2014/main" id="{10410C89-5739-44E0-964C-ED266162510E}"/>
              </a:ext>
            </a:extLst>
          </p:cNvPr>
          <p:cNvSpPr>
            <a:spLocks noGrp="1"/>
          </p:cNvSpPr>
          <p:nvPr/>
        </p:nvSpPr>
        <p:spPr>
          <a:xfrm>
            <a:off x="6419850" y="2324100"/>
            <a:ext cx="5086350" cy="3143250"/>
          </a:xfrm>
          <a:prstGeom prst="rect">
            <a:avLst/>
          </a:prstGeom>
          <a:solidFill>
            <a:srgbClr val="EAF4FF"/>
          </a:solidFill>
          <a:ln w="0">
            <a:noFill/>
            <a:prstDash val="solid"/>
          </a:ln>
        </p:spPr>
      </p:sp>
      <p:sp>
        <p:nvSpPr>
          <p:cNvPr id="17" name="bullet-dot-272-0">
            <a:extLst>
              <a:ext uri="{FF2B5EF4-FFF2-40B4-BE49-F238E27FC236}">
                <a16:creationId xmlns:a16="http://schemas.microsoft.com/office/drawing/2014/main" id="{E26975AD-2B62-4800-BC99-345576ED9B5F}"/>
              </a:ext>
            </a:extLst>
          </p:cNvPr>
          <p:cNvSpPr>
            <a:spLocks noGrp="1"/>
          </p:cNvSpPr>
          <p:nvPr/>
        </p:nvSpPr>
        <p:spPr>
          <a:xfrm>
            <a:off x="6724650" y="2676525"/>
            <a:ext cx="114300" cy="11430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8" name="bullet-272-0">
            <a:extLst>
              <a:ext uri="{FF2B5EF4-FFF2-40B4-BE49-F238E27FC236}">
                <a16:creationId xmlns:a16="http://schemas.microsoft.com/office/drawing/2014/main" id="{4CA21A40-8E2D-41CE-BDE5-DD5FD7D6FBAE}"/>
              </a:ext>
            </a:extLst>
          </p:cNvPr>
          <p:cNvSpPr>
            <a:spLocks noGrp="1"/>
          </p:cNvSpPr>
          <p:nvPr/>
        </p:nvSpPr>
        <p:spPr>
          <a:xfrm>
            <a:off x="6991350" y="2590800"/>
            <a:ext cx="41719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101820"/>
                </a:solidFill>
              </a:defRPr>
            </a:pPr>
            <a:r>
              <a:rPr sz="1350" b="0">
                <a:solidFill>
                  <a:srgbClr val="101820"/>
                </a:solidFill>
              </a:rPr>
              <a:t>模型能力不等于产品可靠性，关键事实要由程序约束</a:t>
            </a:r>
          </a:p>
        </p:txBody>
      </p:sp>
      <p:sp>
        <p:nvSpPr>
          <p:cNvPr id="19" name="bullet-dot-272-1">
            <a:extLst>
              <a:ext uri="{FF2B5EF4-FFF2-40B4-BE49-F238E27FC236}">
                <a16:creationId xmlns:a16="http://schemas.microsoft.com/office/drawing/2014/main" id="{51A3598E-921A-48E1-9FBA-DC9A8FBA726E}"/>
              </a:ext>
            </a:extLst>
          </p:cNvPr>
          <p:cNvSpPr>
            <a:spLocks noGrp="1"/>
          </p:cNvSpPr>
          <p:nvPr/>
        </p:nvSpPr>
        <p:spPr>
          <a:xfrm>
            <a:off x="6724650" y="3333750"/>
            <a:ext cx="114300" cy="114300"/>
          </a:xfrm>
          <a:prstGeom prst="ellipse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20" name="bullet-272-1">
            <a:extLst>
              <a:ext uri="{FF2B5EF4-FFF2-40B4-BE49-F238E27FC236}">
                <a16:creationId xmlns:a16="http://schemas.microsoft.com/office/drawing/2014/main" id="{C09383FD-96AD-4D40-B376-EB94265B4C75}"/>
              </a:ext>
            </a:extLst>
          </p:cNvPr>
          <p:cNvSpPr>
            <a:spLocks noGrp="1"/>
          </p:cNvSpPr>
          <p:nvPr/>
        </p:nvSpPr>
        <p:spPr>
          <a:xfrm>
            <a:off x="6991350" y="3248025"/>
            <a:ext cx="41719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101820"/>
                </a:solidFill>
              </a:defRPr>
            </a:pPr>
            <a:r>
              <a:rPr sz="1350" b="0">
                <a:solidFill>
                  <a:srgbClr val="101820"/>
                </a:solidFill>
              </a:rPr>
              <a:t>本地模型需要按任务做参数、提示词与上下文调优</a:t>
            </a:r>
          </a:p>
        </p:txBody>
      </p:sp>
      <p:sp>
        <p:nvSpPr>
          <p:cNvPr id="21" name="bullet-dot-272-2">
            <a:extLst>
              <a:ext uri="{FF2B5EF4-FFF2-40B4-BE49-F238E27FC236}">
                <a16:creationId xmlns:a16="http://schemas.microsoft.com/office/drawing/2014/main" id="{997515D8-35F4-40BB-9732-59EC7C8D9F6E}"/>
              </a:ext>
            </a:extLst>
          </p:cNvPr>
          <p:cNvSpPr>
            <a:spLocks noGrp="1"/>
          </p:cNvSpPr>
          <p:nvPr/>
        </p:nvSpPr>
        <p:spPr>
          <a:xfrm>
            <a:off x="6724650" y="3990975"/>
            <a:ext cx="114300" cy="114300"/>
          </a:xfrm>
          <a:prstGeom prst="ellipse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22" name="bullet-272-2">
            <a:extLst>
              <a:ext uri="{FF2B5EF4-FFF2-40B4-BE49-F238E27FC236}">
                <a16:creationId xmlns:a16="http://schemas.microsoft.com/office/drawing/2014/main" id="{79C9BFDD-EF42-4BA8-9212-B899CF559F5B}"/>
              </a:ext>
            </a:extLst>
          </p:cNvPr>
          <p:cNvSpPr>
            <a:spLocks noGrp="1"/>
          </p:cNvSpPr>
          <p:nvPr/>
        </p:nvSpPr>
        <p:spPr>
          <a:xfrm>
            <a:off x="6991350" y="3905250"/>
            <a:ext cx="41719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101820"/>
                </a:solidFill>
              </a:defRPr>
            </a:pPr>
            <a:r>
              <a:rPr sz="1350" b="0">
                <a:solidFill>
                  <a:srgbClr val="101820"/>
                </a:solidFill>
              </a:rPr>
              <a:t>针对性适配比盲目追求大模型规模更重要</a:t>
            </a:r>
          </a:p>
        </p:txBody>
      </p:sp>
      <p:sp>
        <p:nvSpPr>
          <p:cNvPr id="23" name="bullet-dot-272-3">
            <a:extLst>
              <a:ext uri="{FF2B5EF4-FFF2-40B4-BE49-F238E27FC236}">
                <a16:creationId xmlns:a16="http://schemas.microsoft.com/office/drawing/2014/main" id="{4321B900-BF1A-4106-A846-1CDF495805E1}"/>
              </a:ext>
            </a:extLst>
          </p:cNvPr>
          <p:cNvSpPr>
            <a:spLocks noGrp="1"/>
          </p:cNvSpPr>
          <p:nvPr/>
        </p:nvSpPr>
        <p:spPr>
          <a:xfrm>
            <a:off x="6724650" y="4648200"/>
            <a:ext cx="114300" cy="114300"/>
          </a:xfrm>
          <a:prstGeom prst="ellipse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24" name="bullet-272-3">
            <a:extLst>
              <a:ext uri="{FF2B5EF4-FFF2-40B4-BE49-F238E27FC236}">
                <a16:creationId xmlns:a16="http://schemas.microsoft.com/office/drawing/2014/main" id="{F3462A49-71B6-48AE-8028-B242AD10557A}"/>
              </a:ext>
            </a:extLst>
          </p:cNvPr>
          <p:cNvSpPr>
            <a:spLocks noGrp="1"/>
          </p:cNvSpPr>
          <p:nvPr/>
        </p:nvSpPr>
        <p:spPr>
          <a:xfrm>
            <a:off x="6991350" y="4562475"/>
            <a:ext cx="41719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101820"/>
                </a:solidFill>
              </a:defRPr>
            </a:pPr>
            <a:r>
              <a:rPr sz="1350" b="0">
                <a:solidFill>
                  <a:srgbClr val="101820"/>
                </a:solidFill>
              </a:rPr>
              <a:t>结构化输出、评测和失败降级决定实际可用性</a:t>
            </a:r>
          </a:p>
        </p:txBody>
      </p:sp>
      <p:sp>
        <p:nvSpPr>
          <p:cNvPr id="25" name="learn-note">
            <a:extLst>
              <a:ext uri="{FF2B5EF4-FFF2-40B4-BE49-F238E27FC236}">
                <a16:creationId xmlns:a16="http://schemas.microsoft.com/office/drawing/2014/main" id="{43D1AF53-3FE6-43E7-801F-BCEE8A17768A}"/>
              </a:ext>
            </a:extLst>
          </p:cNvPr>
          <p:cNvSpPr>
            <a:spLocks noGrp="1"/>
          </p:cNvSpPr>
          <p:nvPr/>
        </p:nvSpPr>
        <p:spPr>
          <a:xfrm>
            <a:off x="685800" y="5829300"/>
            <a:ext cx="10820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最大的收获：从“会调用 AI”，走向“能让 AI 在明确边界内稳定完成任务”。</a:t>
            </a:r>
          </a:p>
        </p:txBody>
      </p:sp>
    </p:spTree>
    <p:extLst>
      <p:ext uri="{BB962C8B-B14F-4D97-AF65-F5344CB8AC3E}">
        <p14:creationId xmlns:p14="http://schemas.microsoft.com/office/powerpoint/2010/main" val="1407234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eyebrow-9">
            <a:extLst>
              <a:ext uri="{FF2B5EF4-FFF2-40B4-BE49-F238E27FC236}">
                <a16:creationId xmlns:a16="http://schemas.microsoft.com/office/drawing/2014/main" id="{01086C98-C391-47A6-94EE-E89E91C6B454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571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08  版本演进</a:t>
            </a:r>
          </a:p>
        </p:txBody>
      </p:sp>
      <p:sp>
        <p:nvSpPr>
          <p:cNvPr id="2" name="title-9">
            <a:extLst>
              <a:ext uri="{FF2B5EF4-FFF2-40B4-BE49-F238E27FC236}">
                <a16:creationId xmlns:a16="http://schemas.microsoft.com/office/drawing/2014/main" id="{93A2CFC7-B613-4CE0-B465-B0CB1A9AD0CA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从可分发的 V0.1，走向完整的 V1.0</a:t>
            </a:r>
          </a:p>
        </p:txBody>
      </p:sp>
      <p:sp>
        <p:nvSpPr>
          <p:cNvPr id="3" name="rule-9">
            <a:extLst>
              <a:ext uri="{FF2B5EF4-FFF2-40B4-BE49-F238E27FC236}">
                <a16:creationId xmlns:a16="http://schemas.microsoft.com/office/drawing/2014/main" id="{5A5016B4-AE5D-44ED-8A23-FD7D79EBE172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page-9">
            <a:extLst>
              <a:ext uri="{FF2B5EF4-FFF2-40B4-BE49-F238E27FC236}">
                <a16:creationId xmlns:a16="http://schemas.microsoft.com/office/drawing/2014/main" id="{C5F2EB58-818C-4DA7-81D8-172802B9E98F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09</a:t>
            </a:r>
          </a:p>
        </p:txBody>
      </p:sp>
      <p:sp>
        <p:nvSpPr>
          <p:cNvPr id="5" name="v01-label">
            <a:extLst>
              <a:ext uri="{FF2B5EF4-FFF2-40B4-BE49-F238E27FC236}">
                <a16:creationId xmlns:a16="http://schemas.microsoft.com/office/drawing/2014/main" id="{F43DFBCC-B3B8-437D-8E70-CD62326D4C23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V0.1  ·  已经完成</a:t>
            </a:r>
          </a:p>
        </p:txBody>
      </p:sp>
      <p:sp>
        <p:nvSpPr>
          <p:cNvPr id="6" name="v01-panel">
            <a:extLst>
              <a:ext uri="{FF2B5EF4-FFF2-40B4-BE49-F238E27FC236}">
                <a16:creationId xmlns:a16="http://schemas.microsoft.com/office/drawing/2014/main" id="{B310BE06-270F-408C-BF84-BFB0228F3C72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4953000" cy="314325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7" name="bullet-dot-276-0">
            <a:extLst>
              <a:ext uri="{FF2B5EF4-FFF2-40B4-BE49-F238E27FC236}">
                <a16:creationId xmlns:a16="http://schemas.microsoft.com/office/drawing/2014/main" id="{D843C0E9-EE94-4402-8F9D-0C8FA4119BBD}"/>
              </a:ext>
            </a:extLst>
          </p:cNvPr>
          <p:cNvSpPr>
            <a:spLocks noGrp="1"/>
          </p:cNvSpPr>
          <p:nvPr/>
        </p:nvSpPr>
        <p:spPr>
          <a:xfrm>
            <a:off x="990600" y="2714625"/>
            <a:ext cx="114300" cy="11430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8" name="bullet-276-0">
            <a:extLst>
              <a:ext uri="{FF2B5EF4-FFF2-40B4-BE49-F238E27FC236}">
                <a16:creationId xmlns:a16="http://schemas.microsoft.com/office/drawing/2014/main" id="{63A8C3E4-C8C6-4BAD-B792-60FBE31E6DDD}"/>
              </a:ext>
            </a:extLst>
          </p:cNvPr>
          <p:cNvSpPr>
            <a:spLocks noGrp="1"/>
          </p:cNvSpPr>
          <p:nvPr/>
        </p:nvSpPr>
        <p:spPr>
          <a:xfrm>
            <a:off x="1257300" y="2628900"/>
            <a:ext cx="40386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可安装、可独立启动的桌面产品</a:t>
            </a:r>
          </a:p>
        </p:txBody>
      </p:sp>
      <p:sp>
        <p:nvSpPr>
          <p:cNvPr id="9" name="bullet-dot-276-1">
            <a:extLst>
              <a:ext uri="{FF2B5EF4-FFF2-40B4-BE49-F238E27FC236}">
                <a16:creationId xmlns:a16="http://schemas.microsoft.com/office/drawing/2014/main" id="{6F0C0D1E-B6D9-4CA1-A64C-7F8D329E9EF0}"/>
              </a:ext>
            </a:extLst>
          </p:cNvPr>
          <p:cNvSpPr>
            <a:spLocks noGrp="1"/>
          </p:cNvSpPr>
          <p:nvPr/>
        </p:nvSpPr>
        <p:spPr>
          <a:xfrm>
            <a:off x="990600" y="3219450"/>
            <a:ext cx="114300" cy="114300"/>
          </a:xfrm>
          <a:prstGeom prst="ellipse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10" name="bullet-276-1">
            <a:extLst>
              <a:ext uri="{FF2B5EF4-FFF2-40B4-BE49-F238E27FC236}">
                <a16:creationId xmlns:a16="http://schemas.microsoft.com/office/drawing/2014/main" id="{702504AD-00B3-4705-A9C3-46DC2672EF59}"/>
              </a:ext>
            </a:extLst>
          </p:cNvPr>
          <p:cNvSpPr>
            <a:spLocks noGrp="1"/>
          </p:cNvSpPr>
          <p:nvPr/>
        </p:nvSpPr>
        <p:spPr>
          <a:xfrm>
            <a:off x="1257300" y="3133725"/>
            <a:ext cx="40386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角色创建、战役与自然语言行动</a:t>
            </a:r>
          </a:p>
        </p:txBody>
      </p:sp>
      <p:sp>
        <p:nvSpPr>
          <p:cNvPr id="11" name="bullet-dot-276-2">
            <a:extLst>
              <a:ext uri="{FF2B5EF4-FFF2-40B4-BE49-F238E27FC236}">
                <a16:creationId xmlns:a16="http://schemas.microsoft.com/office/drawing/2014/main" id="{60A8F6A9-9A37-45D2-8A94-ADEADB09169D}"/>
              </a:ext>
            </a:extLst>
          </p:cNvPr>
          <p:cNvSpPr>
            <a:spLocks noGrp="1"/>
          </p:cNvSpPr>
          <p:nvPr/>
        </p:nvSpPr>
        <p:spPr>
          <a:xfrm>
            <a:off x="990600" y="3724275"/>
            <a:ext cx="114300" cy="114300"/>
          </a:xfrm>
          <a:prstGeom prst="ellipse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12" name="bullet-276-2">
            <a:extLst>
              <a:ext uri="{FF2B5EF4-FFF2-40B4-BE49-F238E27FC236}">
                <a16:creationId xmlns:a16="http://schemas.microsoft.com/office/drawing/2014/main" id="{4B7ACD3B-FED4-4A61-9235-BB47BBD8C242}"/>
              </a:ext>
            </a:extLst>
          </p:cNvPr>
          <p:cNvSpPr>
            <a:spLocks noGrp="1"/>
          </p:cNvSpPr>
          <p:nvPr/>
        </p:nvSpPr>
        <p:spPr>
          <a:xfrm>
            <a:off x="1257300" y="3638550"/>
            <a:ext cx="40386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规则检定、AI 叙事与权威状态</a:t>
            </a:r>
          </a:p>
        </p:txBody>
      </p:sp>
      <p:sp>
        <p:nvSpPr>
          <p:cNvPr id="13" name="bullet-dot-276-3">
            <a:extLst>
              <a:ext uri="{FF2B5EF4-FFF2-40B4-BE49-F238E27FC236}">
                <a16:creationId xmlns:a16="http://schemas.microsoft.com/office/drawing/2014/main" id="{4330370E-F246-4D73-890D-69EF4AAA0BB8}"/>
              </a:ext>
            </a:extLst>
          </p:cNvPr>
          <p:cNvSpPr>
            <a:spLocks noGrp="1"/>
          </p:cNvSpPr>
          <p:nvPr/>
        </p:nvSpPr>
        <p:spPr>
          <a:xfrm>
            <a:off x="990600" y="4229100"/>
            <a:ext cx="114300" cy="114300"/>
          </a:xfrm>
          <a:prstGeom prst="ellipse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14" name="bullet-276-3">
            <a:extLst>
              <a:ext uri="{FF2B5EF4-FFF2-40B4-BE49-F238E27FC236}">
                <a16:creationId xmlns:a16="http://schemas.microsoft.com/office/drawing/2014/main" id="{5849C349-229B-47C7-8897-D5A4FD5496F6}"/>
              </a:ext>
            </a:extLst>
          </p:cNvPr>
          <p:cNvSpPr>
            <a:spLocks noGrp="1"/>
          </p:cNvSpPr>
          <p:nvPr/>
        </p:nvSpPr>
        <p:spPr>
          <a:xfrm>
            <a:off x="1257300" y="4143375"/>
            <a:ext cx="40386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时间线、检查点和基础恢复</a:t>
            </a:r>
          </a:p>
        </p:txBody>
      </p:sp>
      <p:sp>
        <p:nvSpPr>
          <p:cNvPr id="15" name="bullet-dot-276-4">
            <a:extLst>
              <a:ext uri="{FF2B5EF4-FFF2-40B4-BE49-F238E27FC236}">
                <a16:creationId xmlns:a16="http://schemas.microsoft.com/office/drawing/2014/main" id="{BDD701B8-68CF-4F59-B6EB-6A3B728DCF05}"/>
              </a:ext>
            </a:extLst>
          </p:cNvPr>
          <p:cNvSpPr>
            <a:spLocks noGrp="1"/>
          </p:cNvSpPr>
          <p:nvPr/>
        </p:nvSpPr>
        <p:spPr>
          <a:xfrm>
            <a:off x="990600" y="4733925"/>
            <a:ext cx="114300" cy="114300"/>
          </a:xfrm>
          <a:prstGeom prst="ellipse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16" name="bullet-276-4">
            <a:extLst>
              <a:ext uri="{FF2B5EF4-FFF2-40B4-BE49-F238E27FC236}">
                <a16:creationId xmlns:a16="http://schemas.microsoft.com/office/drawing/2014/main" id="{BB4FA646-A3D4-41E3-B086-8DBE58F17763}"/>
              </a:ext>
            </a:extLst>
          </p:cNvPr>
          <p:cNvSpPr>
            <a:spLocks noGrp="1"/>
          </p:cNvSpPr>
          <p:nvPr/>
        </p:nvSpPr>
        <p:spPr>
          <a:xfrm>
            <a:off x="1257300" y="4648200"/>
            <a:ext cx="40386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模型配置与内容基础接入</a:t>
            </a:r>
          </a:p>
        </p:txBody>
      </p:sp>
      <p:sp>
        <p:nvSpPr>
          <p:cNvPr id="17" name="v10-label">
            <a:extLst>
              <a:ext uri="{FF2B5EF4-FFF2-40B4-BE49-F238E27FC236}">
                <a16:creationId xmlns:a16="http://schemas.microsoft.com/office/drawing/2014/main" id="{84840003-4306-459C-82C3-08794F3C48E8}"/>
              </a:ext>
            </a:extLst>
          </p:cNvPr>
          <p:cNvSpPr>
            <a:spLocks noGrp="1"/>
          </p:cNvSpPr>
          <p:nvPr/>
        </p:nvSpPr>
        <p:spPr>
          <a:xfrm>
            <a:off x="6419850" y="1809750"/>
            <a:ext cx="4953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V1.0  ·  完整产品形态</a:t>
            </a:r>
          </a:p>
        </p:txBody>
      </p:sp>
      <p:sp>
        <p:nvSpPr>
          <p:cNvPr id="18" name="v10-panel">
            <a:extLst>
              <a:ext uri="{FF2B5EF4-FFF2-40B4-BE49-F238E27FC236}">
                <a16:creationId xmlns:a16="http://schemas.microsoft.com/office/drawing/2014/main" id="{53623922-B755-4156-AB00-00B8D0652697}"/>
              </a:ext>
            </a:extLst>
          </p:cNvPr>
          <p:cNvSpPr>
            <a:spLocks noGrp="1"/>
          </p:cNvSpPr>
          <p:nvPr/>
        </p:nvSpPr>
        <p:spPr>
          <a:xfrm>
            <a:off x="6419850" y="2324100"/>
            <a:ext cx="5086350" cy="3143250"/>
          </a:xfrm>
          <a:prstGeom prst="rect">
            <a:avLst/>
          </a:prstGeom>
          <a:solidFill>
            <a:srgbClr val="EAF4FF"/>
          </a:solidFill>
          <a:ln w="0">
            <a:noFill/>
            <a:prstDash val="solid"/>
          </a:ln>
        </p:spPr>
      </p:sp>
      <p:sp>
        <p:nvSpPr>
          <p:cNvPr id="19" name="bullet-dot-276-0">
            <a:extLst>
              <a:ext uri="{FF2B5EF4-FFF2-40B4-BE49-F238E27FC236}">
                <a16:creationId xmlns:a16="http://schemas.microsoft.com/office/drawing/2014/main" id="{74AA5468-91CD-4D96-97B7-F877CD2F7B16}"/>
              </a:ext>
            </a:extLst>
          </p:cNvPr>
          <p:cNvSpPr>
            <a:spLocks noGrp="1"/>
          </p:cNvSpPr>
          <p:nvPr/>
        </p:nvSpPr>
        <p:spPr>
          <a:xfrm>
            <a:off x="6724650" y="2714625"/>
            <a:ext cx="114300" cy="11430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20" name="bullet-276-0">
            <a:extLst>
              <a:ext uri="{FF2B5EF4-FFF2-40B4-BE49-F238E27FC236}">
                <a16:creationId xmlns:a16="http://schemas.microsoft.com/office/drawing/2014/main" id="{21890A29-A317-47B8-A18D-E7520321DC2E}"/>
              </a:ext>
            </a:extLst>
          </p:cNvPr>
          <p:cNvSpPr>
            <a:spLocks noGrp="1"/>
          </p:cNvSpPr>
          <p:nvPr/>
        </p:nvSpPr>
        <p:spPr>
          <a:xfrm>
            <a:off x="6991350" y="2628900"/>
            <a:ext cx="41719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目标战役长度内的长期一致性</a:t>
            </a:r>
          </a:p>
        </p:txBody>
      </p:sp>
      <p:sp>
        <p:nvSpPr>
          <p:cNvPr id="21" name="bullet-dot-276-1">
            <a:extLst>
              <a:ext uri="{FF2B5EF4-FFF2-40B4-BE49-F238E27FC236}">
                <a16:creationId xmlns:a16="http://schemas.microsoft.com/office/drawing/2014/main" id="{7BCA0763-1A7D-4287-9039-91C60B11E3AF}"/>
              </a:ext>
            </a:extLst>
          </p:cNvPr>
          <p:cNvSpPr>
            <a:spLocks noGrp="1"/>
          </p:cNvSpPr>
          <p:nvPr/>
        </p:nvSpPr>
        <p:spPr>
          <a:xfrm>
            <a:off x="6724650" y="3219450"/>
            <a:ext cx="114300" cy="114300"/>
          </a:xfrm>
          <a:prstGeom prst="ellipse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22" name="bullet-276-1">
            <a:extLst>
              <a:ext uri="{FF2B5EF4-FFF2-40B4-BE49-F238E27FC236}">
                <a16:creationId xmlns:a16="http://schemas.microsoft.com/office/drawing/2014/main" id="{9E246AA9-6CAB-4C5F-8B73-66B5607C8A51}"/>
              </a:ext>
            </a:extLst>
          </p:cNvPr>
          <p:cNvSpPr>
            <a:spLocks noGrp="1"/>
          </p:cNvSpPr>
          <p:nvPr/>
        </p:nvSpPr>
        <p:spPr>
          <a:xfrm>
            <a:off x="6991350" y="3133725"/>
            <a:ext cx="41719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文字卡、轻量内容与剧本包兼容</a:t>
            </a:r>
          </a:p>
        </p:txBody>
      </p:sp>
      <p:sp>
        <p:nvSpPr>
          <p:cNvPr id="23" name="bullet-dot-276-2">
            <a:extLst>
              <a:ext uri="{FF2B5EF4-FFF2-40B4-BE49-F238E27FC236}">
                <a16:creationId xmlns:a16="http://schemas.microsoft.com/office/drawing/2014/main" id="{6E5FB011-417F-403C-AA3A-EB9C5B5A3FD8}"/>
              </a:ext>
            </a:extLst>
          </p:cNvPr>
          <p:cNvSpPr>
            <a:spLocks noGrp="1"/>
          </p:cNvSpPr>
          <p:nvPr/>
        </p:nvSpPr>
        <p:spPr>
          <a:xfrm>
            <a:off x="6724650" y="3724275"/>
            <a:ext cx="114300" cy="114300"/>
          </a:xfrm>
          <a:prstGeom prst="ellipse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24" name="bullet-276-2">
            <a:extLst>
              <a:ext uri="{FF2B5EF4-FFF2-40B4-BE49-F238E27FC236}">
                <a16:creationId xmlns:a16="http://schemas.microsoft.com/office/drawing/2014/main" id="{374E1ECC-8978-42E8-A262-6B2A9D6BA61A}"/>
              </a:ext>
            </a:extLst>
          </p:cNvPr>
          <p:cNvSpPr>
            <a:spLocks noGrp="1"/>
          </p:cNvSpPr>
          <p:nvPr/>
        </p:nvSpPr>
        <p:spPr>
          <a:xfrm>
            <a:off x="6991350" y="3638550"/>
            <a:ext cx="41719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Scenario Pack 制作与发布路径</a:t>
            </a:r>
          </a:p>
        </p:txBody>
      </p:sp>
      <p:sp>
        <p:nvSpPr>
          <p:cNvPr id="25" name="bullet-dot-276-3">
            <a:extLst>
              <a:ext uri="{FF2B5EF4-FFF2-40B4-BE49-F238E27FC236}">
                <a16:creationId xmlns:a16="http://schemas.microsoft.com/office/drawing/2014/main" id="{E5A2E965-1F05-45AB-AFDD-146741DDC820}"/>
              </a:ext>
            </a:extLst>
          </p:cNvPr>
          <p:cNvSpPr>
            <a:spLocks noGrp="1"/>
          </p:cNvSpPr>
          <p:nvPr/>
        </p:nvSpPr>
        <p:spPr>
          <a:xfrm>
            <a:off x="6724650" y="4229100"/>
            <a:ext cx="114300" cy="114300"/>
          </a:xfrm>
          <a:prstGeom prst="ellipse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26" name="bullet-276-3">
            <a:extLst>
              <a:ext uri="{FF2B5EF4-FFF2-40B4-BE49-F238E27FC236}">
                <a16:creationId xmlns:a16="http://schemas.microsoft.com/office/drawing/2014/main" id="{876ECB30-030A-49F3-80BB-92368F4B00DB}"/>
              </a:ext>
            </a:extLst>
          </p:cNvPr>
          <p:cNvSpPr>
            <a:spLocks noGrp="1"/>
          </p:cNvSpPr>
          <p:nvPr/>
        </p:nvSpPr>
        <p:spPr>
          <a:xfrm>
            <a:off x="6991350" y="4143375"/>
            <a:ext cx="41719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模型替换、失败降级和成本控制</a:t>
            </a:r>
          </a:p>
        </p:txBody>
      </p:sp>
      <p:sp>
        <p:nvSpPr>
          <p:cNvPr id="27" name="bullet-dot-276-4">
            <a:extLst>
              <a:ext uri="{FF2B5EF4-FFF2-40B4-BE49-F238E27FC236}">
                <a16:creationId xmlns:a16="http://schemas.microsoft.com/office/drawing/2014/main" id="{7C35D348-3A1C-4341-A27D-B8148532A4F0}"/>
              </a:ext>
            </a:extLst>
          </p:cNvPr>
          <p:cNvSpPr>
            <a:spLocks noGrp="1"/>
          </p:cNvSpPr>
          <p:nvPr/>
        </p:nvSpPr>
        <p:spPr>
          <a:xfrm>
            <a:off x="6724650" y="4733925"/>
            <a:ext cx="114300" cy="114300"/>
          </a:xfrm>
          <a:prstGeom prst="ellipse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28" name="bullet-276-4">
            <a:extLst>
              <a:ext uri="{FF2B5EF4-FFF2-40B4-BE49-F238E27FC236}">
                <a16:creationId xmlns:a16="http://schemas.microsoft.com/office/drawing/2014/main" id="{AA066504-3F02-4EB5-AE88-F2A0321394FA}"/>
              </a:ext>
            </a:extLst>
          </p:cNvPr>
          <p:cNvSpPr>
            <a:spLocks noGrp="1"/>
          </p:cNvSpPr>
          <p:nvPr/>
        </p:nvSpPr>
        <p:spPr>
          <a:xfrm>
            <a:off x="6991350" y="4648200"/>
            <a:ext cx="41719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存档回滚、分支、迁移与完整文档</a:t>
            </a:r>
          </a:p>
        </p:txBody>
      </p:sp>
      <p:sp>
        <p:nvSpPr>
          <p:cNvPr id="29" name="version-boundary">
            <a:extLst>
              <a:ext uri="{FF2B5EF4-FFF2-40B4-BE49-F238E27FC236}">
                <a16:creationId xmlns:a16="http://schemas.microsoft.com/office/drawing/2014/main" id="{FE04253C-0B53-494C-A70C-5D1A125E36E6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10820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0">
                <a:solidFill>
                  <a:srgbClr val="5B6573"/>
                </a:solidFill>
              </a:defRPr>
            </a:pPr>
            <a:r>
              <a:rPr sz="1350" b="0">
                <a:solidFill>
                  <a:srgbClr val="5B6573"/>
                </a:solidFill>
              </a:rPr>
              <a:t>V1.0 仍聚焦 AI 主持的单人跑团；多人实时联机与真人 GM 工作台属于远期方向。</a:t>
            </a:r>
          </a:p>
        </p:txBody>
      </p:sp>
    </p:spTree>
    <p:extLst>
      <p:ext uri="{BB962C8B-B14F-4D97-AF65-F5344CB8AC3E}">
        <p14:creationId xmlns:p14="http://schemas.microsoft.com/office/powerpoint/2010/main" val="447840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lose-kicker">
            <a:extLst>
              <a:ext uri="{FF2B5EF4-FFF2-40B4-BE49-F238E27FC236}">
                <a16:creationId xmlns:a16="http://schemas.microsoft.com/office/drawing/2014/main" id="{F1007254-E338-42BB-A3AE-1EC0B22135B4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6DCBF4"/>
                </a:solidFill>
              </a:defRPr>
            </a:pPr>
            <a:r>
              <a:rPr sz="1050" b="1">
                <a:solidFill>
                  <a:srgbClr val="6DCBF4"/>
                </a:solidFill>
              </a:rPr>
              <a:t>AI TRPG ENGINE</a:t>
            </a:r>
          </a:p>
        </p:txBody>
      </p:sp>
      <p:sp>
        <p:nvSpPr>
          <p:cNvPr id="2" name="close-title">
            <a:extLst>
              <a:ext uri="{FF2B5EF4-FFF2-40B4-BE49-F238E27FC236}">
                <a16:creationId xmlns:a16="http://schemas.microsoft.com/office/drawing/2014/main" id="{EF0E2BC3-2F82-4D62-9556-24AEB05CC8BE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8191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让 AI 成为主持人，</a:t>
            </a:r>
          </a:p>
          <a:p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让程序守住世界的事实</a:t>
            </a:r>
          </a:p>
        </p:txBody>
      </p:sp>
      <p:sp>
        <p:nvSpPr>
          <p:cNvPr id="3" name="close-summary">
            <a:extLst>
              <a:ext uri="{FF2B5EF4-FFF2-40B4-BE49-F238E27FC236}">
                <a16:creationId xmlns:a16="http://schemas.microsoft.com/office/drawing/2014/main" id="{BCF7724A-6579-4F83-BA6C-6730C05E5CED}"/>
              </a:ext>
            </a:extLst>
          </p:cNvPr>
          <p:cNvSpPr>
            <a:spLocks noGrp="1"/>
          </p:cNvSpPr>
          <p:nvPr/>
        </p:nvSpPr>
        <p:spPr>
          <a:xfrm>
            <a:off x="685800" y="3371850"/>
            <a:ext cx="1009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当前成果：完整试玩闭环 · 本地权威状态 · 可替换模型 · 可恢复历史</a:t>
            </a:r>
          </a:p>
        </p:txBody>
      </p:sp>
      <p:sp>
        <p:nvSpPr>
          <p:cNvPr id="4" name="close-future">
            <a:extLst>
              <a:ext uri="{FF2B5EF4-FFF2-40B4-BE49-F238E27FC236}">
                <a16:creationId xmlns:a16="http://schemas.microsoft.com/office/drawing/2014/main" id="{0EBAF77E-7828-4C00-88AB-E3DE3004B0CB}"/>
              </a:ext>
            </a:extLst>
          </p:cNvPr>
          <p:cNvSpPr>
            <a:spLocks noGrp="1"/>
          </p:cNvSpPr>
          <p:nvPr/>
        </p:nvSpPr>
        <p:spPr>
          <a:xfrm>
            <a:off x="685800" y="4095750"/>
            <a:ext cx="952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6DCBF4"/>
                </a:solidFill>
              </a:defRPr>
            </a:pPr>
            <a:r>
              <a:rPr sz="1575" b="0">
                <a:solidFill>
                  <a:srgbClr val="6DCBF4"/>
                </a:solidFill>
              </a:rPr>
              <a:t>下一步：增强长期记忆与内容工具，并逐步探索多人协作</a:t>
            </a:r>
          </a:p>
        </p:txBody>
      </p:sp>
      <p:sp>
        <p:nvSpPr>
          <p:cNvPr id="5" name="close-rule">
            <a:extLst>
              <a:ext uri="{FF2B5EF4-FFF2-40B4-BE49-F238E27FC236}">
                <a16:creationId xmlns:a16="http://schemas.microsoft.com/office/drawing/2014/main" id="{BA38DEFB-B934-4B26-A3EE-C0E8D1F17812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19050"/>
          </a:xfrm>
          <a:prstGeom prst="rect">
            <a:avLst/>
          </a:prstGeom>
          <a:solidFill>
            <a:srgbClr val="58708A"/>
          </a:solidFill>
          <a:ln w="0">
            <a:noFill/>
            <a:prstDash val="solid"/>
          </a:ln>
        </p:spPr>
      </p:sp>
      <p:sp>
        <p:nvSpPr>
          <p:cNvPr id="6" name="close-qa">
            <a:extLst>
              <a:ext uri="{FF2B5EF4-FFF2-40B4-BE49-F238E27FC236}">
                <a16:creationId xmlns:a16="http://schemas.microsoft.com/office/drawing/2014/main" id="{D78F57E1-7EF6-4AE4-85D1-E632B8107FCB}"/>
              </a:ext>
            </a:extLst>
          </p:cNvPr>
          <p:cNvSpPr>
            <a:spLocks noGrp="1"/>
          </p:cNvSpPr>
          <p:nvPr/>
        </p:nvSpPr>
        <p:spPr>
          <a:xfrm>
            <a:off x="685800" y="5314950"/>
            <a:ext cx="2857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Q &amp; A</a:t>
            </a:r>
          </a:p>
        </p:txBody>
      </p:sp>
      <p:sp>
        <p:nvSpPr>
          <p:cNvPr id="7" name="close-thanks">
            <a:extLst>
              <a:ext uri="{FF2B5EF4-FFF2-40B4-BE49-F238E27FC236}">
                <a16:creationId xmlns:a16="http://schemas.microsoft.com/office/drawing/2014/main" id="{BFAA8AF7-49D6-4642-BD45-11721CC006EA}"/>
              </a:ext>
            </a:extLst>
          </p:cNvPr>
          <p:cNvSpPr>
            <a:spLocks noGrp="1"/>
          </p:cNvSpPr>
          <p:nvPr/>
        </p:nvSpPr>
        <p:spPr>
          <a:xfrm>
            <a:off x="8572500" y="5524500"/>
            <a:ext cx="2933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感谢各位老师指导</a:t>
            </a:r>
          </a:p>
        </p:txBody>
      </p:sp>
    </p:spTree>
    <p:extLst>
      <p:ext uri="{BB962C8B-B14F-4D97-AF65-F5344CB8AC3E}">
        <p14:creationId xmlns:p14="http://schemas.microsoft.com/office/powerpoint/2010/main" val="155828893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466</Words>
  <Application>Microsoft Office PowerPoint</Application>
  <DocSecurity>0</DocSecurity>
  <PresentationFormat>宽屏</PresentationFormat>
  <Paragraphs>156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2" baseType="lpstr"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力硕 潘</cp:lastModifiedBy>
  <cp:revision>5</cp:revision>
  <dcterms:created xsi:type="dcterms:W3CDTF">2026-08-25T06:16:43Z</dcterms:created>
  <dcterms:modified xsi:type="dcterms:W3CDTF">2026-08-25T06:37:28Z</dcterms:modified>
</cp:coreProperties>
</file>